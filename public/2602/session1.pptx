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7"/>
  </p:notesMasterIdLst>
  <p:sldIdLst>
    <p:sldId id="259" r:id="rId2"/>
    <p:sldId id="346" r:id="rId3"/>
    <p:sldId id="264" r:id="rId4"/>
    <p:sldId id="271" r:id="rId5"/>
    <p:sldId id="347" r:id="rId6"/>
    <p:sldId id="364" r:id="rId7"/>
    <p:sldId id="365" r:id="rId8"/>
    <p:sldId id="278" r:id="rId9"/>
    <p:sldId id="280" r:id="rId10"/>
    <p:sldId id="288" r:id="rId11"/>
    <p:sldId id="290" r:id="rId12"/>
    <p:sldId id="293" r:id="rId13"/>
    <p:sldId id="366" r:id="rId14"/>
    <p:sldId id="367" r:id="rId15"/>
    <p:sldId id="295" r:id="rId16"/>
    <p:sldId id="294" r:id="rId17"/>
    <p:sldId id="297" r:id="rId18"/>
    <p:sldId id="306" r:id="rId19"/>
    <p:sldId id="307" r:id="rId20"/>
    <p:sldId id="309" r:id="rId21"/>
    <p:sldId id="311" r:id="rId22"/>
    <p:sldId id="368" r:id="rId23"/>
    <p:sldId id="369" r:id="rId24"/>
    <p:sldId id="316" r:id="rId25"/>
    <p:sldId id="328" r:id="rId26"/>
    <p:sldId id="332" r:id="rId27"/>
    <p:sldId id="330" r:id="rId28"/>
    <p:sldId id="353" r:id="rId29"/>
    <p:sldId id="336" r:id="rId30"/>
    <p:sldId id="357" r:id="rId31"/>
    <p:sldId id="337" r:id="rId32"/>
    <p:sldId id="360" r:id="rId33"/>
    <p:sldId id="363" r:id="rId34"/>
    <p:sldId id="342" r:id="rId35"/>
    <p:sldId id="343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B35"/>
    <a:srgbClr val="FFFFFF"/>
    <a:srgbClr val="4361EE"/>
    <a:srgbClr val="E8E8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0044AF1-47E0-7644-B4BC-7C762D49DE29}" v="15" dt="2026-02-26T23:08:02.97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02" autoAdjust="0"/>
    <p:restoredTop sz="87282"/>
  </p:normalViewPr>
  <p:slideViewPr>
    <p:cSldViewPr snapToGrid="0">
      <p:cViewPr varScale="1">
        <p:scale>
          <a:sx n="117" d="100"/>
          <a:sy n="117" d="100"/>
        </p:scale>
        <p:origin x="1416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K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8BAD1D-39A6-1B42-9DD5-5F5ABF3D8CAB}" type="datetimeFigureOut">
              <a:rPr lang="en-KR" smtClean="0"/>
              <a:t>2/27/26</a:t>
            </a:fld>
            <a:endParaRPr lang="en-K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K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K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35FF9D-FACD-0642-A32E-4D3EC0848E66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150087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/>
              <a:t>저는 당근에서 KAMP를 개발하고 있습니다.</a:t>
            </a:r>
          </a:p>
          <a:p>
            <a:r>
              <a:rPr lang="ko-KR" dirty="0"/>
              <a:t>KAMP는 No-code / Low-code AI Agent Build Platform입니다.</a:t>
            </a:r>
          </a:p>
          <a:p>
            <a:r>
              <a:rPr lang="ko-KR" dirty="0"/>
              <a:t>코딩 없이도 AI 에이전트를 만들 수 있는 도구를 만들고 있고, 이를 통해 운영 업무의 자동화를 구축하는 일을 하고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F15528-F159-4107-2D00-1E0C7A5B19C1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ko-KR" altLang="en-US" dirty="0"/>
              <a:t>이런 얘기들을 할 건데</a:t>
            </a:r>
            <a:endParaRPr lang="en-US" altLang="ko-KR" dirty="0"/>
          </a:p>
          <a:p>
            <a:pPr marL="171450" indent="-171450">
              <a:buFontTx/>
              <a:buChar char="-"/>
            </a:pPr>
            <a:r>
              <a:rPr lang="ko-KR" altLang="en-US" dirty="0"/>
              <a:t>아마 지난 </a:t>
            </a:r>
            <a:r>
              <a:rPr lang="en-US" altLang="ko-KR" dirty="0"/>
              <a:t>1</a:t>
            </a:r>
            <a:r>
              <a:rPr lang="ko-KR" altLang="en-US" dirty="0"/>
              <a:t>년 간의 경험을 모두 담기엔 시간이 부족</a:t>
            </a:r>
            <a:endParaRPr lang="en-US" altLang="ko-KR" dirty="0"/>
          </a:p>
          <a:p>
            <a:pPr marL="171450" indent="-171450">
              <a:buFontTx/>
              <a:buChar char="-"/>
            </a:pPr>
            <a:r>
              <a:rPr lang="ko-KR" altLang="en-US" dirty="0"/>
              <a:t>발표 후에 이야기 많이 나눠보면 좋겠음</a:t>
            </a:r>
            <a:endParaRPr lang="en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35FF9D-FACD-0642-A32E-4D3EC0848E66}" type="slidenum">
              <a:rPr lang="en-KR" smtClean="0"/>
              <a:t>3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5020441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-</a:t>
            </a:r>
            <a:r>
              <a:rPr lang="ko-KR" altLang="en-US" dirty="0"/>
              <a:t> 에이전트에 대한 이야기부터 시작</a:t>
            </a:r>
            <a:endParaRPr lang="en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35FF9D-FACD-0642-A32E-4D3EC0848E66}" type="slidenum">
              <a:rPr lang="en-KR" smtClean="0"/>
              <a:t>4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42131243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ko-KR" altLang="en-US" dirty="0">
                <a:solidFill>
                  <a:srgbClr val="2D2D44"/>
                </a:solidFill>
                <a:latin typeface="Pretendard"/>
                <a:ea typeface="Pretendard"/>
              </a:rPr>
              <a:t>당근</a:t>
            </a:r>
            <a:r>
              <a:rPr lang="ko-KR" dirty="0">
                <a:solidFill>
                  <a:srgbClr val="2D2D44"/>
                </a:solidFill>
                <a:latin typeface="Pretendard"/>
                <a:ea typeface="Pretendard"/>
              </a:rPr>
              <a:t>에는 매일 방대한 양의 </a:t>
            </a:r>
            <a:r>
              <a:rPr lang="en-US" altLang="ko-KR" dirty="0">
                <a:solidFill>
                  <a:srgbClr val="2D2D44"/>
                </a:solidFill>
                <a:latin typeface="Pretendard"/>
                <a:ea typeface="Pretendard"/>
              </a:rPr>
              <a:t>CS </a:t>
            </a:r>
            <a:r>
              <a:rPr lang="ko-KR" dirty="0">
                <a:solidFill>
                  <a:srgbClr val="2D2D44"/>
                </a:solidFill>
                <a:latin typeface="Pretendard"/>
                <a:ea typeface="Pretendard"/>
              </a:rPr>
              <a:t>처리 업무가 들어옴</a:t>
            </a:r>
            <a:endParaRPr lang="en-US" altLang="ko-KR" dirty="0">
              <a:solidFill>
                <a:srgbClr val="2D2D44"/>
              </a:solidFill>
              <a:latin typeface="Pretendard"/>
              <a:ea typeface="Pretendard"/>
            </a:endParaRPr>
          </a:p>
          <a:p>
            <a:pPr marL="171450" indent="-171450">
              <a:buFontTx/>
              <a:buChar char="-"/>
            </a:pPr>
            <a:r>
              <a:rPr lang="ko-KR" altLang="en-US" dirty="0">
                <a:solidFill>
                  <a:srgbClr val="2D2D44"/>
                </a:solidFill>
                <a:latin typeface="Pretendard"/>
                <a:ea typeface="Pretendard"/>
              </a:rPr>
              <a:t>일부는 단순하기에 키워드 기반을 포함한 룰베이스로 처리 자동화가 가능</a:t>
            </a:r>
            <a:endParaRPr lang="en-US" altLang="ko-KR" dirty="0">
              <a:solidFill>
                <a:srgbClr val="2D2D44"/>
              </a:solidFill>
              <a:latin typeface="Pretendard"/>
              <a:ea typeface="Pretendard"/>
            </a:endParaRPr>
          </a:p>
          <a:p>
            <a:pPr marL="171450" indent="-171450">
              <a:buFontTx/>
              <a:buChar char="-"/>
            </a:pPr>
            <a:r>
              <a:rPr lang="ko-KR" altLang="en-US" dirty="0">
                <a:solidFill>
                  <a:srgbClr val="2D2D44"/>
                </a:solidFill>
                <a:latin typeface="Pretendard"/>
                <a:ea typeface="Pretendard"/>
              </a:rPr>
              <a:t>하지만 많은 부분이 맥락에 따른 판단이 필요</a:t>
            </a:r>
            <a:endParaRPr lang="en-US" altLang="ko-KR" dirty="0">
              <a:solidFill>
                <a:srgbClr val="2D2D44"/>
              </a:solidFill>
              <a:latin typeface="Pretendard"/>
              <a:ea typeface="Pretendard"/>
            </a:endParaRPr>
          </a:p>
          <a:p>
            <a:pPr marL="171450" indent="-171450">
              <a:buFontTx/>
              <a:buChar char="-"/>
            </a:pPr>
            <a:r>
              <a:rPr lang="ko-KR" altLang="en-US" dirty="0">
                <a:solidFill>
                  <a:srgbClr val="2D2D44"/>
                </a:solidFill>
                <a:latin typeface="Pretendard"/>
                <a:ea typeface="Pretendard"/>
              </a:rPr>
              <a:t>사람이 처리하는데 있어</a:t>
            </a:r>
            <a:endParaRPr lang="en-US" altLang="ko-KR" dirty="0">
              <a:solidFill>
                <a:srgbClr val="2D2D44"/>
              </a:solidFill>
              <a:latin typeface="Pretendard"/>
              <a:ea typeface="Pretendard"/>
            </a:endParaRPr>
          </a:p>
          <a:p>
            <a:pPr marL="628650" lvl="1" indent="-171450">
              <a:buFontTx/>
              <a:buChar char="-"/>
            </a:pPr>
            <a:r>
              <a:rPr lang="ko-KR" altLang="en-US" dirty="0">
                <a:solidFill>
                  <a:srgbClr val="2D2D44"/>
                </a:solidFill>
                <a:latin typeface="Pretendard"/>
                <a:ea typeface="Pretendard"/>
              </a:rPr>
              <a:t>속도 한계</a:t>
            </a:r>
            <a:endParaRPr lang="en-US" altLang="ko-KR" dirty="0">
              <a:solidFill>
                <a:srgbClr val="2D2D44"/>
              </a:solidFill>
              <a:latin typeface="Pretendard"/>
              <a:ea typeface="Pretendard"/>
            </a:endParaRPr>
          </a:p>
          <a:p>
            <a:pPr marL="628650" lvl="1" indent="-171450">
              <a:buFontTx/>
              <a:buChar char="-"/>
            </a:pPr>
            <a:r>
              <a:rPr lang="ko-KR" altLang="en-US" dirty="0">
                <a:solidFill>
                  <a:srgbClr val="2D2D44"/>
                </a:solidFill>
                <a:latin typeface="Pretendard"/>
                <a:ea typeface="Pretendard"/>
              </a:rPr>
              <a:t>일관성 문제</a:t>
            </a:r>
            <a:endParaRPr lang="en-US" altLang="ko-KR" dirty="0">
              <a:solidFill>
                <a:srgbClr val="2D2D44"/>
              </a:solidFill>
              <a:latin typeface="Pretendard"/>
              <a:ea typeface="Pretendard"/>
            </a:endParaRPr>
          </a:p>
          <a:p>
            <a:pPr marL="171450" lvl="0" indent="-171450">
              <a:buFontTx/>
              <a:buChar char="-"/>
            </a:pPr>
            <a:r>
              <a:rPr lang="en-US" altLang="ko-KR" sz="2800" dirty="0">
                <a:solidFill>
                  <a:srgbClr val="2D2D44"/>
                </a:solidFill>
                <a:latin typeface="Pretendard"/>
                <a:ea typeface="Pretendard"/>
              </a:rPr>
              <a:t>LLM </a:t>
            </a:r>
            <a:r>
              <a:rPr lang="ko-KR" altLang="en-US" sz="2800" dirty="0">
                <a:solidFill>
                  <a:srgbClr val="2D2D44"/>
                </a:solidFill>
                <a:latin typeface="Pretendard"/>
                <a:ea typeface="Pretendard"/>
              </a:rPr>
              <a:t>기반의 자동화를 시도해볼 수 있음</a:t>
            </a:r>
            <a:endParaRPr lang="en-US" altLang="ko-KR" sz="2800" dirty="0">
              <a:solidFill>
                <a:srgbClr val="E71D36"/>
              </a:solidFill>
              <a:latin typeface="Pretendard"/>
              <a:ea typeface="Pretendard"/>
            </a:endParaRPr>
          </a:p>
          <a:p>
            <a:endParaRPr lang="en-US" altLang="ko-KR" sz="2800" dirty="0">
              <a:solidFill>
                <a:srgbClr val="E71D36"/>
              </a:solidFill>
              <a:latin typeface="Pretendard"/>
              <a:ea typeface="Pretendard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35FF9D-FACD-0642-A32E-4D3EC0848E66}" type="slidenum">
              <a:rPr lang="en-KR" smtClean="0"/>
              <a:t>5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9455017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ko-KR" altLang="en-US" dirty="0"/>
              <a:t>처음엔 가장 쉽게 해볼 수 있는 </a:t>
            </a:r>
            <a:r>
              <a:rPr lang="ko-KR" altLang="en-US" dirty="0" err="1"/>
              <a:t>챗봇을</a:t>
            </a:r>
            <a:r>
              <a:rPr lang="ko-KR" altLang="en-US" dirty="0"/>
              <a:t> 먼저 시도함</a:t>
            </a:r>
            <a:endParaRPr lang="en-US" altLang="ko-KR" dirty="0"/>
          </a:p>
          <a:p>
            <a:pPr marL="171450" indent="-171450">
              <a:buFontTx/>
              <a:buChar char="-"/>
            </a:pPr>
            <a:r>
              <a:rPr lang="ko-KR" altLang="en-US" dirty="0"/>
              <a:t>처리 기준</a:t>
            </a:r>
            <a:r>
              <a:rPr lang="en-US" altLang="ko-KR" dirty="0"/>
              <a:t>,</a:t>
            </a:r>
            <a:r>
              <a:rPr lang="ko-KR" altLang="en-US" dirty="0"/>
              <a:t> 예시 답변 등 정보를 </a:t>
            </a:r>
            <a:r>
              <a:rPr lang="en-US" altLang="ko-KR" dirty="0"/>
              <a:t>LLM</a:t>
            </a:r>
            <a:r>
              <a:rPr lang="ko-KR" altLang="en-US" dirty="0" err="1"/>
              <a:t>에</a:t>
            </a:r>
            <a:r>
              <a:rPr lang="ko-KR" altLang="en-US" dirty="0"/>
              <a:t> 먹이고</a:t>
            </a:r>
            <a:endParaRPr lang="en-US" altLang="ko-KR" dirty="0"/>
          </a:p>
          <a:p>
            <a:pPr marL="171450" indent="-171450">
              <a:buFontTx/>
              <a:buChar char="-"/>
            </a:pPr>
            <a:r>
              <a:rPr lang="ko-KR" altLang="en-US" dirty="0"/>
              <a:t>오퍼레이터가 질문하면 답변해주는 방식으로 도와주는 것</a:t>
            </a:r>
            <a:endParaRPr lang="en-US" altLang="ko-KR" dirty="0"/>
          </a:p>
          <a:p>
            <a:pPr marL="171450" indent="-171450">
              <a:buFontTx/>
              <a:buChar char="-"/>
            </a:pPr>
            <a:r>
              <a:rPr lang="ko-KR" altLang="en-US" dirty="0"/>
              <a:t>하지만 결국 처리는 사람이 해야함</a:t>
            </a:r>
            <a:endParaRPr lang="en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35FF9D-FACD-0642-A32E-4D3EC0848E66}" type="slidenum">
              <a:rPr lang="en-KR" smtClean="0"/>
              <a:t>6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9912982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ko-KR" altLang="en-US" dirty="0"/>
              <a:t>여기서 더 나아가서 생각해볼 수 있는 방법으로는 </a:t>
            </a:r>
            <a:r>
              <a:rPr lang="en-US" altLang="ko-KR" dirty="0"/>
              <a:t>n8n</a:t>
            </a:r>
            <a:r>
              <a:rPr lang="ko-KR" altLang="en-US" dirty="0"/>
              <a:t>과 같은 워크플로우 기반의 자동화일 것 같아요</a:t>
            </a:r>
            <a:endParaRPr lang="en-US" altLang="ko-KR" dirty="0"/>
          </a:p>
          <a:p>
            <a:pPr marL="171450" indent="-171450">
              <a:buFontTx/>
              <a:buChar char="-"/>
            </a:pPr>
            <a:r>
              <a:rPr lang="ko-KR" altLang="en-US" dirty="0"/>
              <a:t>정해진 분기를 따라가는 </a:t>
            </a:r>
            <a:r>
              <a:rPr lang="ko-KR" altLang="en-US" dirty="0" err="1"/>
              <a:t>형태죠</a:t>
            </a:r>
            <a:endParaRPr lang="en-US" altLang="ko-KR" dirty="0"/>
          </a:p>
          <a:p>
            <a:pPr marL="171450" indent="-171450">
              <a:buFontTx/>
              <a:buChar char="-"/>
            </a:pPr>
            <a:r>
              <a:rPr lang="ko-KR" altLang="en-US" dirty="0"/>
              <a:t>물론 </a:t>
            </a:r>
            <a:r>
              <a:rPr lang="en-US" altLang="ko-KR" dirty="0"/>
              <a:t>LLM</a:t>
            </a:r>
            <a:r>
              <a:rPr lang="ko-KR" altLang="en-US" dirty="0"/>
              <a:t>이 맥락을 파악할 수 있기 때문에 규칙 기반의 자동화보다는 낫지만</a:t>
            </a:r>
            <a:endParaRPr lang="en-US" altLang="ko-KR" dirty="0"/>
          </a:p>
          <a:p>
            <a:pPr marL="171450" indent="-171450">
              <a:buFontTx/>
              <a:buChar char="-"/>
            </a:pPr>
            <a:r>
              <a:rPr lang="ko-KR" altLang="en-US" dirty="0"/>
              <a:t>룰베이스 자동화의 치명적 단점이 아직도 남아있다</a:t>
            </a:r>
            <a:endParaRPr lang="en-US" altLang="ko-KR" dirty="0"/>
          </a:p>
          <a:p>
            <a:pPr marL="171450" indent="-171450">
              <a:buFontTx/>
              <a:buChar char="-"/>
            </a:pPr>
            <a:r>
              <a:rPr lang="ko-KR" altLang="en-US" dirty="0"/>
              <a:t>새로운 케이스가 생길 때마다 분기를 </a:t>
            </a:r>
            <a:r>
              <a:rPr lang="ko-KR" altLang="en-US" dirty="0" err="1"/>
              <a:t>추가해야하고</a:t>
            </a:r>
            <a:endParaRPr lang="en-US" altLang="ko-KR" dirty="0"/>
          </a:p>
          <a:p>
            <a:pPr marL="171450" indent="-171450">
              <a:buFontTx/>
              <a:buChar char="-"/>
            </a:pPr>
            <a:r>
              <a:rPr lang="ko-KR" altLang="en-US" dirty="0"/>
              <a:t>복잡한 단계를 </a:t>
            </a:r>
            <a:r>
              <a:rPr lang="ko-KR" altLang="en-US" dirty="0" err="1"/>
              <a:t>거쳐야하는</a:t>
            </a:r>
            <a:r>
              <a:rPr lang="ko-KR" altLang="en-US" dirty="0"/>
              <a:t> 판단을 커버하지 못함</a:t>
            </a:r>
            <a:endParaRPr lang="en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35FF9D-FACD-0642-A32E-4D3EC0848E66}" type="slidenum">
              <a:rPr lang="en-KR" smtClean="0"/>
              <a:t>7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9835933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ko-KR" altLang="en-US" dirty="0"/>
              <a:t>그리고 세 번째 방법이 바로 저희가 추구하는 </a:t>
            </a:r>
            <a:r>
              <a:rPr lang="ko-KR" altLang="en-US" dirty="0" err="1"/>
              <a:t>에이전틱</a:t>
            </a:r>
            <a:r>
              <a:rPr lang="ko-KR" altLang="en-US" dirty="0"/>
              <a:t> 시스템</a:t>
            </a:r>
            <a:endParaRPr lang="en-US" altLang="ko-KR" dirty="0"/>
          </a:p>
          <a:p>
            <a:pPr marL="171450" indent="-171450">
              <a:buFontTx/>
              <a:buChar char="-"/>
            </a:pPr>
            <a:r>
              <a:rPr lang="ko-KR" altLang="en-US" dirty="0"/>
              <a:t>앞서 이야기한 </a:t>
            </a:r>
            <a:r>
              <a:rPr lang="ko-KR" altLang="en-US" dirty="0" err="1"/>
              <a:t>챗봇</a:t>
            </a:r>
            <a:r>
              <a:rPr lang="en-US" altLang="ko-KR" dirty="0"/>
              <a:t>,</a:t>
            </a:r>
            <a:r>
              <a:rPr lang="ko-KR" altLang="en-US" dirty="0"/>
              <a:t> 워크플로우의 약점</a:t>
            </a:r>
            <a:endParaRPr lang="en-US" altLang="ko-KR" dirty="0"/>
          </a:p>
          <a:p>
            <a:pPr marL="628650" lvl="1" indent="-171450">
              <a:buFontTx/>
              <a:buChar char="-"/>
            </a:pPr>
            <a:r>
              <a:rPr lang="ko-KR" altLang="en-US" dirty="0"/>
              <a:t>처리도 못하고</a:t>
            </a:r>
            <a:endParaRPr lang="en-US" altLang="ko-KR" dirty="0"/>
          </a:p>
          <a:p>
            <a:pPr marL="628650" lvl="1" indent="-171450">
              <a:buFontTx/>
              <a:buChar char="-"/>
            </a:pPr>
            <a:r>
              <a:rPr lang="ko-KR" altLang="en-US" dirty="0"/>
              <a:t>유연성도 부족함</a:t>
            </a:r>
            <a:endParaRPr lang="en-US" altLang="ko-KR" dirty="0"/>
          </a:p>
          <a:p>
            <a:pPr marL="171450" lvl="0" indent="-171450">
              <a:buFontTx/>
              <a:buChar char="-"/>
            </a:pPr>
            <a:r>
              <a:rPr lang="ko-KR" altLang="en-US" dirty="0"/>
              <a:t>에이전트는 목표를 주면 스스로 판단에 따라 필요한 도구를 활용해 작업을 처리</a:t>
            </a:r>
            <a:endParaRPr lang="en-US" altLang="ko-KR" dirty="0"/>
          </a:p>
          <a:p>
            <a:pPr marL="171450" indent="-171450">
              <a:buFontTx/>
              <a:buChar char="-"/>
            </a:pPr>
            <a:r>
              <a:rPr lang="ko-KR" altLang="en-US" dirty="0"/>
              <a:t>핵심은 자율성</a:t>
            </a:r>
            <a:endParaRPr lang="en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35FF9D-FACD-0642-A32E-4D3EC0848E66}" type="slidenum">
              <a:rPr lang="en-KR" smtClean="0"/>
              <a:t>8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8328935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ko-KR" altLang="en-US" dirty="0"/>
              <a:t>운영은 </a:t>
            </a:r>
            <a:r>
              <a:rPr lang="ko-KR" altLang="en-US" dirty="0" err="1"/>
              <a:t>단순해보이지만</a:t>
            </a:r>
            <a:r>
              <a:rPr lang="ko-KR" altLang="en-US" dirty="0"/>
              <a:t> 꽤나 복잡한 작업</a:t>
            </a:r>
            <a:endParaRPr lang="en-US" altLang="ko-KR" dirty="0"/>
          </a:p>
          <a:p>
            <a:pPr marL="171450" indent="-171450">
              <a:buFontTx/>
              <a:buChar char="-"/>
            </a:pPr>
            <a:r>
              <a:rPr lang="ko-KR" altLang="en-US" dirty="0"/>
              <a:t>문의를 예로 들면</a:t>
            </a:r>
            <a:endParaRPr lang="en-US" altLang="ko-KR" dirty="0"/>
          </a:p>
          <a:p>
            <a:pPr marL="628650" lvl="1" indent="-171450">
              <a:buFontTx/>
              <a:buChar char="-"/>
            </a:pPr>
            <a:r>
              <a:rPr lang="ko-KR" altLang="en-US" dirty="0"/>
              <a:t>사용자가 원하는 것을 파악하고</a:t>
            </a:r>
            <a:endParaRPr lang="en-US" altLang="ko-KR" dirty="0"/>
          </a:p>
          <a:p>
            <a:pPr marL="628650" lvl="1" indent="-171450">
              <a:buFontTx/>
              <a:buChar char="-"/>
            </a:pPr>
            <a:r>
              <a:rPr lang="ko-KR" altLang="en-US" dirty="0"/>
              <a:t>그것에 답변하기 위한 정보를 수집하고</a:t>
            </a:r>
            <a:endParaRPr lang="en-US" altLang="ko-KR" dirty="0"/>
          </a:p>
          <a:p>
            <a:pPr marL="628650" lvl="1" indent="-171450">
              <a:buFontTx/>
              <a:buChar char="-"/>
            </a:pPr>
            <a:r>
              <a:rPr lang="ko-KR" altLang="en-US" dirty="0"/>
              <a:t>정보를 잘 조합해서 답변을 작성하고</a:t>
            </a:r>
            <a:endParaRPr lang="en-US" altLang="ko-KR" dirty="0"/>
          </a:p>
          <a:p>
            <a:pPr marL="628650" lvl="1" indent="-171450">
              <a:buFontTx/>
              <a:buChar char="-"/>
            </a:pPr>
            <a:r>
              <a:rPr lang="ko-KR" altLang="en-US" dirty="0"/>
              <a:t>사용자에게 </a:t>
            </a:r>
            <a:r>
              <a:rPr lang="ko-KR" altLang="en-US" dirty="0" err="1"/>
              <a:t>보내야함</a:t>
            </a:r>
            <a:endParaRPr lang="en-US" altLang="ko-KR" dirty="0"/>
          </a:p>
          <a:p>
            <a:pPr marL="171450" lvl="0" indent="-171450">
              <a:buFontTx/>
              <a:buChar char="-"/>
            </a:pPr>
            <a:r>
              <a:rPr lang="ko-KR" altLang="en-US" dirty="0" err="1"/>
              <a:t>이런걸</a:t>
            </a:r>
            <a:r>
              <a:rPr lang="ko-KR" altLang="en-US" dirty="0"/>
              <a:t> 할 수 </a:t>
            </a:r>
            <a:r>
              <a:rPr lang="ko-KR" altLang="en-US" dirty="0" err="1"/>
              <a:t>있는건</a:t>
            </a:r>
            <a:r>
              <a:rPr lang="ko-KR" altLang="en-US" dirty="0"/>
              <a:t> 에이전트 뿐이었음</a:t>
            </a:r>
            <a:endParaRPr lang="en-US" altLang="ko-KR" dirty="0"/>
          </a:p>
          <a:p>
            <a:pPr marL="171450" lvl="0" indent="-171450">
              <a:buFontTx/>
              <a:buChar char="-"/>
            </a:pPr>
            <a:r>
              <a:rPr lang="ko-KR" altLang="en-US" dirty="0"/>
              <a:t>워크플로우도 할 수 있을 것 같지만 다양한 문의 패턴에 대해서 처리 흐름을 모두 미리 </a:t>
            </a:r>
            <a:r>
              <a:rPr lang="ko-KR" altLang="en-US" dirty="0" err="1"/>
              <a:t>정해두는건</a:t>
            </a:r>
            <a:r>
              <a:rPr lang="ko-KR" altLang="en-US" dirty="0"/>
              <a:t> 불가능</a:t>
            </a:r>
            <a:endParaRPr lang="en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35FF9D-FACD-0642-A32E-4D3EC0848E66}" type="slidenum">
              <a:rPr lang="en-KR" smtClean="0"/>
              <a:t>9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42326502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그럼 이제 에이전트가 어떻게 자율성을 가질 수 있는지</a:t>
            </a:r>
            <a:r>
              <a:rPr lang="en-US" altLang="ko-KR" dirty="0"/>
              <a:t>,</a:t>
            </a:r>
            <a:r>
              <a:rPr lang="ko-KR" altLang="en-US" dirty="0"/>
              <a:t> 에이전트를 구성하는 핵심 요소인 도구와 멀티 에이전트 아키텍처에 대한 이야기를 </a:t>
            </a:r>
            <a:r>
              <a:rPr lang="ko-KR" altLang="en-US" dirty="0" err="1"/>
              <a:t>해볼게요</a:t>
            </a:r>
            <a:r>
              <a:rPr lang="en-US" altLang="ko-KR" dirty="0"/>
              <a:t>.</a:t>
            </a:r>
            <a:endParaRPr lang="en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35FF9D-FACD-0642-A32E-4D3EC0848E66}" type="slidenum">
              <a:rPr lang="en-KR" smtClean="0"/>
              <a:t>10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405788478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ko-KR" altLang="en-US" dirty="0"/>
              <a:t>핵심은 도구</a:t>
            </a:r>
            <a:endParaRPr lang="en-US" altLang="ko-KR" dirty="0"/>
          </a:p>
          <a:p>
            <a:pPr marL="171450" indent="-171450">
              <a:buFontTx/>
              <a:buChar char="-"/>
            </a:pPr>
            <a:r>
              <a:rPr lang="en-US" dirty="0"/>
              <a:t>Function Calling, Tool Calling</a:t>
            </a:r>
            <a:r>
              <a:rPr lang="en-US" altLang="ko-KR" dirty="0"/>
              <a:t>...</a:t>
            </a:r>
            <a:r>
              <a:rPr lang="ko-KR" altLang="en-US" dirty="0"/>
              <a:t> 모델 제공사마다 다르게 부르지만 결국 같은 것</a:t>
            </a:r>
            <a:endParaRPr lang="en-US" altLang="ko-KR" dirty="0"/>
          </a:p>
          <a:p>
            <a:pPr marL="171450" indent="-171450">
              <a:buFontTx/>
              <a:buChar char="-"/>
            </a:pPr>
            <a:r>
              <a:rPr lang="en-US" dirty="0"/>
              <a:t>LLM</a:t>
            </a:r>
            <a:r>
              <a:rPr lang="ko-KR" altLang="en-US" dirty="0"/>
              <a:t>은 도구를 통해 현실 세계와 연결될 수 있고</a:t>
            </a:r>
            <a:endParaRPr lang="en-US" altLang="ko-KR" dirty="0"/>
          </a:p>
          <a:p>
            <a:pPr marL="171450" indent="-171450">
              <a:buFontTx/>
              <a:buChar char="-"/>
            </a:pPr>
            <a:r>
              <a:rPr lang="ko-KR" altLang="en-US" dirty="0" err="1"/>
              <a:t>에이전틱</a:t>
            </a:r>
            <a:r>
              <a:rPr lang="ko-KR" altLang="en-US" dirty="0"/>
              <a:t> 시스템에서는 </a:t>
            </a:r>
            <a:r>
              <a:rPr lang="en-US" altLang="ko-KR" dirty="0"/>
              <a:t>LLM</a:t>
            </a:r>
            <a:r>
              <a:rPr lang="ko-KR" altLang="en-US" dirty="0"/>
              <a:t>이 어떤 도구를 쓸지 직접 판단함으로써 자율성을 얻을 수 있음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35FF9D-FACD-0642-A32E-4D3EC0848E66}" type="slidenum">
              <a:rPr lang="en-KR" smtClean="0"/>
              <a:t>11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74828824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ko-KR" altLang="en-US" dirty="0"/>
              <a:t>실제로 운영 자동화에 사용했던 도구 예시를 보면</a:t>
            </a:r>
            <a:endParaRPr lang="en-US" altLang="ko-KR" dirty="0"/>
          </a:p>
          <a:p>
            <a:pPr marL="628650" lvl="1" indent="-171450">
              <a:buFontTx/>
              <a:buChar char="-"/>
            </a:pPr>
            <a:r>
              <a:rPr lang="ko-KR" altLang="en-US" dirty="0"/>
              <a:t>운영 처리의 대상이 되는 컨텐츠 내용을 읽는 도구</a:t>
            </a:r>
            <a:endParaRPr lang="en-US" altLang="ko-KR" dirty="0"/>
          </a:p>
          <a:p>
            <a:pPr marL="628650" lvl="1" indent="-171450">
              <a:buFontTx/>
              <a:buChar char="-"/>
            </a:pPr>
            <a:r>
              <a:rPr lang="ko-KR" altLang="en-US" dirty="0"/>
              <a:t>운영</a:t>
            </a:r>
            <a:r>
              <a:rPr lang="en-US" altLang="ko-KR" dirty="0"/>
              <a:t>,</a:t>
            </a:r>
            <a:r>
              <a:rPr lang="ko-KR" altLang="en-US" dirty="0"/>
              <a:t> 처리 정책을 읽을 수 있는 도구</a:t>
            </a:r>
            <a:endParaRPr lang="en-US" altLang="ko-KR" dirty="0"/>
          </a:p>
          <a:p>
            <a:pPr marL="628650" lvl="1" indent="-171450">
              <a:buFontTx/>
              <a:buChar char="-"/>
            </a:pPr>
            <a:r>
              <a:rPr lang="ko-KR" altLang="en-US" dirty="0"/>
              <a:t>실제 처리를 위한 처리 </a:t>
            </a:r>
            <a:r>
              <a:rPr lang="en-US" altLang="ko-KR" dirty="0"/>
              <a:t>API</a:t>
            </a:r>
            <a:r>
              <a:rPr lang="ko-KR" altLang="en-US" dirty="0" err="1"/>
              <a:t>를</a:t>
            </a:r>
            <a:r>
              <a:rPr lang="ko-KR" altLang="en-US" dirty="0"/>
              <a:t> 호출하는 도구</a:t>
            </a:r>
            <a:endParaRPr lang="en-US" altLang="ko-KR" dirty="0"/>
          </a:p>
          <a:p>
            <a:pPr marL="628650" lvl="1" indent="-171450">
              <a:buFontTx/>
              <a:buChar char="-"/>
            </a:pPr>
            <a:r>
              <a:rPr lang="ko-KR" altLang="en-US" dirty="0"/>
              <a:t>처리 결과를 사용자에게 알려주기 위해 알림을 발송하는 도구</a:t>
            </a:r>
            <a:endParaRPr lang="en-US" altLang="ko-KR" dirty="0"/>
          </a:p>
          <a:p>
            <a:pPr marL="171450" lvl="0" indent="-171450">
              <a:buFontTx/>
              <a:buChar char="-"/>
            </a:pPr>
            <a:r>
              <a:rPr lang="ko-KR" altLang="en-US" dirty="0"/>
              <a:t>에이전트는 필요에 따라 이 도구를 사용해 자동으로 운영 처리를 수행</a:t>
            </a:r>
            <a:endParaRPr lang="en-US" altLang="ko-KR" dirty="0"/>
          </a:p>
          <a:p>
            <a:pPr marL="171450" lvl="0" indent="-171450">
              <a:buFontTx/>
              <a:buChar char="-"/>
            </a:pPr>
            <a:r>
              <a:rPr lang="ko-KR" altLang="en-US" dirty="0"/>
              <a:t>예를 들어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en-US" altLang="ko-KR" dirty="0"/>
              <a:t>‘</a:t>
            </a:r>
            <a:r>
              <a:rPr lang="ko-KR" altLang="en-US" dirty="0"/>
              <a:t>청소년 유해물</a:t>
            </a:r>
            <a:r>
              <a:rPr lang="en-US" altLang="ko-KR" dirty="0"/>
              <a:t>’</a:t>
            </a:r>
            <a:r>
              <a:rPr lang="ko-KR" altLang="en-US" dirty="0"/>
              <a:t>로 신고가 들어온 중고거래 게시글이라면</a:t>
            </a:r>
            <a:endParaRPr lang="en-US" altLang="ko-KR" dirty="0"/>
          </a:p>
          <a:p>
            <a:pPr marL="628650" lvl="1" indent="-171450">
              <a:buFontTx/>
              <a:buChar char="-"/>
            </a:pPr>
            <a:r>
              <a:rPr lang="ko-KR" altLang="en-US" dirty="0"/>
              <a:t>중고거래 게시글 조회 도구를 사용해 게시글 내용을 확인하고</a:t>
            </a:r>
            <a:endParaRPr lang="en-US" altLang="ko-KR" dirty="0"/>
          </a:p>
          <a:p>
            <a:pPr marL="628650" lvl="1" indent="-171450">
              <a:buFontTx/>
              <a:buChar char="-"/>
            </a:pPr>
            <a:r>
              <a:rPr lang="ko-KR" altLang="en-US" dirty="0"/>
              <a:t>청소년 유해물 정책을 읽어본 후에</a:t>
            </a:r>
            <a:endParaRPr lang="en-US" altLang="ko-KR" dirty="0"/>
          </a:p>
          <a:p>
            <a:pPr marL="628650" lvl="1" indent="-171450">
              <a:buFontTx/>
              <a:buChar char="-"/>
            </a:pPr>
            <a:r>
              <a:rPr lang="ko-KR" altLang="en-US" dirty="0"/>
              <a:t>게시글 </a:t>
            </a:r>
            <a:r>
              <a:rPr lang="en-US" altLang="ko-KR" dirty="0"/>
              <a:t>ID</a:t>
            </a:r>
            <a:r>
              <a:rPr lang="ko-KR" altLang="en-US" dirty="0"/>
              <a:t>로 처리 </a:t>
            </a:r>
            <a:r>
              <a:rPr lang="en-US" altLang="ko-KR" dirty="0"/>
              <a:t>API</a:t>
            </a:r>
            <a:r>
              <a:rPr lang="ko-KR" altLang="en-US" dirty="0" err="1"/>
              <a:t>를</a:t>
            </a:r>
            <a:r>
              <a:rPr lang="ko-KR" altLang="en-US" dirty="0"/>
              <a:t> 호출하고</a:t>
            </a:r>
            <a:endParaRPr lang="en-US" altLang="ko-KR" dirty="0"/>
          </a:p>
          <a:p>
            <a:pPr marL="628650" lvl="1" indent="-171450">
              <a:buFontTx/>
              <a:buChar char="-"/>
            </a:pPr>
            <a:r>
              <a:rPr lang="ko-KR" altLang="en-US" dirty="0"/>
              <a:t>게시글 작성자 </a:t>
            </a:r>
            <a:r>
              <a:rPr lang="en-US" altLang="ko-KR" dirty="0"/>
              <a:t>ID</a:t>
            </a:r>
            <a:r>
              <a:rPr lang="ko-KR" altLang="en-US" dirty="0" err="1"/>
              <a:t>를</a:t>
            </a:r>
            <a:r>
              <a:rPr lang="ko-KR" altLang="en-US" dirty="0"/>
              <a:t> 대상으로 알림 발송</a:t>
            </a:r>
            <a:endParaRPr lang="en-US" altLang="ko-KR" dirty="0"/>
          </a:p>
          <a:p>
            <a:pPr marL="628650" lvl="1" indent="-171450">
              <a:buFontTx/>
              <a:buChar char="-"/>
            </a:pPr>
            <a:endParaRPr lang="en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35FF9D-FACD-0642-A32E-4D3EC0848E66}" type="slidenum">
              <a:rPr lang="en-KR" smtClean="0"/>
              <a:t>12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404130911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ko-KR" altLang="en-US" dirty="0"/>
              <a:t>이렇게 에이전트가 자율적으로 도구를 사용하는 만큼</a:t>
            </a:r>
            <a:endParaRPr lang="en-US" altLang="ko-KR" dirty="0"/>
          </a:p>
          <a:p>
            <a:pPr marL="171450" indent="-171450">
              <a:buFontTx/>
              <a:buChar char="-"/>
            </a:pPr>
            <a:r>
              <a:rPr lang="ko-KR" altLang="en-US" dirty="0"/>
              <a:t>도구를 언제</a:t>
            </a:r>
            <a:r>
              <a:rPr lang="en-US" altLang="ko-KR" dirty="0"/>
              <a:t>,</a:t>
            </a:r>
            <a:r>
              <a:rPr lang="ko-KR" altLang="en-US" dirty="0"/>
              <a:t> 어떻게 </a:t>
            </a:r>
            <a:r>
              <a:rPr lang="ko-KR" altLang="en-US" dirty="0" err="1"/>
              <a:t>써야하는지</a:t>
            </a:r>
            <a:r>
              <a:rPr lang="ko-KR" altLang="en-US" dirty="0"/>
              <a:t> 설명을 잘 하는 것이 중요</a:t>
            </a:r>
            <a:endParaRPr lang="en-US" altLang="ko-KR" dirty="0"/>
          </a:p>
          <a:p>
            <a:pPr marL="171450" indent="-171450">
              <a:buFontTx/>
              <a:buChar char="-"/>
            </a:pPr>
            <a:r>
              <a:rPr lang="en-US" altLang="ko-KR" dirty="0"/>
              <a:t>Description</a:t>
            </a:r>
            <a:r>
              <a:rPr lang="ko-KR" altLang="en-US" dirty="0"/>
              <a:t>을 잘 </a:t>
            </a:r>
            <a:r>
              <a:rPr lang="ko-KR" altLang="en-US" dirty="0" err="1"/>
              <a:t>작성해줘야하고</a:t>
            </a:r>
            <a:r>
              <a:rPr lang="en-US" altLang="ko-KR" dirty="0"/>
              <a:t>,</a:t>
            </a:r>
            <a:r>
              <a:rPr lang="ko-KR" altLang="en-US" dirty="0"/>
              <a:t> 특히 </a:t>
            </a:r>
            <a:r>
              <a:rPr lang="en-US" altLang="ko-KR" dirty="0"/>
              <a:t>description </a:t>
            </a:r>
            <a:r>
              <a:rPr lang="ko-KR" altLang="en-US" dirty="0"/>
              <a:t>만큼 </a:t>
            </a:r>
            <a:r>
              <a:rPr lang="en-US" altLang="ko-KR" dirty="0"/>
              <a:t>request schema(</a:t>
            </a:r>
            <a:r>
              <a:rPr lang="ko-KR" altLang="en-US" dirty="0"/>
              <a:t>파라미터</a:t>
            </a:r>
            <a:r>
              <a:rPr lang="en-US" altLang="ko-KR" dirty="0"/>
              <a:t>)</a:t>
            </a:r>
            <a:r>
              <a:rPr lang="ko-KR" altLang="en-US" dirty="0" err="1"/>
              <a:t>에</a:t>
            </a:r>
            <a:r>
              <a:rPr lang="ko-KR" altLang="en-US" dirty="0"/>
              <a:t> 대한 정의를 정확히 해주는 것이 필요</a:t>
            </a:r>
            <a:endParaRPr lang="en-US" altLang="ko-KR" dirty="0"/>
          </a:p>
          <a:p>
            <a:pPr marL="171450" indent="-171450">
              <a:buFontTx/>
              <a:buChar char="-"/>
            </a:pPr>
            <a:r>
              <a:rPr lang="ko-KR" altLang="en-US" dirty="0"/>
              <a:t>일부 파라미터의 경우 </a:t>
            </a:r>
            <a:r>
              <a:rPr lang="en-US" altLang="ko-KR" dirty="0"/>
              <a:t>LLM</a:t>
            </a:r>
            <a:r>
              <a:rPr lang="ko-KR" altLang="en-US" dirty="0"/>
              <a:t>이 생성하는 값보다 고정된 값을 사용하는 것이 안전한 경우도 있음</a:t>
            </a:r>
            <a:endParaRPr lang="en-US" altLang="ko-KR" dirty="0"/>
          </a:p>
          <a:p>
            <a:pPr marL="628650" lvl="1" indent="-171450">
              <a:buFontTx/>
              <a:buChar char="-"/>
            </a:pPr>
            <a:r>
              <a:rPr lang="en-US" altLang="ko-KR" dirty="0"/>
              <a:t>KAMP</a:t>
            </a:r>
            <a:r>
              <a:rPr lang="ko-KR" altLang="en-US" dirty="0"/>
              <a:t>는 도구 호출 시 일부 파라미터를 에이전트 호출 시 함께 제공한 값으로 고정하는 옵션도 제공하고 있음</a:t>
            </a:r>
            <a:endParaRPr lang="en-US" altLang="ko-KR" dirty="0"/>
          </a:p>
          <a:p>
            <a:pPr marL="628650" lvl="1" indent="-171450">
              <a:buFontTx/>
              <a:buChar char="-"/>
            </a:pPr>
            <a:endParaRPr lang="en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35FF9D-FACD-0642-A32E-4D3EC0848E66}" type="slidenum">
              <a:rPr lang="en-KR" smtClean="0"/>
              <a:t>13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80018512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ko-KR" altLang="en-US" dirty="0"/>
              <a:t>그런데 이런 일련의 작업들을 하나의 </a:t>
            </a:r>
            <a:r>
              <a:rPr lang="en-US" altLang="ko-KR" dirty="0"/>
              <a:t>LLM</a:t>
            </a:r>
            <a:r>
              <a:rPr lang="ko-KR" altLang="en-US" dirty="0"/>
              <a:t>이 처리하게 되면 약점이 있음</a:t>
            </a:r>
            <a:endParaRPr lang="en-US" altLang="ko-KR" dirty="0"/>
          </a:p>
          <a:p>
            <a:pPr marL="171450" indent="-171450">
              <a:buFontTx/>
              <a:buChar char="-"/>
            </a:pPr>
            <a:r>
              <a:rPr lang="ko-KR" altLang="en-US" dirty="0" err="1"/>
              <a:t>컨텍스트량</a:t>
            </a:r>
            <a:r>
              <a:rPr lang="ko-KR" altLang="en-US" dirty="0"/>
              <a:t> 증가로 성능 저하가 나타나고</a:t>
            </a:r>
            <a:endParaRPr lang="en-US" altLang="ko-KR" dirty="0"/>
          </a:p>
          <a:p>
            <a:pPr marL="171450" indent="-171450">
              <a:buFontTx/>
              <a:buChar char="-"/>
            </a:pPr>
            <a:r>
              <a:rPr lang="ko-KR" altLang="en-US" dirty="0"/>
              <a:t>이는 결과에 대한 예측성을 떨어뜨림</a:t>
            </a:r>
            <a:endParaRPr lang="en-US" altLang="ko-KR" dirty="0"/>
          </a:p>
          <a:p>
            <a:pPr marL="171450" indent="-171450">
              <a:buFontTx/>
              <a:buChar char="-"/>
            </a:pPr>
            <a:r>
              <a:rPr lang="ko-KR" altLang="en-US" dirty="0"/>
              <a:t>그리고 뒤에서 얘기하겠지만 사후 추적 측면에서도 어려움이 생김</a:t>
            </a:r>
            <a:endParaRPr lang="en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35FF9D-FACD-0642-A32E-4D3EC0848E66}" type="slidenum">
              <a:rPr lang="en-KR" smtClean="0"/>
              <a:t>14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421689291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ko-KR" altLang="en-US" dirty="0"/>
              <a:t>그래서 여러 에이전트로 팀을 구성하는 방법을 선택함</a:t>
            </a:r>
            <a:endParaRPr lang="en-US" altLang="ko-KR" dirty="0"/>
          </a:p>
          <a:p>
            <a:pPr marL="171450" indent="-171450">
              <a:buFontTx/>
              <a:buChar char="-"/>
            </a:pPr>
            <a:r>
              <a:rPr lang="ko-KR" altLang="en-US" dirty="0"/>
              <a:t>이것이 멀티 에이전트</a:t>
            </a:r>
            <a:endParaRPr lang="en-US" altLang="ko-KR" dirty="0"/>
          </a:p>
          <a:p>
            <a:pPr marL="171450" indent="-171450">
              <a:buFontTx/>
              <a:buChar char="-"/>
            </a:pPr>
            <a:r>
              <a:rPr lang="ko-KR" altLang="en-US" dirty="0"/>
              <a:t>예를 들어</a:t>
            </a:r>
            <a:endParaRPr lang="en-US" altLang="ko-KR" dirty="0"/>
          </a:p>
          <a:p>
            <a:pPr marL="628650" lvl="1" indent="-171450">
              <a:buFontTx/>
              <a:buChar char="-"/>
            </a:pPr>
            <a:r>
              <a:rPr lang="ko-KR" altLang="en-US" dirty="0"/>
              <a:t>컨텐츠를 조회하고 내용으로 봤을 때 어떤 검토를 할 </a:t>
            </a:r>
            <a:r>
              <a:rPr lang="ko-KR" altLang="en-US" dirty="0" err="1"/>
              <a:t>건지만</a:t>
            </a:r>
            <a:r>
              <a:rPr lang="ko-KR" altLang="en-US" dirty="0"/>
              <a:t> 판단하는 에이전트</a:t>
            </a:r>
            <a:endParaRPr lang="en-US" altLang="ko-KR" dirty="0"/>
          </a:p>
          <a:p>
            <a:pPr marL="628650" lvl="1" indent="-171450">
              <a:buFontTx/>
              <a:buChar char="-"/>
            </a:pPr>
            <a:r>
              <a:rPr lang="ko-KR" altLang="en-US" dirty="0"/>
              <a:t>앞에서 결정한 부분에 대한 실제 정책 확인 및 판단을 하는 에이전트</a:t>
            </a:r>
            <a:endParaRPr lang="en-US" altLang="ko-KR" dirty="0"/>
          </a:p>
          <a:p>
            <a:pPr marL="628650" lvl="1" indent="-171450">
              <a:buFontTx/>
              <a:buChar char="-"/>
            </a:pPr>
            <a:r>
              <a:rPr lang="ko-KR" altLang="en-US" dirty="0"/>
              <a:t>검토 에이전트가 잘 판단했는지 검토하는 에이전트</a:t>
            </a:r>
            <a:endParaRPr lang="en-US" altLang="ko-KR" dirty="0"/>
          </a:p>
          <a:p>
            <a:pPr marL="628650" lvl="1" indent="-171450">
              <a:buFontTx/>
              <a:buChar char="-"/>
            </a:pPr>
            <a:r>
              <a:rPr lang="ko-KR" altLang="en-US" dirty="0"/>
              <a:t>최종적으로 처리 결과를 가지고 처리를 수행하는 에이전트</a:t>
            </a:r>
            <a:endParaRPr lang="en-US" altLang="ko-KR" dirty="0"/>
          </a:p>
          <a:p>
            <a:pPr marL="171450" lvl="0" indent="-171450">
              <a:buFontTx/>
              <a:buChar char="-"/>
            </a:pPr>
            <a:r>
              <a:rPr lang="ko-KR" altLang="en-US" dirty="0"/>
              <a:t>이제 검토단계에서부터 잘못됐는지</a:t>
            </a:r>
            <a:r>
              <a:rPr lang="en-US" altLang="ko-KR" dirty="0"/>
              <a:t>,</a:t>
            </a:r>
            <a:r>
              <a:rPr lang="ko-KR" altLang="en-US" dirty="0"/>
              <a:t> 검증단계에서 놓쳤는지</a:t>
            </a:r>
            <a:r>
              <a:rPr lang="en-US" altLang="ko-KR" dirty="0"/>
              <a:t>,</a:t>
            </a:r>
            <a:r>
              <a:rPr lang="ko-KR" altLang="en-US" dirty="0"/>
              <a:t> 판단은 잘 했는데 처리에서 실수가 있었는지 더 쉽게 알 수 있음</a:t>
            </a:r>
            <a:endParaRPr lang="en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35FF9D-FACD-0642-A32E-4D3EC0848E66}" type="slidenum">
              <a:rPr lang="en-KR" smtClean="0"/>
              <a:t>15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18490600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ko-KR" altLang="en-US" dirty="0"/>
              <a:t>이 팀이 함께 일하는 과정을 살펴보면 분류 에이전트가 가장 먼저 입력을 받고 어떤 부분에 대한 검토를 할지</a:t>
            </a:r>
            <a:endParaRPr lang="en-US" altLang="ko-KR" dirty="0"/>
          </a:p>
          <a:p>
            <a:pPr marL="171450" indent="-171450">
              <a:buFontTx/>
              <a:buChar char="-"/>
            </a:pPr>
            <a:r>
              <a:rPr lang="ko-KR" altLang="en-US" dirty="0"/>
              <a:t>검토 에이전트에게 넘기면 판단 후에</a:t>
            </a:r>
            <a:endParaRPr lang="en-US" altLang="ko-KR" dirty="0"/>
          </a:p>
          <a:p>
            <a:pPr marL="171450" indent="-171450">
              <a:buFontTx/>
              <a:buChar char="-"/>
            </a:pPr>
            <a:r>
              <a:rPr lang="ko-KR" altLang="en-US" dirty="0"/>
              <a:t>검증 에이전트가 확인해보고 괜찮으면 처리로 넘기고 오판단이 있다면 검토 에이전트에게 되돌림</a:t>
            </a:r>
            <a:endParaRPr lang="en-US" altLang="ko-KR" dirty="0"/>
          </a:p>
          <a:p>
            <a:pPr marL="628650" lvl="1" indent="-171450">
              <a:buFontTx/>
              <a:buChar char="-"/>
            </a:pPr>
            <a:r>
              <a:rPr lang="ko-KR" altLang="en-US" dirty="0"/>
              <a:t>이 부분이 워크플로우와 결정적으로 다름</a:t>
            </a:r>
            <a:endParaRPr lang="en-US" altLang="ko-KR" dirty="0"/>
          </a:p>
          <a:p>
            <a:pPr marL="171450" lvl="0" indent="-171450">
              <a:buFontTx/>
              <a:buChar char="-"/>
            </a:pPr>
            <a:r>
              <a:rPr lang="ko-KR" altLang="en-US" dirty="0"/>
              <a:t>처리 에이전트가 최종적으로 처리</a:t>
            </a:r>
            <a:endParaRPr lang="en-US" altLang="ko-KR" dirty="0"/>
          </a:p>
          <a:p>
            <a:pPr marL="171450" indent="-171450">
              <a:buFontTx/>
              <a:buChar char="-"/>
            </a:pPr>
            <a:endParaRPr lang="en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35FF9D-FACD-0642-A32E-4D3EC0848E66}" type="slidenum">
              <a:rPr lang="en-KR" smtClean="0"/>
              <a:t>16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70237989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ko-KR" altLang="en-US" dirty="0"/>
              <a:t>검증 에이전트에 대해서 조금 더 이야기하고 넘어가고 싶은데</a:t>
            </a:r>
            <a:endParaRPr lang="en-US" altLang="ko-KR" dirty="0"/>
          </a:p>
          <a:p>
            <a:pPr marL="171450" indent="-171450">
              <a:buFontTx/>
              <a:buChar char="-"/>
            </a:pPr>
            <a:r>
              <a:rPr lang="ko-KR" altLang="en-US" dirty="0"/>
              <a:t>이 검증 에이전트가 정확도 개선에 큰 도움이 되었음</a:t>
            </a:r>
            <a:endParaRPr lang="en-US" altLang="ko-KR" dirty="0"/>
          </a:p>
          <a:p>
            <a:pPr marL="171450" indent="-171450">
              <a:buFontTx/>
              <a:buChar char="-"/>
            </a:pPr>
            <a:r>
              <a:rPr lang="ko-KR" altLang="en-US" dirty="0"/>
              <a:t>많은 분들이 에이전트의 </a:t>
            </a:r>
            <a:r>
              <a:rPr lang="ko-KR" altLang="en-US" dirty="0" err="1"/>
              <a:t>할루시네이션이나</a:t>
            </a:r>
            <a:r>
              <a:rPr lang="ko-KR" altLang="en-US" dirty="0"/>
              <a:t> 판단 미스를 걱정하시는데</a:t>
            </a:r>
            <a:endParaRPr lang="en-US" altLang="ko-KR" dirty="0"/>
          </a:p>
          <a:p>
            <a:pPr marL="171450" indent="-171450">
              <a:buFontTx/>
              <a:buChar char="-"/>
            </a:pPr>
            <a:r>
              <a:rPr lang="ko-KR" altLang="en-US" dirty="0"/>
              <a:t>검증 에이전트만 붙여도 이것을 많이 </a:t>
            </a:r>
            <a:r>
              <a:rPr lang="ko-KR" altLang="en-US" dirty="0" err="1"/>
              <a:t>줄여줌</a:t>
            </a:r>
            <a:endParaRPr lang="en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35FF9D-FACD-0642-A32E-4D3EC0848E66}" type="slidenum">
              <a:rPr lang="en-KR" smtClean="0"/>
              <a:t>17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280792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-</a:t>
            </a:r>
            <a:r>
              <a:rPr lang="ko-KR" altLang="en-US" dirty="0"/>
              <a:t> 다음은 지식 관리와 최적화 이야기를 해볼까 함</a:t>
            </a:r>
            <a:endParaRPr lang="en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35FF9D-FACD-0642-A32E-4D3EC0848E66}" type="slidenum">
              <a:rPr lang="en-KR" smtClean="0"/>
              <a:t>18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35408556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ko-KR" altLang="en-US" dirty="0"/>
              <a:t>지식은 에이전트가 작업을 처리하기 위해 </a:t>
            </a:r>
            <a:r>
              <a:rPr lang="ko-KR" altLang="en-US" dirty="0" err="1"/>
              <a:t>알아야할</a:t>
            </a:r>
            <a:r>
              <a:rPr lang="ko-KR" altLang="en-US" dirty="0"/>
              <a:t> 내용들</a:t>
            </a:r>
            <a:endParaRPr lang="en-US" altLang="ko-KR" dirty="0"/>
          </a:p>
          <a:p>
            <a:pPr marL="171450" indent="-171450">
              <a:buFontTx/>
              <a:buChar char="-"/>
            </a:pPr>
            <a:r>
              <a:rPr lang="ko-KR" altLang="en-US" dirty="0"/>
              <a:t>많이들 실수하는 부분이 이걸 프롬프트에 넣는 것</a:t>
            </a:r>
            <a:endParaRPr lang="en-US" altLang="ko-KR" dirty="0"/>
          </a:p>
          <a:p>
            <a:pPr marL="171450" indent="-171450">
              <a:buFontTx/>
              <a:buChar char="-"/>
            </a:pPr>
            <a:r>
              <a:rPr lang="ko-KR" altLang="en-US" dirty="0"/>
              <a:t>물론 프롬프트에 넣어도 잘 작동함</a:t>
            </a:r>
            <a:endParaRPr lang="en-US" altLang="ko-KR" dirty="0"/>
          </a:p>
          <a:p>
            <a:pPr marL="171450" indent="-171450">
              <a:buFontTx/>
              <a:buChar char="-"/>
            </a:pPr>
            <a:r>
              <a:rPr lang="ko-KR" altLang="en-US" dirty="0"/>
              <a:t>하지만 실제로는 지식을 프롬프트 외부에 </a:t>
            </a:r>
            <a:r>
              <a:rPr lang="ko-KR" altLang="en-US" dirty="0" err="1"/>
              <a:t>두어야할</a:t>
            </a:r>
            <a:r>
              <a:rPr lang="ko-KR" altLang="en-US" dirty="0"/>
              <a:t> 기술적</a:t>
            </a:r>
            <a:r>
              <a:rPr lang="en-US" altLang="ko-KR" dirty="0"/>
              <a:t>,</a:t>
            </a:r>
            <a:r>
              <a:rPr lang="ko-KR" altLang="en-US" dirty="0"/>
              <a:t> 조직적 이유가 있음</a:t>
            </a:r>
            <a:endParaRPr lang="en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35FF9D-FACD-0642-A32E-4D3EC0848E66}" type="slidenum">
              <a:rPr lang="en-KR" smtClean="0"/>
              <a:t>19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78722963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ko-KR" altLang="en-US" dirty="0"/>
              <a:t>그리고 또 한 가지 이야기 하고 </a:t>
            </a:r>
            <a:r>
              <a:rPr lang="ko-KR" altLang="en-US" dirty="0" err="1"/>
              <a:t>싶은것은</a:t>
            </a:r>
            <a:endParaRPr lang="en-US" altLang="ko-KR" dirty="0"/>
          </a:p>
          <a:p>
            <a:pPr marL="171450" indent="-171450">
              <a:buFontTx/>
              <a:buChar char="-"/>
            </a:pPr>
            <a:r>
              <a:rPr lang="ko-KR" altLang="en-US" dirty="0"/>
              <a:t>지식을 외부에 둔다고 하면 벡터 스토리지에 저장하고 의미 기반으로 조회하는 벡터 기반 </a:t>
            </a:r>
            <a:r>
              <a:rPr lang="en-US" altLang="ko-KR" dirty="0"/>
              <a:t>RAG</a:t>
            </a:r>
            <a:r>
              <a:rPr lang="ko-KR" altLang="en-US" dirty="0"/>
              <a:t>을 많이 떠올림</a:t>
            </a:r>
            <a:endParaRPr lang="en-US" altLang="ko-KR" dirty="0"/>
          </a:p>
          <a:p>
            <a:pPr marL="171450" indent="-171450">
              <a:buFontTx/>
              <a:buChar char="-"/>
            </a:pPr>
            <a:r>
              <a:rPr lang="ko-KR" altLang="en-US" dirty="0"/>
              <a:t>그러지 마세요</a:t>
            </a:r>
            <a:endParaRPr lang="en-US" altLang="ko-KR" dirty="0"/>
          </a:p>
          <a:p>
            <a:pPr marL="171450" indent="-171450">
              <a:buFontTx/>
              <a:buChar char="-"/>
            </a:pPr>
            <a:r>
              <a:rPr lang="ko-KR" altLang="en-US" dirty="0"/>
              <a:t>가끔은 그냥 단순한 방법이 정확도나 토큰 사용량 측면에서 모두 나을 때가 있음</a:t>
            </a:r>
            <a:endParaRPr lang="en-US" altLang="ko-KR" dirty="0"/>
          </a:p>
          <a:p>
            <a:pPr marL="171450" indent="-171450">
              <a:buFontTx/>
              <a:buChar char="-"/>
            </a:pPr>
            <a:r>
              <a:rPr lang="ko-KR" altLang="en-US" dirty="0"/>
              <a:t>오버 엔지니어링 하지 않도록 고민</a:t>
            </a:r>
            <a:endParaRPr lang="en-US" altLang="ko-KR" dirty="0"/>
          </a:p>
          <a:p>
            <a:pPr marL="171450" indent="-171450">
              <a:buFontTx/>
              <a:buChar char="-"/>
            </a:pPr>
            <a:endParaRPr lang="en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35FF9D-FACD-0642-A32E-4D3EC0848E66}" type="slidenum">
              <a:rPr lang="en-KR" smtClean="0"/>
              <a:t>20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14800701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ko-KR" altLang="en-US" dirty="0"/>
              <a:t>또 한가지 고려하면 좋은 점은 에이전트를 단순히 실행하는 역할이 아니라 이 지식을 개선하는데 참여하는 역할로 만드는 것</a:t>
            </a:r>
            <a:endParaRPr lang="en-US" altLang="ko-KR" dirty="0"/>
          </a:p>
          <a:p>
            <a:pPr marL="171450" indent="-171450">
              <a:buFontTx/>
              <a:buChar char="-"/>
            </a:pPr>
            <a:r>
              <a:rPr lang="ko-KR" altLang="en-US" dirty="0"/>
              <a:t>에이전트가 잘못 작동하는 경우 중 많은 부분이 지식이 잘못된 경우</a:t>
            </a:r>
            <a:endParaRPr lang="en-US" altLang="ko-KR" dirty="0"/>
          </a:p>
          <a:p>
            <a:pPr marL="171450" indent="-171450">
              <a:buFontTx/>
              <a:buChar char="-"/>
            </a:pPr>
            <a:r>
              <a:rPr lang="ko-KR" altLang="en-US" dirty="0"/>
              <a:t>그런데 문제는 지식의 양이 많을수록 사람이 인지하기 쉽지 않음</a:t>
            </a:r>
            <a:endParaRPr lang="en-US" altLang="ko-KR" dirty="0"/>
          </a:p>
          <a:p>
            <a:pPr marL="171450" indent="-171450">
              <a:buFontTx/>
              <a:buChar char="-"/>
            </a:pPr>
            <a:r>
              <a:rPr lang="ko-KR" altLang="en-US" dirty="0"/>
              <a:t>그래서 저희는 에이전트에게 로깅 도구를 제공함</a:t>
            </a:r>
            <a:endParaRPr lang="en-US" altLang="ko-KR" dirty="0"/>
          </a:p>
          <a:p>
            <a:pPr marL="171450" indent="-171450">
              <a:buFontTx/>
              <a:buChar char="-"/>
            </a:pPr>
            <a:r>
              <a:rPr lang="ko-KR" altLang="en-US" dirty="0"/>
              <a:t>에이전트는 지식에 모호하거나 모순이 있는 내용을 발견하면 피드백을 남김</a:t>
            </a:r>
            <a:endParaRPr lang="en-US" altLang="ko-KR" dirty="0"/>
          </a:p>
          <a:p>
            <a:pPr marL="171450" indent="-171450">
              <a:buFontTx/>
              <a:buChar char="-"/>
            </a:pPr>
            <a:r>
              <a:rPr lang="ko-KR" altLang="en-US" dirty="0"/>
              <a:t>사람은 전체 지식을 읽고 검토하는 대신 에이전트가 남긴 피드백을 확인하고 이걸 수용할지 말지만 결정하면 됨</a:t>
            </a:r>
            <a:endParaRPr lang="en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35FF9D-FACD-0642-A32E-4D3EC0848E66}" type="slidenum">
              <a:rPr lang="en-KR" smtClean="0"/>
              <a:t>21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58143286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ko-KR" altLang="en-US" dirty="0"/>
              <a:t>다음은 비용에 대한 이야기를 하려고 함</a:t>
            </a:r>
            <a:endParaRPr lang="en-US" altLang="ko-KR" dirty="0"/>
          </a:p>
          <a:p>
            <a:pPr marL="171450" indent="-171450">
              <a:buFontTx/>
              <a:buChar char="-"/>
            </a:pPr>
            <a:r>
              <a:rPr lang="ko-KR" altLang="en-US" dirty="0"/>
              <a:t>무시할 수 없음</a:t>
            </a:r>
            <a:endParaRPr lang="en-US" altLang="ko-KR" dirty="0"/>
          </a:p>
          <a:p>
            <a:pPr marL="171450" indent="-171450">
              <a:buFontTx/>
              <a:buChar char="-"/>
            </a:pPr>
            <a:r>
              <a:rPr lang="ko-KR" altLang="en-US" dirty="0"/>
              <a:t>비싸다 비싸</a:t>
            </a:r>
            <a:endParaRPr lang="en-US" altLang="ko-KR" dirty="0"/>
          </a:p>
          <a:p>
            <a:pPr marL="171450" indent="-171450">
              <a:buFontTx/>
              <a:buChar char="-"/>
            </a:pPr>
            <a:r>
              <a:rPr lang="ko-KR" altLang="en-US" dirty="0"/>
              <a:t>성능 </a:t>
            </a:r>
            <a:r>
              <a:rPr lang="en-US" altLang="ko-KR" dirty="0"/>
              <a:t>=</a:t>
            </a:r>
            <a:r>
              <a:rPr lang="ko-KR" altLang="en-US" dirty="0"/>
              <a:t> 돈</a:t>
            </a:r>
            <a:endParaRPr lang="en-US" altLang="ko-KR" dirty="0"/>
          </a:p>
          <a:p>
            <a:pPr marL="171450" indent="-171450">
              <a:buFontTx/>
              <a:buChar char="-"/>
            </a:pPr>
            <a:r>
              <a:rPr lang="ko-KR" altLang="en-US" dirty="0"/>
              <a:t>크게 세 가지를 </a:t>
            </a:r>
            <a:r>
              <a:rPr lang="ko-KR" altLang="en-US" dirty="0" err="1"/>
              <a:t>신경써야</a:t>
            </a:r>
            <a:r>
              <a:rPr lang="ko-KR" altLang="en-US" dirty="0"/>
              <a:t> 함</a:t>
            </a:r>
            <a:endParaRPr lang="en-US" altLang="ko-KR" dirty="0"/>
          </a:p>
          <a:p>
            <a:pPr marL="628650" lvl="1" indent="-171450">
              <a:buFontTx/>
              <a:buChar char="-"/>
            </a:pPr>
            <a:r>
              <a:rPr lang="ko-KR" altLang="en-US" dirty="0"/>
              <a:t>비용</a:t>
            </a:r>
            <a:endParaRPr lang="en-US" altLang="ko-KR" dirty="0"/>
          </a:p>
          <a:p>
            <a:pPr marL="628650" lvl="1" indent="-171450">
              <a:buFontTx/>
              <a:buChar char="-"/>
            </a:pPr>
            <a:r>
              <a:rPr lang="ko-KR" altLang="en-US" dirty="0"/>
              <a:t>성능</a:t>
            </a:r>
            <a:endParaRPr lang="en-US" altLang="ko-KR" dirty="0"/>
          </a:p>
          <a:p>
            <a:pPr marL="628650" lvl="1" indent="-171450">
              <a:buFontTx/>
              <a:buChar char="-"/>
            </a:pPr>
            <a:r>
              <a:rPr lang="ko-KR" altLang="en-US" dirty="0" err="1"/>
              <a:t>레이턴시</a:t>
            </a:r>
            <a:endParaRPr lang="en-US" altLang="ko-KR" dirty="0"/>
          </a:p>
          <a:p>
            <a:pPr marL="171450" indent="-171450">
              <a:buFontTx/>
              <a:buChar char="-"/>
            </a:pPr>
            <a:r>
              <a:rPr lang="ko-KR" altLang="en-US" dirty="0"/>
              <a:t>최대한 싼 모델을 </a:t>
            </a:r>
            <a:r>
              <a:rPr lang="ko-KR" altLang="en-US" dirty="0" err="1"/>
              <a:t>써야하는데</a:t>
            </a:r>
            <a:r>
              <a:rPr lang="ko-KR" altLang="en-US" dirty="0"/>
              <a:t> 또 무작정 싸면 바보가 되고</a:t>
            </a:r>
            <a:r>
              <a:rPr lang="en-US" altLang="ko-KR" dirty="0"/>
              <a:t>,</a:t>
            </a:r>
            <a:r>
              <a:rPr lang="ko-KR" altLang="en-US" dirty="0"/>
              <a:t> 성능을 위해 </a:t>
            </a:r>
            <a:r>
              <a:rPr lang="ko-KR" altLang="en-US" dirty="0" err="1"/>
              <a:t>비싼걸</a:t>
            </a:r>
            <a:r>
              <a:rPr lang="ko-KR" altLang="en-US" dirty="0"/>
              <a:t> </a:t>
            </a:r>
            <a:r>
              <a:rPr lang="ko-KR" altLang="en-US" dirty="0" err="1"/>
              <a:t>쓰자니</a:t>
            </a:r>
            <a:r>
              <a:rPr lang="ko-KR" altLang="en-US" dirty="0"/>
              <a:t> </a:t>
            </a:r>
            <a:r>
              <a:rPr lang="ko-KR" altLang="en-US" dirty="0" err="1"/>
              <a:t>레이턴시가</a:t>
            </a:r>
            <a:r>
              <a:rPr lang="ko-KR" altLang="en-US" dirty="0"/>
              <a:t> 늘어나면 안되는 경우도 있음</a:t>
            </a:r>
            <a:endParaRPr lang="en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35FF9D-FACD-0642-A32E-4D3EC0848E66}" type="slidenum">
              <a:rPr lang="en-KR" smtClean="0"/>
              <a:t>22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99607352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ko-KR" altLang="en-US" dirty="0"/>
              <a:t>그래서 </a:t>
            </a:r>
            <a:r>
              <a:rPr lang="ko-KR" altLang="en-US" dirty="0" err="1"/>
              <a:t>어쩌라는거냐</a:t>
            </a:r>
            <a:r>
              <a:rPr lang="en-US" altLang="ko-KR" dirty="0"/>
              <a:t>?</a:t>
            </a:r>
          </a:p>
          <a:p>
            <a:pPr marL="171450" indent="-171450">
              <a:buFontTx/>
              <a:buChar char="-"/>
            </a:pPr>
            <a:r>
              <a:rPr lang="ko-KR" altLang="en-US" dirty="0"/>
              <a:t>결국 직접 </a:t>
            </a:r>
            <a:r>
              <a:rPr lang="ko-KR" altLang="en-US" dirty="0" err="1"/>
              <a:t>써보는게</a:t>
            </a:r>
            <a:r>
              <a:rPr lang="ko-KR" altLang="en-US" dirty="0"/>
              <a:t> 제일 좋음</a:t>
            </a:r>
            <a:endParaRPr lang="en-US" altLang="ko-KR" dirty="0"/>
          </a:p>
          <a:p>
            <a:pPr marL="171450" indent="-171450">
              <a:buFontTx/>
              <a:buChar char="-"/>
            </a:pPr>
            <a:r>
              <a:rPr lang="en-US" altLang="ko-KR" dirty="0"/>
              <a:t>KAMP</a:t>
            </a:r>
            <a:r>
              <a:rPr lang="ko-KR" altLang="en-US" dirty="0"/>
              <a:t>에는 </a:t>
            </a:r>
            <a:r>
              <a:rPr lang="en-US" altLang="ko-KR" dirty="0"/>
              <a:t>A/B</a:t>
            </a:r>
            <a:r>
              <a:rPr lang="ko-KR" altLang="en-US" dirty="0"/>
              <a:t> 테스트 기능을 추가할 계획을 가지고 있음</a:t>
            </a:r>
            <a:endParaRPr lang="en-US" altLang="ko-KR" dirty="0"/>
          </a:p>
          <a:p>
            <a:pPr marL="628650" lvl="1" indent="-171450">
              <a:buFontTx/>
              <a:buChar char="-"/>
            </a:pPr>
            <a:r>
              <a:rPr lang="ko-KR" altLang="en-US" dirty="0"/>
              <a:t>실험군을 정하고 일부 트래픽은 다른 모델로 라우팅해서 성능</a:t>
            </a:r>
            <a:r>
              <a:rPr lang="en-US" altLang="ko-KR" dirty="0"/>
              <a:t>,</a:t>
            </a:r>
            <a:r>
              <a:rPr lang="ko-KR" altLang="en-US" dirty="0"/>
              <a:t> 피드백 변화를 보는 것</a:t>
            </a:r>
            <a:endParaRPr lang="en-US" altLang="ko-KR" dirty="0"/>
          </a:p>
          <a:p>
            <a:pPr marL="171450" lvl="0" indent="-171450">
              <a:buFontTx/>
              <a:buChar char="-"/>
            </a:pPr>
            <a:r>
              <a:rPr lang="ko-KR" altLang="en-US" dirty="0"/>
              <a:t>하지만 일반적인 팁을 좀 드려보자면</a:t>
            </a:r>
            <a:r>
              <a:rPr lang="en-US" altLang="ko-KR" dirty="0"/>
              <a:t>,</a:t>
            </a:r>
          </a:p>
          <a:p>
            <a:pPr marL="628650" lvl="1" indent="-171450">
              <a:buFontTx/>
              <a:buChar char="-"/>
            </a:pPr>
            <a:r>
              <a:rPr lang="ko-KR" altLang="en-US" dirty="0"/>
              <a:t>단순 분류</a:t>
            </a:r>
            <a:r>
              <a:rPr lang="en-US" altLang="ko-KR" dirty="0"/>
              <a:t>,</a:t>
            </a:r>
            <a:r>
              <a:rPr lang="ko-KR" altLang="en-US" dirty="0"/>
              <a:t> 처리 도구 실행 같은 성격의 작업은 </a:t>
            </a:r>
            <a:r>
              <a:rPr lang="en-US" altLang="ko-KR" dirty="0"/>
              <a:t>Flash, Haiku, mini </a:t>
            </a:r>
            <a:r>
              <a:rPr lang="ko-KR" altLang="en-US" dirty="0"/>
              <a:t>모델 정도면 충분한 경우가 많음</a:t>
            </a:r>
            <a:endParaRPr lang="en-US" altLang="ko-KR" dirty="0"/>
          </a:p>
          <a:p>
            <a:pPr marL="628650" lvl="1" indent="-171450">
              <a:buFontTx/>
              <a:buChar char="-"/>
            </a:pPr>
            <a:r>
              <a:rPr lang="ko-KR" altLang="en-US" dirty="0"/>
              <a:t>정책 판단처럼 논리적 근거가 필요한 경우엔 </a:t>
            </a:r>
            <a:r>
              <a:rPr lang="en-US" altLang="ko-KR" dirty="0"/>
              <a:t>Pro, Opus(Sonnet), 5.2 with medium thinking </a:t>
            </a:r>
            <a:r>
              <a:rPr lang="ko-KR" altLang="en-US" dirty="0"/>
              <a:t>등 더 좋은 모델을 </a:t>
            </a:r>
            <a:r>
              <a:rPr lang="ko-KR" altLang="en-US" dirty="0" err="1"/>
              <a:t>쓰는게</a:t>
            </a:r>
            <a:r>
              <a:rPr lang="ko-KR" altLang="en-US" dirty="0"/>
              <a:t> 나음</a:t>
            </a:r>
            <a:endParaRPr lang="en-US" altLang="ko-KR" dirty="0"/>
          </a:p>
          <a:p>
            <a:pPr marL="628650" lvl="1" indent="-171450">
              <a:buFontTx/>
              <a:buChar char="-"/>
            </a:pPr>
            <a:r>
              <a:rPr lang="ko-KR" altLang="en-US" dirty="0"/>
              <a:t>대신 큰 모델은 </a:t>
            </a:r>
            <a:r>
              <a:rPr lang="ko-KR" altLang="en-US" dirty="0" err="1"/>
              <a:t>레이턴시가</a:t>
            </a:r>
            <a:r>
              <a:rPr lang="ko-KR" altLang="en-US" dirty="0"/>
              <a:t> 중요하지 않은 경우에만 </a:t>
            </a:r>
            <a:r>
              <a:rPr lang="ko-KR" altLang="en-US" dirty="0" err="1"/>
              <a:t>쓰는걸</a:t>
            </a:r>
            <a:r>
              <a:rPr lang="ko-KR" altLang="en-US" dirty="0"/>
              <a:t> 추천</a:t>
            </a:r>
            <a:endParaRPr lang="en-US" altLang="ko-KR" dirty="0"/>
          </a:p>
          <a:p>
            <a:pPr marL="628650" lvl="1" indent="-171450">
              <a:buFontTx/>
              <a:buChar char="-"/>
            </a:pPr>
            <a:r>
              <a:rPr lang="ko-KR" altLang="en-US" dirty="0" err="1"/>
              <a:t>레이턴시가</a:t>
            </a:r>
            <a:r>
              <a:rPr lang="ko-KR" altLang="en-US" dirty="0"/>
              <a:t> 중요한 경우에 꼭 </a:t>
            </a:r>
            <a:r>
              <a:rPr lang="ko-KR" altLang="en-US" dirty="0" err="1"/>
              <a:t>써야한다면</a:t>
            </a:r>
            <a:r>
              <a:rPr lang="ko-KR" altLang="en-US" dirty="0"/>
              <a:t> </a:t>
            </a:r>
            <a:r>
              <a:rPr lang="en-US" altLang="ko-KR" dirty="0"/>
              <a:t>UI </a:t>
            </a:r>
            <a:r>
              <a:rPr lang="ko-KR" altLang="en-US" dirty="0"/>
              <a:t>레벨에서 적절하게 느리지 않게 느껴지게 만드는 작업 필요</a:t>
            </a:r>
            <a:endParaRPr lang="en-US" altLang="ko-KR" dirty="0"/>
          </a:p>
          <a:p>
            <a:pPr marL="171450" indent="-171450">
              <a:buFontTx/>
              <a:buChar char="-"/>
            </a:pPr>
            <a:endParaRPr lang="en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35FF9D-FACD-0642-A32E-4D3EC0848E66}" type="slidenum">
              <a:rPr lang="en-KR" smtClean="0"/>
              <a:t>23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5470307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ko-KR" altLang="en-US" dirty="0"/>
              <a:t>이렇게 </a:t>
            </a:r>
            <a:r>
              <a:rPr lang="ko-KR" altLang="en-US" dirty="0" err="1"/>
              <a:t>정해놔도</a:t>
            </a:r>
            <a:r>
              <a:rPr lang="ko-KR" altLang="en-US" dirty="0"/>
              <a:t> 비용은 폭발할 수 있음</a:t>
            </a:r>
            <a:endParaRPr lang="en-US" altLang="ko-KR" dirty="0"/>
          </a:p>
          <a:p>
            <a:pPr marL="628650" lvl="1" indent="-171450">
              <a:buFontTx/>
              <a:buChar char="-"/>
            </a:pPr>
            <a:r>
              <a:rPr lang="ko-KR" altLang="en-US" dirty="0"/>
              <a:t>실제로 </a:t>
            </a:r>
            <a:r>
              <a:rPr lang="ko-KR" altLang="en-US" dirty="0" err="1"/>
              <a:t>호출량이</a:t>
            </a:r>
            <a:r>
              <a:rPr lang="ko-KR" altLang="en-US" dirty="0"/>
              <a:t> 늘거나</a:t>
            </a:r>
            <a:endParaRPr lang="en-US" altLang="ko-KR" dirty="0"/>
          </a:p>
          <a:p>
            <a:pPr marL="628650" lvl="1" indent="-171450">
              <a:buFontTx/>
              <a:buChar char="-"/>
            </a:pPr>
            <a:r>
              <a:rPr lang="ko-KR" altLang="en-US" dirty="0"/>
              <a:t>자율성을 가지는 에이전트의 특성 상 루프에 빠져 헛돈을 쓰거나</a:t>
            </a:r>
            <a:endParaRPr lang="en-US" altLang="ko-KR" dirty="0"/>
          </a:p>
          <a:p>
            <a:pPr marL="171450" lvl="0" indent="-171450">
              <a:buFontTx/>
              <a:buChar char="-"/>
            </a:pPr>
            <a:r>
              <a:rPr lang="ko-KR" altLang="en-US" dirty="0"/>
              <a:t>두가지 정도 방법으로 막을 수 있는데</a:t>
            </a:r>
            <a:endParaRPr lang="en-US" altLang="ko-KR" dirty="0"/>
          </a:p>
          <a:p>
            <a:pPr marL="628650" lvl="1" indent="-171450">
              <a:buFontTx/>
              <a:buChar char="-"/>
            </a:pPr>
            <a:r>
              <a:rPr lang="ko-KR" altLang="en-US" dirty="0"/>
              <a:t>일단 기술적인 가드레일</a:t>
            </a:r>
            <a:endParaRPr lang="en-US" altLang="ko-KR" dirty="0"/>
          </a:p>
          <a:p>
            <a:pPr marL="1085850" lvl="2" indent="-171450">
              <a:buFontTx/>
              <a:buChar char="-"/>
            </a:pPr>
            <a:r>
              <a:rPr lang="en-US" altLang="ko-KR" dirty="0"/>
              <a:t>1</a:t>
            </a:r>
            <a:r>
              <a:rPr lang="ko-KR" altLang="en-US" dirty="0"/>
              <a:t>회 에이전트 호출 시 </a:t>
            </a:r>
            <a:r>
              <a:rPr lang="en-US" altLang="ko-KR" dirty="0"/>
              <a:t>invocation </a:t>
            </a:r>
            <a:r>
              <a:rPr lang="ko-KR" altLang="en-US" dirty="0"/>
              <a:t>횟수 제한을 걸거나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en-US" altLang="ko-KR" dirty="0"/>
              <a:t>timeout </a:t>
            </a:r>
            <a:r>
              <a:rPr lang="ko-KR" altLang="en-US" dirty="0"/>
              <a:t>설정하기</a:t>
            </a:r>
            <a:endParaRPr lang="en-US" altLang="ko-KR" dirty="0"/>
          </a:p>
          <a:p>
            <a:pPr marL="628650" lvl="1" indent="-171450">
              <a:buFontTx/>
              <a:buChar char="-"/>
            </a:pPr>
            <a:r>
              <a:rPr lang="ko-KR" altLang="en-US" dirty="0"/>
              <a:t>모니터링</a:t>
            </a:r>
            <a:endParaRPr lang="en-US" altLang="ko-KR" dirty="0"/>
          </a:p>
          <a:p>
            <a:pPr marL="1085850" lvl="2" indent="-171450">
              <a:buFontTx/>
              <a:buChar char="-"/>
            </a:pPr>
            <a:r>
              <a:rPr lang="ko-KR" altLang="en-US" dirty="0"/>
              <a:t>에이전트별로 비용을 얼마나 썼는지 기록해두고</a:t>
            </a:r>
            <a:r>
              <a:rPr lang="en-US" altLang="ko-KR" dirty="0"/>
              <a:t>,</a:t>
            </a:r>
            <a:r>
              <a:rPr lang="ko-KR" altLang="en-US" dirty="0"/>
              <a:t> 이상치가 발생하면 알림 받기</a:t>
            </a:r>
            <a:endParaRPr lang="en-US" altLang="ko-KR" dirty="0"/>
          </a:p>
          <a:p>
            <a:pPr marL="171450" lvl="0" indent="-171450">
              <a:buFontTx/>
              <a:buChar char="-"/>
            </a:pPr>
            <a:r>
              <a:rPr lang="ko-KR" altLang="en-US" dirty="0"/>
              <a:t>근데 모니터링은 일단 돈이 다 털린 다음이라 기술적 가드레일을 처음부터 잘 해두는 것을 추천합니다</a:t>
            </a:r>
            <a:endParaRPr lang="en-US" altLang="ko-KR" dirty="0"/>
          </a:p>
          <a:p>
            <a:pPr marL="171450" lvl="0" indent="-171450">
              <a:buFontTx/>
              <a:buChar char="-"/>
            </a:pPr>
            <a:r>
              <a:rPr lang="ko-KR" altLang="en-US" dirty="0" err="1"/>
              <a:t>알고싶지</a:t>
            </a:r>
            <a:r>
              <a:rPr lang="ko-KR" altLang="en-US" dirty="0"/>
              <a:t> 않았어요</a:t>
            </a:r>
            <a:endParaRPr lang="en-US" altLang="ko-KR" dirty="0"/>
          </a:p>
          <a:p>
            <a:pPr marL="1085850" lvl="2" indent="-171450">
              <a:buFontTx/>
              <a:buChar char="-"/>
            </a:pPr>
            <a:endParaRPr lang="en-US" altLang="ko-KR" dirty="0"/>
          </a:p>
          <a:p>
            <a:pPr marL="171450" lvl="0" indent="-171450">
              <a:buFontTx/>
              <a:buChar char="-"/>
            </a:pPr>
            <a:endParaRPr lang="en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35FF9D-FACD-0642-A32E-4D3EC0848E66}" type="slidenum">
              <a:rPr lang="en-KR" smtClean="0"/>
              <a:t>24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69470897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비용만큼 </a:t>
            </a:r>
            <a:r>
              <a:rPr lang="ko-KR" altLang="en-US" dirty="0" err="1"/>
              <a:t>중요한게</a:t>
            </a:r>
            <a:r>
              <a:rPr lang="ko-KR" altLang="en-US" dirty="0"/>
              <a:t> 에이전트가 얼마나 정확하게 작업을 </a:t>
            </a:r>
            <a:r>
              <a:rPr lang="ko-KR" altLang="en-US" dirty="0" err="1"/>
              <a:t>수행하는가겠죠</a:t>
            </a:r>
            <a:r>
              <a:rPr lang="en-US" altLang="ko-KR" dirty="0"/>
              <a:t>?</a:t>
            </a:r>
            <a:r>
              <a:rPr lang="ko-KR" altLang="en-US" dirty="0"/>
              <a:t> 지금부터는 그 평가에 대한 이야기를 좀 </a:t>
            </a:r>
            <a:r>
              <a:rPr lang="ko-KR" altLang="en-US" dirty="0" err="1"/>
              <a:t>해볼게요</a:t>
            </a:r>
            <a:r>
              <a:rPr lang="en-US" altLang="ko-KR" dirty="0"/>
              <a:t>.</a:t>
            </a:r>
            <a:r>
              <a:rPr lang="ko-KR" altLang="en-US" dirty="0"/>
              <a:t> 평가는 에이전트가 내놓는 응답의 형태에 따라 좀 달라져요</a:t>
            </a:r>
            <a:r>
              <a:rPr lang="en-US" altLang="ko-KR" dirty="0"/>
              <a:t>.</a:t>
            </a:r>
            <a:endParaRPr lang="en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35FF9D-FACD-0642-A32E-4D3EC0848E66}" type="slidenum">
              <a:rPr lang="en-KR" smtClean="0"/>
              <a:t>25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97298683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ko-KR" altLang="en-US" dirty="0"/>
              <a:t>신고처리처럼 에이전트가 정형화된 답을 내놓는 경우는 아주 쉬움</a:t>
            </a:r>
            <a:endParaRPr lang="en-US" altLang="ko-KR" dirty="0"/>
          </a:p>
          <a:p>
            <a:pPr marL="171450" indent="-171450">
              <a:buFontTx/>
              <a:buChar char="-"/>
            </a:pPr>
            <a:r>
              <a:rPr lang="ko-KR" altLang="en-US" dirty="0"/>
              <a:t>그냥 </a:t>
            </a:r>
            <a:r>
              <a:rPr lang="ko-KR" altLang="en-US" dirty="0" err="1"/>
              <a:t>단위테스트하듯</a:t>
            </a:r>
            <a:r>
              <a:rPr lang="ko-KR" altLang="en-US" dirty="0"/>
              <a:t> 정답 맞추기 하면 됨</a:t>
            </a:r>
            <a:endParaRPr lang="en-US" altLang="ko-KR" dirty="0"/>
          </a:p>
          <a:p>
            <a:pPr marL="171450" indent="-171450">
              <a:buFontTx/>
              <a:buChar char="-"/>
            </a:pPr>
            <a:r>
              <a:rPr lang="ko-KR" altLang="en-US" dirty="0"/>
              <a:t>그런데 문제는 평가 데이터셋의 품질</a:t>
            </a:r>
            <a:endParaRPr lang="en-US" altLang="ko-KR" dirty="0"/>
          </a:p>
          <a:p>
            <a:pPr marL="171450" indent="-171450">
              <a:buFontTx/>
              <a:buChar char="-"/>
            </a:pPr>
            <a:r>
              <a:rPr lang="ko-KR" altLang="en-US" dirty="0"/>
              <a:t>평가 데이터셋을 잘 구축하는 것이 중요</a:t>
            </a:r>
            <a:endParaRPr lang="en-US" altLang="ko-KR" dirty="0"/>
          </a:p>
          <a:p>
            <a:endParaRPr lang="en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35FF9D-FACD-0642-A32E-4D3EC0848E66}" type="slidenum">
              <a:rPr lang="en-KR" smtClean="0"/>
              <a:t>26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75833469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ko-KR" altLang="en-US" dirty="0"/>
              <a:t>문의 답변처럼 비정형 응답을 내놓는 경우는 다름</a:t>
            </a:r>
            <a:endParaRPr lang="en-US" altLang="ko-KR" dirty="0"/>
          </a:p>
          <a:p>
            <a:pPr marL="171450" indent="-171450">
              <a:buFontTx/>
              <a:buChar char="-"/>
            </a:pPr>
            <a:r>
              <a:rPr lang="ko-KR" altLang="en-US" dirty="0"/>
              <a:t>에이전트의 장점이자 단점은 비결정적이라는 것</a:t>
            </a:r>
            <a:endParaRPr lang="en-US" altLang="ko-KR" dirty="0"/>
          </a:p>
          <a:p>
            <a:pPr marL="171450" indent="-171450">
              <a:buFontTx/>
              <a:buChar char="-"/>
            </a:pPr>
            <a:r>
              <a:rPr lang="ko-KR" altLang="en-US" dirty="0"/>
              <a:t>전통적인 단위 테스트로는 품질을 보장할 수 없음</a:t>
            </a:r>
            <a:endParaRPr lang="en-US" altLang="ko-KR" dirty="0"/>
          </a:p>
          <a:p>
            <a:pPr marL="171450" indent="-171450">
              <a:buFontTx/>
              <a:buChar char="-"/>
            </a:pPr>
            <a:r>
              <a:rPr lang="ko-KR" altLang="en-US" dirty="0"/>
              <a:t>맞았다</a:t>
            </a:r>
            <a:r>
              <a:rPr lang="en-US" altLang="ko-KR" dirty="0"/>
              <a:t>/</a:t>
            </a:r>
            <a:r>
              <a:rPr lang="ko-KR" altLang="en-US" dirty="0"/>
              <a:t>틀렸다 대신 기준에 맞는가를 가지고 평가해야 함</a:t>
            </a:r>
            <a:endParaRPr lang="en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35FF9D-FACD-0642-A32E-4D3EC0848E66}" type="slidenum">
              <a:rPr lang="en-KR" smtClean="0"/>
              <a:t>27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39369731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altLang="ko-KR" dirty="0"/>
              <a:t>LLM-as-a-judge</a:t>
            </a:r>
            <a:r>
              <a:rPr lang="ko-KR" altLang="en-US" dirty="0"/>
              <a:t>라는 개념이 있음</a:t>
            </a:r>
            <a:endParaRPr lang="en-US" altLang="ko-KR" dirty="0"/>
          </a:p>
          <a:p>
            <a:pPr marL="171450" indent="-171450">
              <a:buFontTx/>
              <a:buChar char="-"/>
            </a:pPr>
            <a:r>
              <a:rPr lang="ko-KR" altLang="en-US" dirty="0"/>
              <a:t>에이전트가 답변이 기준에 맞는지 검토</a:t>
            </a:r>
            <a:endParaRPr lang="en-US" altLang="ko-KR" dirty="0"/>
          </a:p>
          <a:p>
            <a:pPr marL="171450" indent="-171450">
              <a:buFontTx/>
              <a:buChar char="-"/>
            </a:pPr>
            <a:r>
              <a:rPr lang="ko-KR" altLang="en-US" dirty="0"/>
              <a:t>모델은 다른 </a:t>
            </a:r>
            <a:r>
              <a:rPr lang="ko-KR" altLang="en-US" dirty="0" err="1"/>
              <a:t>프로바이더의</a:t>
            </a:r>
            <a:r>
              <a:rPr lang="ko-KR" altLang="en-US" dirty="0"/>
              <a:t> 고성능 모델을 권장</a:t>
            </a:r>
            <a:endParaRPr lang="en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35FF9D-FACD-0642-A32E-4D3EC0848E66}" type="slidenum">
              <a:rPr lang="en-KR" smtClean="0"/>
              <a:t>28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0079271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25DC1C-FA94-F1EF-6B24-C632705B3E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CE9C52-EDB4-BAF0-500F-8334480E0A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52B1FE-3A79-C8DE-0531-9D2EC92C0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34F57-8825-475C-B933-20AE0CC0C2CE}" type="datetimeFigureOut">
              <a:rPr lang="en-US" smtClean="0"/>
              <a:t>2/27/26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D0EFAB-05C8-118D-4024-B28926567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09AC5E-1DCB-EF3F-4D3B-D0556D364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2B679-411C-4F98-A8F6-9FCF48A28C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3189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7CEE1-DFBC-FFD4-A139-697DA414F0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53ECEA-E646-ECEB-15E4-60D1AF33E6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3A66AB-56B9-6401-6B5A-FE795EC1DF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34F57-8825-475C-B933-20AE0CC0C2CE}" type="datetimeFigureOut">
              <a:rPr lang="en-US" smtClean="0"/>
              <a:t>2/27/26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DEF884-916A-C322-C273-787DE6431F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BD6723-BF25-93AB-EFA1-E923DD6BE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2B679-411C-4F98-A8F6-9FCF48A28C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4477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2E353A-9CFF-C9FB-6D49-A4B4A2A783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514940-C4C6-AEBC-09F1-E02835E4EF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429636-9B9F-931C-2765-33789F0CE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34F57-8825-475C-B933-20AE0CC0C2CE}" type="datetimeFigureOut">
              <a:rPr lang="en-US" smtClean="0"/>
              <a:t>2/27/26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37990B-50A7-9613-D2C7-60EE6E1935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E81D33-39A1-065E-4ACF-AE88CE7FD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2B679-411C-4F98-A8F6-9FCF48A28C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1881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B4A5C7-2A85-EB9D-1968-9520D8CB96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D7EE91-B75C-BFB2-CF54-B24380D51F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5DD5C4-6354-0079-9C8F-153F3218B4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1D5D69-D3D4-80D0-E8C0-DBBC66CDAC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34F57-8825-475C-B933-20AE0CC0C2CE}" type="datetimeFigureOut">
              <a:rPr lang="en-US" smtClean="0"/>
              <a:t>2/27/26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85268C-08F8-29A4-21DA-CB7F96743B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9BCAB3-25AC-C7E6-8FC9-A4A93922E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2B679-411C-4F98-A8F6-9FCF48A28C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7340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D16137-731C-1174-DE3C-AB1810B548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677095-19D6-A352-EF74-87ED21DF4F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1B0BB3-DEB9-2826-633E-69081D116B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9F3AE7-65E5-6742-A2C9-8F06C7E8F1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DBC5344-ABF1-F4E5-552C-74E6855730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DFA7FA-CA26-70A7-33C2-FCB89BD705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34F57-8825-475C-B933-20AE0CC0C2CE}" type="datetimeFigureOut">
              <a:rPr lang="en-US" smtClean="0"/>
              <a:t>2/27/26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5BBCA0E-414D-C68A-2505-67B23A9BE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866321-ADAB-21F7-C687-0CD6A6735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2B679-411C-4F98-A8F6-9FCF48A28C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4574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078237-7203-F313-B59A-FB2475B6F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B9647C5-4582-FD39-0D3B-4B73FB943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34F57-8825-475C-B933-20AE0CC0C2CE}" type="datetimeFigureOut">
              <a:rPr lang="en-US" smtClean="0"/>
              <a:t>2/27/26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48C81E-D477-A493-7C97-B7D6EA5D17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333C5F-EBA8-FB87-B0D1-B1D8C021B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2B679-411C-4F98-A8F6-9FCF48A28C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0248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4FB7E1-C65A-FC39-B06F-F7D78EF024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34F57-8825-475C-B933-20AE0CC0C2CE}" type="datetimeFigureOut">
              <a:rPr lang="en-US" smtClean="0"/>
              <a:t>2/27/26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C37A75-AD34-1F8E-0267-2594AA008D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097F76-A3F2-E412-4AB7-44219D78A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2B679-411C-4F98-A8F6-9FCF48A28C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5113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901189-243A-B92D-59E2-E67C7584C0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666F68-7D59-F4FC-01B6-24C7DA01AB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D6F0E1-33C0-CF34-2DE5-3E2DD3A319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54D4FA-1228-35EB-C316-4ADBBEAC4E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34F57-8825-475C-B933-20AE0CC0C2CE}" type="datetimeFigureOut">
              <a:rPr lang="en-US" smtClean="0"/>
              <a:t>2/27/26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39526A-AF41-82C9-F698-89AD655F61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B6CB31-353F-BE33-0E0A-464542B12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2B679-411C-4F98-A8F6-9FCF48A28C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03670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8F7CC-AE8D-2C20-554D-11DBD38A5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0BC7019-136A-F206-4C3C-5E6C319CDC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5CACB7-BCA8-D281-FE6B-6250321049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D69A7A-5C8B-BD1A-768C-05C809350D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34F57-8825-475C-B933-20AE0CC0C2CE}" type="datetimeFigureOut">
              <a:rPr lang="en-US" smtClean="0"/>
              <a:t>2/27/26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33B5A6-C79B-730E-A552-9E727C4F8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313D84-BFF5-6B1A-CFBF-108DFD37E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2B679-411C-4F98-A8F6-9FCF48A28C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5660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531AA-0F04-D855-638D-CF3EB1BDA5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738BE1-0748-188E-F2C2-C3960F3BC8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9AA37E-248C-CF05-2F47-00F1A30E68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34F57-8825-475C-B933-20AE0CC0C2CE}" type="datetimeFigureOut">
              <a:rPr lang="en-US" smtClean="0"/>
              <a:t>2/27/26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416BDB-4CA6-92EE-8574-AD33A3055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F706A1-54C3-FACC-7C59-E47C9DA01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2B679-411C-4F98-A8F6-9FCF48A28C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26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B438DB4-C07C-D1F5-89B2-406F9FE887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5827D2-7F62-CC87-3617-BE0DEB95E2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2E78AC-0BFE-DB79-C86D-A75A567211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34F57-8825-475C-B933-20AE0CC0C2CE}" type="datetimeFigureOut">
              <a:rPr lang="en-US" smtClean="0"/>
              <a:t>2/27/26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5F8B7A-8C66-511A-EAA1-D9736F926C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05201A-9D59-5028-0E4F-DF9585CE7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2B679-411C-4F98-A8F6-9FCF48A28C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44651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25CA17D-DA0F-3B67-CBA5-C8F978602B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0036CA-4CF9-F245-336F-EBB12CD1C5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267BE4-A29A-7F4B-79F3-17755D37AF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B34F57-8825-475C-B933-20AE0CC0C2CE}" type="datetimeFigureOut">
              <a:rPr lang="en-US" smtClean="0"/>
              <a:t>2/27/26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F963ED-2866-EDD3-BC8A-00E3B30B16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F88DBE-6E27-1FF3-8B62-4582EB75AA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92B679-411C-4F98-A8F6-9FCF48A28CEF}" type="slidenum">
              <a:rPr lang="en-US" smtClean="0"/>
              <a:t>‹#›</a:t>
            </a:fld>
            <a:endParaRPr lang="en-US"/>
          </a:p>
        </p:txBody>
      </p:sp>
      <p:sp>
        <p:nvSpPr>
          <p:cNvPr id="900" name="AccentBar"/>
          <p:cNvSpPr/>
          <p:nvPr userDrawn="1"/>
        </p:nvSpPr>
        <p:spPr>
          <a:xfrm>
            <a:off x="0" y="6705600"/>
            <a:ext cx="12192000" cy="152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1" name="TopAccent"/>
          <p:cNvSpPr/>
          <p:nvPr userDrawn="1"/>
        </p:nvSpPr>
        <p:spPr>
          <a:xfrm>
            <a:off x="0" y="0"/>
            <a:ext cx="12192000" cy="457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0912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1A1A2E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2D2D44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rgbClr val="2D2D44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hyperlink" Target="mailto:Junhyeok.dev@gmail.com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 txBox="1"/>
          <p:nvPr/>
        </p:nvSpPr>
        <p:spPr>
          <a:xfrm>
            <a:off x="731520" y="1371600"/>
            <a:ext cx="10728960" cy="1600200"/>
          </a:xfrm>
          <a:prstGeom prst="rect">
            <a:avLst/>
          </a:prstGeom>
          <a:noFill/>
          <a:ln>
            <a:noFill/>
          </a:ln>
        </p:spPr>
        <p:txBody>
          <a:bodyPr wrap="square" anchor="b"/>
          <a:lstStyle/>
          <a:p>
            <a:pPr algn="l">
              <a:buNone/>
            </a:pPr>
            <a:r>
              <a:rPr lang="ko-KR" sz="3200" b="1" dirty="0">
                <a:solidFill>
                  <a:srgbClr val="1A1A2E"/>
                </a:solidFill>
                <a:latin typeface="Pretendard"/>
                <a:ea typeface="Pretendard"/>
              </a:rPr>
              <a:t>일은 AI가 하고</a:t>
            </a:r>
          </a:p>
          <a:p>
            <a:pPr algn="l">
              <a:buNone/>
            </a:pPr>
            <a:r>
              <a:rPr lang="ko-KR" sz="3200" b="1" dirty="0">
                <a:solidFill>
                  <a:srgbClr val="1A1A2E"/>
                </a:solidFill>
                <a:latin typeface="Pretendard"/>
                <a:ea typeface="Pretendard"/>
              </a:rPr>
              <a:t>돈은 제가 받습니다</a:t>
            </a:r>
          </a:p>
        </p:txBody>
      </p:sp>
      <p:sp>
        <p:nvSpPr>
          <p:cNvPr id="11" name="AccentLine"/>
          <p:cNvSpPr/>
          <p:nvPr/>
        </p:nvSpPr>
        <p:spPr>
          <a:xfrm>
            <a:off x="731520" y="3094236"/>
            <a:ext cx="1828800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Subtitle"/>
          <p:cNvSpPr txBox="1"/>
          <p:nvPr/>
        </p:nvSpPr>
        <p:spPr>
          <a:xfrm>
            <a:off x="731520" y="3291840"/>
            <a:ext cx="10728960" cy="1143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ko-KR" altLang="en-US" sz="2000" dirty="0">
                <a:solidFill>
                  <a:srgbClr val="2D2D44"/>
                </a:solidFill>
                <a:latin typeface="Pretendard"/>
                <a:ea typeface="Pretendard"/>
              </a:rPr>
              <a:t>윤준혁</a:t>
            </a:r>
            <a:endParaRPr lang="ko-KR" sz="2000" dirty="0">
              <a:solidFill>
                <a:srgbClr val="2D2D44"/>
              </a:solidFill>
              <a:latin typeface="Pretendard"/>
              <a:ea typeface="Pretendard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9B60B0-EDCF-8FD5-B2C4-04CA9528940A}"/>
              </a:ext>
            </a:extLst>
          </p:cNvPr>
          <p:cNvSpPr txBox="1"/>
          <p:nvPr/>
        </p:nvSpPr>
        <p:spPr>
          <a:xfrm>
            <a:off x="5705961" y="5929414"/>
            <a:ext cx="60985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</a:pPr>
            <a:r>
              <a:rPr lang="en-US" sz="1800" dirty="0">
                <a:solidFill>
                  <a:srgbClr val="FF6B35"/>
                </a:solidFill>
                <a:latin typeface="Pretendard"/>
                <a:ea typeface="Pretendard"/>
              </a:rPr>
              <a:t>TSBM</a:t>
            </a:r>
          </a:p>
        </p:txBody>
      </p:sp>
    </p:spTree>
    <p:extLst>
      <p:ext uri="{BB962C8B-B14F-4D97-AF65-F5344CB8AC3E}">
        <p14:creationId xmlns:p14="http://schemas.microsoft.com/office/powerpoint/2010/main" val="8406351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DD37A-FDB3-D4C1-C428-B43BE86454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>
              <a:buNone/>
            </a:pPr>
            <a:r>
              <a:rPr lang="ko-KR" sz="3200" b="1" dirty="0">
                <a:solidFill>
                  <a:srgbClr val="1A1A2E"/>
                </a:solidFill>
                <a:latin typeface="Pretendard"/>
                <a:ea typeface="Pretendard"/>
              </a:rPr>
              <a:t>저는 이런 사람입니다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73323A-CB76-6BB2-229C-822663E5D7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ko-KR" altLang="en-US" dirty="0"/>
              <a:t>당근 운영개발팀에서 </a:t>
            </a:r>
            <a:r>
              <a:rPr lang="en-US" altLang="ko-KR" b="1" dirty="0">
                <a:solidFill>
                  <a:srgbClr val="FF6B35"/>
                </a:solidFill>
              </a:rPr>
              <a:t>KAMP</a:t>
            </a:r>
            <a:r>
              <a:rPr lang="ko-KR" altLang="en-US" dirty="0"/>
              <a:t>라는 제품을 개발하고 있어요</a:t>
            </a:r>
            <a:endParaRPr lang="en-US" altLang="ko-KR" dirty="0"/>
          </a:p>
          <a:p>
            <a:pPr>
              <a:lnSpc>
                <a:spcPct val="100000"/>
              </a:lnSpc>
            </a:pPr>
            <a:r>
              <a:rPr lang="en-US" dirty="0"/>
              <a:t>KAMP</a:t>
            </a:r>
            <a:r>
              <a:rPr lang="ko-KR" altLang="en-US" dirty="0"/>
              <a:t>는 </a:t>
            </a:r>
            <a:r>
              <a:rPr lang="en-US" altLang="ko-KR" b="1" dirty="0" err="1">
                <a:solidFill>
                  <a:srgbClr val="FF6B35"/>
                </a:solidFill>
              </a:rPr>
              <a:t>Karrot</a:t>
            </a:r>
            <a:r>
              <a:rPr lang="en-US" altLang="ko-KR" b="1" dirty="0">
                <a:solidFill>
                  <a:srgbClr val="FF6B35"/>
                </a:solidFill>
              </a:rPr>
              <a:t> Agent Management Platform</a:t>
            </a:r>
            <a:r>
              <a:rPr lang="ko-KR" altLang="en-US" dirty="0"/>
              <a:t>의 약자로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br>
              <a:rPr lang="en-US" altLang="ko-KR" dirty="0"/>
            </a:br>
            <a:r>
              <a:rPr lang="en-US" altLang="ko-KR" dirty="0"/>
              <a:t>No-code/low-code</a:t>
            </a:r>
            <a:r>
              <a:rPr lang="ko-KR" altLang="en-US" dirty="0"/>
              <a:t>로 </a:t>
            </a:r>
            <a:r>
              <a:rPr lang="en-US" altLang="ko-KR" dirty="0"/>
              <a:t>AI </a:t>
            </a:r>
            <a:r>
              <a:rPr lang="ko-KR" altLang="en-US" dirty="0"/>
              <a:t>에이전트를 구성할 수 있는 플랫폼 제품이에요</a:t>
            </a:r>
            <a:endParaRPr lang="en-KR" dirty="0"/>
          </a:p>
        </p:txBody>
      </p:sp>
    </p:spTree>
    <p:extLst>
      <p:ext uri="{BB962C8B-B14F-4D97-AF65-F5344CB8AC3E}">
        <p14:creationId xmlns:p14="http://schemas.microsoft.com/office/powerpoint/2010/main" val="4377096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ard0"/>
          <p:cNvSpPr/>
          <p:nvPr/>
        </p:nvSpPr>
        <p:spPr>
          <a:xfrm>
            <a:off x="883920" y="2397375"/>
            <a:ext cx="2468880" cy="2909455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E8EE"/>
            </a:solidFill>
          </a:ln>
        </p:spPr>
        <p:txBody>
          <a:bodyPr wrap="square" lIns="182880" tIns="274320" rIns="182880" bIns="91440" anchor="t"/>
          <a:lstStyle/>
          <a:p>
            <a:pPr algn="l">
              <a:buNone/>
            </a:pPr>
            <a:r>
              <a:rPr lang="en-US" sz="3600" b="1" dirty="0">
                <a:solidFill>
                  <a:srgbClr val="FF6B35"/>
                </a:solidFill>
                <a:latin typeface="Pretendard"/>
                <a:ea typeface="Pretendard"/>
              </a:rPr>
              <a:t>01</a:t>
            </a:r>
          </a:p>
          <a:p>
            <a:pPr algn="l">
              <a:buNone/>
            </a:pPr>
            <a:r>
              <a:rPr lang="ko-KR" sz="1800" b="1" dirty="0">
                <a:solidFill>
                  <a:srgbClr val="1A1A2E"/>
                </a:solidFill>
                <a:latin typeface="Pretendard"/>
                <a:ea typeface="Pretendard"/>
              </a:rPr>
              <a:t>에이전트</a:t>
            </a:r>
          </a:p>
        </p:txBody>
      </p:sp>
      <p:sp>
        <p:nvSpPr>
          <p:cNvPr id="21" name="Card1"/>
          <p:cNvSpPr/>
          <p:nvPr/>
        </p:nvSpPr>
        <p:spPr>
          <a:xfrm>
            <a:off x="3535680" y="2397375"/>
            <a:ext cx="2468880" cy="2909455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E8EE"/>
            </a:solidFill>
          </a:ln>
        </p:spPr>
        <p:txBody>
          <a:bodyPr wrap="square" lIns="182880" tIns="274320" rIns="182880" bIns="91440" anchor="t"/>
          <a:lstStyle/>
          <a:p>
            <a:pPr algn="l">
              <a:buNone/>
            </a:pPr>
            <a:r>
              <a:rPr lang="en-US" sz="3600" b="1" dirty="0">
                <a:solidFill>
                  <a:srgbClr val="4361EE"/>
                </a:solidFill>
                <a:latin typeface="Pretendard"/>
                <a:ea typeface="Pretendard"/>
              </a:rPr>
              <a:t>02</a:t>
            </a:r>
          </a:p>
          <a:p>
            <a:pPr algn="l">
              <a:buNone/>
            </a:pPr>
            <a:r>
              <a:rPr lang="ko-KR" altLang="en-US" sz="1800" b="1" dirty="0">
                <a:solidFill>
                  <a:srgbClr val="1A1A2E"/>
                </a:solidFill>
                <a:latin typeface="Pretendard"/>
                <a:ea typeface="Pretendard"/>
              </a:rPr>
              <a:t>도구 </a:t>
            </a:r>
            <a:r>
              <a:rPr lang="en-US" altLang="ko-KR" sz="1800" b="1" dirty="0">
                <a:solidFill>
                  <a:srgbClr val="1A1A2E"/>
                </a:solidFill>
                <a:latin typeface="Pretendard"/>
                <a:ea typeface="Pretendard"/>
              </a:rPr>
              <a:t>&amp;</a:t>
            </a:r>
          </a:p>
          <a:p>
            <a:pPr algn="l">
              <a:buNone/>
            </a:pPr>
            <a:r>
              <a:rPr lang="ko-KR" altLang="en-US" b="1" dirty="0">
                <a:solidFill>
                  <a:srgbClr val="1A1A2E"/>
                </a:solidFill>
                <a:latin typeface="Pretendard"/>
                <a:ea typeface="Pretendard"/>
              </a:rPr>
              <a:t>멀티 에이전트</a:t>
            </a:r>
            <a:endParaRPr lang="ko-KR" sz="1800" b="1" dirty="0">
              <a:solidFill>
                <a:srgbClr val="1A1A2E"/>
              </a:solidFill>
              <a:latin typeface="Pretendard"/>
              <a:ea typeface="Pretendard"/>
            </a:endParaRPr>
          </a:p>
        </p:txBody>
      </p:sp>
      <p:sp>
        <p:nvSpPr>
          <p:cNvPr id="22" name="Card2"/>
          <p:cNvSpPr/>
          <p:nvPr/>
        </p:nvSpPr>
        <p:spPr>
          <a:xfrm>
            <a:off x="6187440" y="2397375"/>
            <a:ext cx="2468880" cy="2909455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E8EE"/>
            </a:solidFill>
          </a:ln>
        </p:spPr>
        <p:txBody>
          <a:bodyPr wrap="square" lIns="182880" tIns="274320" rIns="182880" bIns="91440" anchor="t"/>
          <a:lstStyle/>
          <a:p>
            <a:pPr algn="l">
              <a:buNone/>
            </a:pPr>
            <a:r>
              <a:rPr lang="en-US" sz="3600" b="1" dirty="0">
                <a:solidFill>
                  <a:srgbClr val="2EC4B6"/>
                </a:solidFill>
                <a:latin typeface="Pretendard"/>
                <a:ea typeface="Pretendard"/>
              </a:rPr>
              <a:t>03</a:t>
            </a:r>
          </a:p>
          <a:p>
            <a:pPr algn="l">
              <a:buNone/>
            </a:pPr>
            <a:r>
              <a:rPr lang="ko-KR" altLang="en-US" b="1" dirty="0">
                <a:solidFill>
                  <a:srgbClr val="1A1A2E"/>
                </a:solidFill>
                <a:latin typeface="Pretendard"/>
                <a:ea typeface="Pretendard"/>
              </a:rPr>
              <a:t>지식 관리</a:t>
            </a:r>
            <a:r>
              <a:rPr lang="ko-KR" altLang="en-US" sz="1800" b="1" dirty="0">
                <a:solidFill>
                  <a:srgbClr val="1A1A2E"/>
                </a:solidFill>
                <a:latin typeface="Pretendard"/>
                <a:ea typeface="Pretendard"/>
              </a:rPr>
              <a:t> </a:t>
            </a:r>
            <a:r>
              <a:rPr lang="en-US" altLang="ko-KR" sz="1800" b="1" dirty="0">
                <a:solidFill>
                  <a:srgbClr val="1A1A2E"/>
                </a:solidFill>
                <a:latin typeface="Pretendard"/>
                <a:ea typeface="Pretendard"/>
              </a:rPr>
              <a:t>&amp;</a:t>
            </a:r>
          </a:p>
          <a:p>
            <a:pPr algn="l">
              <a:buNone/>
            </a:pPr>
            <a:r>
              <a:rPr lang="ko-KR" altLang="en-US" b="1" dirty="0">
                <a:solidFill>
                  <a:srgbClr val="1A1A2E"/>
                </a:solidFill>
                <a:latin typeface="Pretendard"/>
                <a:ea typeface="Pretendard"/>
              </a:rPr>
              <a:t>최적화</a:t>
            </a:r>
            <a:endParaRPr lang="ko-KR" sz="1800" b="1" dirty="0">
              <a:solidFill>
                <a:srgbClr val="1A1A2E"/>
              </a:solidFill>
              <a:latin typeface="Pretendard"/>
              <a:ea typeface="Pretendard"/>
            </a:endParaRPr>
          </a:p>
        </p:txBody>
      </p:sp>
      <p:sp>
        <p:nvSpPr>
          <p:cNvPr id="23" name="Card3"/>
          <p:cNvSpPr/>
          <p:nvPr/>
        </p:nvSpPr>
        <p:spPr>
          <a:xfrm>
            <a:off x="8839200" y="2397375"/>
            <a:ext cx="2468880" cy="2909455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E8EE"/>
            </a:solidFill>
          </a:ln>
        </p:spPr>
        <p:txBody>
          <a:bodyPr wrap="square" lIns="182880" tIns="274320" rIns="182880" bIns="91440" anchor="t"/>
          <a:lstStyle/>
          <a:p>
            <a:pPr algn="l">
              <a:buNone/>
            </a:pPr>
            <a:r>
              <a:rPr lang="en-US" sz="3600" b="1" dirty="0">
                <a:solidFill>
                  <a:srgbClr val="7209B7"/>
                </a:solidFill>
                <a:latin typeface="Pretendard"/>
                <a:ea typeface="Pretendard"/>
              </a:rPr>
              <a:t>04</a:t>
            </a:r>
          </a:p>
          <a:p>
            <a:pPr algn="l">
              <a:buNone/>
            </a:pPr>
            <a:r>
              <a:rPr lang="ko-KR" altLang="en-US" b="1" dirty="0">
                <a:solidFill>
                  <a:srgbClr val="1A1A2E"/>
                </a:solidFill>
                <a:latin typeface="Pretendard"/>
                <a:ea typeface="Pretendard"/>
              </a:rPr>
              <a:t>모니터링 </a:t>
            </a:r>
            <a:r>
              <a:rPr lang="en-US" altLang="ko-KR" b="1" dirty="0">
                <a:solidFill>
                  <a:srgbClr val="1A1A2E"/>
                </a:solidFill>
                <a:latin typeface="Pretendard"/>
                <a:ea typeface="Pretendard"/>
              </a:rPr>
              <a:t>&amp;</a:t>
            </a:r>
            <a:r>
              <a:rPr lang="ko-KR" altLang="en-US" b="1" dirty="0">
                <a:solidFill>
                  <a:srgbClr val="1A1A2E"/>
                </a:solidFill>
                <a:latin typeface="Pretendard"/>
                <a:ea typeface="Pretendard"/>
              </a:rPr>
              <a:t> 평가</a:t>
            </a:r>
            <a:endParaRPr lang="ko-KR" sz="1800" b="1" dirty="0">
              <a:solidFill>
                <a:srgbClr val="1A1A2E"/>
              </a:solidFill>
              <a:latin typeface="Pretendard"/>
              <a:ea typeface="Pretendard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A738609-8B2A-D099-CBB0-F489F30E45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b="1" dirty="0"/>
              <a:t>오늘 할 이야기</a:t>
            </a:r>
            <a:endParaRPr lang="en-KR" sz="3200" b="1" dirty="0"/>
          </a:p>
        </p:txBody>
      </p:sp>
    </p:spTree>
    <p:extLst>
      <p:ext uri="{BB962C8B-B14F-4D97-AF65-F5344CB8AC3E}">
        <p14:creationId xmlns:p14="http://schemas.microsoft.com/office/powerpoint/2010/main" val="18406000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Num"/>
          <p:cNvSpPr txBox="1"/>
          <p:nvPr/>
        </p:nvSpPr>
        <p:spPr>
          <a:xfrm>
            <a:off x="731520" y="1371600"/>
            <a:ext cx="10728960" cy="914400"/>
          </a:xfrm>
          <a:prstGeom prst="rect">
            <a:avLst/>
          </a:prstGeom>
          <a:noFill/>
          <a:ln>
            <a:noFill/>
          </a:ln>
        </p:spPr>
        <p:txBody>
          <a:bodyPr wrap="square" anchor="b"/>
          <a:lstStyle/>
          <a:p>
            <a:pPr algn="l">
              <a:buNone/>
            </a:pPr>
            <a:r>
              <a:rPr lang="en-US" sz="6000" b="1" dirty="0">
                <a:solidFill>
                  <a:srgbClr val="FF6B35"/>
                </a:solidFill>
                <a:latin typeface="Pretendard"/>
                <a:ea typeface="Pretendard"/>
              </a:rPr>
              <a:t>01</a:t>
            </a:r>
          </a:p>
        </p:txBody>
      </p:sp>
      <p:sp>
        <p:nvSpPr>
          <p:cNvPr id="11" name="SectionTitle"/>
          <p:cNvSpPr txBox="1"/>
          <p:nvPr/>
        </p:nvSpPr>
        <p:spPr>
          <a:xfrm>
            <a:off x="731520" y="2440919"/>
            <a:ext cx="10728960" cy="60456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ko-KR" sz="3200" b="1" dirty="0">
                <a:solidFill>
                  <a:srgbClr val="1A1A2E"/>
                </a:solidFill>
                <a:latin typeface="Pretendard"/>
                <a:ea typeface="Pretendard"/>
              </a:rPr>
              <a:t>에이전</a:t>
            </a:r>
            <a:r>
              <a:rPr lang="ko-KR" altLang="en-US" sz="3200" b="1" dirty="0">
                <a:solidFill>
                  <a:srgbClr val="1A1A2E"/>
                </a:solidFill>
                <a:latin typeface="Pretendard"/>
                <a:ea typeface="Pretendard"/>
              </a:rPr>
              <a:t>트</a:t>
            </a:r>
            <a:endParaRPr lang="ko-KR" sz="3200" b="1" dirty="0">
              <a:solidFill>
                <a:srgbClr val="1A1A2E"/>
              </a:solidFill>
              <a:latin typeface="Pretendard"/>
              <a:ea typeface="Pretendard"/>
            </a:endParaRPr>
          </a:p>
        </p:txBody>
      </p:sp>
      <p:sp>
        <p:nvSpPr>
          <p:cNvPr id="12" name="Line"/>
          <p:cNvSpPr/>
          <p:nvPr/>
        </p:nvSpPr>
        <p:spPr>
          <a:xfrm>
            <a:off x="731520" y="2286000"/>
            <a:ext cx="1371600" cy="457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6769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016BCA-326A-3B4E-B90E-DCB9B1E46E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3CD4D-0F6B-DB2D-AEE3-AD701D9D6C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>
              <a:buNone/>
            </a:pPr>
            <a:r>
              <a:rPr lang="ko-KR" sz="3200" b="1" dirty="0">
                <a:solidFill>
                  <a:srgbClr val="1A1A2E"/>
                </a:solidFill>
                <a:latin typeface="Pretendard"/>
                <a:ea typeface="Pretendard"/>
              </a:rPr>
              <a:t>사람이 처리하기엔 너무 많</a:t>
            </a:r>
            <a:r>
              <a:rPr lang="ko-KR" altLang="en-US" sz="3200" b="1" dirty="0">
                <a:solidFill>
                  <a:srgbClr val="1A1A2E"/>
                </a:solidFill>
                <a:latin typeface="Pretendard"/>
                <a:ea typeface="Pretendard"/>
              </a:rPr>
              <a:t>은 일</a:t>
            </a:r>
            <a:endParaRPr lang="ko-KR" sz="3200" b="1" dirty="0">
              <a:solidFill>
                <a:srgbClr val="1A1A2E"/>
              </a:solidFill>
              <a:latin typeface="Pretendard"/>
              <a:ea typeface="Pretendard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401C854-1EA3-B659-2170-7D4A8B45BEC7}"/>
              </a:ext>
            </a:extLst>
          </p:cNvPr>
          <p:cNvSpPr/>
          <p:nvPr/>
        </p:nvSpPr>
        <p:spPr>
          <a:xfrm>
            <a:off x="6325897" y="2655769"/>
            <a:ext cx="2665708" cy="2665708"/>
          </a:xfrm>
          <a:prstGeom prst="ellipse">
            <a:avLst/>
          </a:prstGeom>
          <a:solidFill>
            <a:srgbClr val="FFFFFF"/>
          </a:solidFill>
          <a:ln>
            <a:solidFill>
              <a:srgbClr val="E8E8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2400" b="1" dirty="0">
                <a:solidFill>
                  <a:srgbClr val="4361EE"/>
                </a:solidFill>
              </a:rPr>
              <a:t>신고</a:t>
            </a:r>
            <a:endParaRPr lang="en-US" altLang="ko-KR" sz="2400" b="1" dirty="0">
              <a:solidFill>
                <a:srgbClr val="4361EE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en-US" altLang="ko-KR" sz="2800" b="1" dirty="0">
                <a:solidFill>
                  <a:srgbClr val="4361EE"/>
                </a:solidFill>
              </a:rPr>
              <a:t>100,000</a:t>
            </a:r>
            <a:r>
              <a:rPr lang="ko-KR" altLang="en-US" sz="2800" b="1" dirty="0">
                <a:solidFill>
                  <a:srgbClr val="4361EE"/>
                </a:solidFill>
              </a:rPr>
              <a:t>건</a:t>
            </a:r>
            <a:endParaRPr lang="en-US" altLang="ko-KR" sz="2800" b="1" dirty="0">
              <a:solidFill>
                <a:srgbClr val="4361EE"/>
              </a:solidFill>
            </a:endParaRPr>
          </a:p>
          <a:p>
            <a:pPr algn="ctr">
              <a:lnSpc>
                <a:spcPct val="150000"/>
              </a:lnSpc>
            </a:pPr>
            <a:endParaRPr lang="en-KR" sz="1000" b="1" dirty="0">
              <a:solidFill>
                <a:srgbClr val="4361EE"/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2767E06-2C8E-88EB-5363-4C2A65E1B34E}"/>
              </a:ext>
            </a:extLst>
          </p:cNvPr>
          <p:cNvSpPr/>
          <p:nvPr/>
        </p:nvSpPr>
        <p:spPr>
          <a:xfrm>
            <a:off x="3200395" y="2655769"/>
            <a:ext cx="2665708" cy="26657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8E8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2400" b="1" dirty="0">
                <a:solidFill>
                  <a:srgbClr val="FF6B35"/>
                </a:solidFill>
              </a:rPr>
              <a:t>문의</a:t>
            </a:r>
            <a:endParaRPr lang="en-US" altLang="ko-KR" sz="2400" b="1" dirty="0">
              <a:solidFill>
                <a:srgbClr val="FF6B35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en-US" altLang="ko-KR" sz="2800" b="1" dirty="0">
                <a:solidFill>
                  <a:srgbClr val="FF6B35"/>
                </a:solidFill>
              </a:rPr>
              <a:t>3,000</a:t>
            </a:r>
            <a:r>
              <a:rPr lang="ko-KR" altLang="en-US" sz="2800" b="1" dirty="0">
                <a:solidFill>
                  <a:srgbClr val="FF6B35"/>
                </a:solidFill>
              </a:rPr>
              <a:t>건</a:t>
            </a:r>
            <a:endParaRPr lang="en-US" altLang="ko-KR" sz="2800" b="1" dirty="0">
              <a:solidFill>
                <a:srgbClr val="FF6B35"/>
              </a:solidFill>
            </a:endParaRPr>
          </a:p>
          <a:p>
            <a:pPr algn="ctr">
              <a:lnSpc>
                <a:spcPct val="150000"/>
              </a:lnSpc>
            </a:pPr>
            <a:endParaRPr lang="en-US" sz="1000" b="1" dirty="0">
              <a:solidFill>
                <a:srgbClr val="FF6B35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37171D1-AE1C-9B68-6EEE-F2128658F113}"/>
              </a:ext>
            </a:extLst>
          </p:cNvPr>
          <p:cNvSpPr txBox="1"/>
          <p:nvPr/>
        </p:nvSpPr>
        <p:spPr>
          <a:xfrm>
            <a:off x="5695889" y="2051726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/>
              <a:t>일간</a:t>
            </a:r>
            <a:endParaRPr lang="en-KR" sz="2400" dirty="0"/>
          </a:p>
        </p:txBody>
      </p:sp>
    </p:spTree>
    <p:extLst>
      <p:ext uri="{BB962C8B-B14F-4D97-AF65-F5344CB8AC3E}">
        <p14:creationId xmlns:p14="http://schemas.microsoft.com/office/powerpoint/2010/main" val="32193781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1676F-0FB3-1A8C-7A04-A48538D06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>
              <a:buNone/>
            </a:pPr>
            <a:r>
              <a:rPr lang="ko-KR" sz="3200" b="1" dirty="0" err="1">
                <a:solidFill>
                  <a:srgbClr val="1A1A2E"/>
                </a:solidFill>
                <a:latin typeface="Pretendard"/>
                <a:ea typeface="Pretendard"/>
              </a:rPr>
              <a:t>챗봇</a:t>
            </a:r>
            <a:endParaRPr lang="ko-KR" sz="3200" b="1" dirty="0">
              <a:solidFill>
                <a:srgbClr val="1A1A2E"/>
              </a:solidFill>
              <a:latin typeface="Pretendard"/>
              <a:ea typeface="Pretendard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7F3D536-E468-0047-B720-E6FBE0EFB59A}"/>
              </a:ext>
            </a:extLst>
          </p:cNvPr>
          <p:cNvSpPr/>
          <p:nvPr/>
        </p:nvSpPr>
        <p:spPr>
          <a:xfrm>
            <a:off x="838200" y="1841500"/>
            <a:ext cx="3200400" cy="2667000"/>
          </a:xfrm>
          <a:prstGeom prst="roundRect">
            <a:avLst/>
          </a:prstGeom>
          <a:solidFill>
            <a:srgbClr val="FFF3E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KR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C89E7E32-F22E-B646-8DE2-B08FE011083D}"/>
              </a:ext>
            </a:extLst>
          </p:cNvPr>
          <p:cNvSpPr/>
          <p:nvPr/>
        </p:nvSpPr>
        <p:spPr>
          <a:xfrm>
            <a:off x="4292600" y="1841500"/>
            <a:ext cx="3200400" cy="2667000"/>
          </a:xfrm>
          <a:prstGeom prst="roundRect">
            <a:avLst/>
          </a:prstGeom>
          <a:solidFill>
            <a:srgbClr val="FFF3E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KR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8433C2F4-14B9-974E-8027-375D85282659}"/>
              </a:ext>
            </a:extLst>
          </p:cNvPr>
          <p:cNvSpPr/>
          <p:nvPr/>
        </p:nvSpPr>
        <p:spPr>
          <a:xfrm>
            <a:off x="7747000" y="1841500"/>
            <a:ext cx="3200400" cy="2667000"/>
          </a:xfrm>
          <a:prstGeom prst="roundRect">
            <a:avLst/>
          </a:prstGeom>
          <a:solidFill>
            <a:srgbClr val="FFF3E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KR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FCD01C8-7E86-AB4C-9F6C-98E6E4077BD0}"/>
              </a:ext>
            </a:extLst>
          </p:cNvPr>
          <p:cNvSpPr/>
          <p:nvPr/>
        </p:nvSpPr>
        <p:spPr>
          <a:xfrm>
            <a:off x="838200" y="4826000"/>
            <a:ext cx="10515600" cy="711200"/>
          </a:xfrm>
          <a:prstGeom prst="roundRect">
            <a:avLst/>
          </a:prstGeom>
          <a:solidFill>
            <a:srgbClr val="E71D3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ko-KR" altLang="en-US" sz="2400" b="1">
                <a:solidFill>
                  <a:srgbClr val="FFFFFF"/>
                </a:solidFill>
                <a:latin typeface="Pretendard"/>
              </a:rPr>
              <a:t>→ 효과는 미미했다</a:t>
            </a:r>
            <a:r>
              <a:rPr lang="en-US" altLang="ko-KR" sz="2400" b="1">
                <a:solidFill>
                  <a:srgbClr val="FFFFFF"/>
                </a:solidFill>
                <a:latin typeface="Pretendard"/>
              </a:rPr>
              <a:t>!</a:t>
            </a:r>
            <a:endParaRPr lang="en-KR" sz="2400" b="1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56F242D-CE59-254F-9FA7-38D900612F54}"/>
              </a:ext>
            </a:extLst>
          </p:cNvPr>
          <p:cNvSpPr/>
          <p:nvPr/>
        </p:nvSpPr>
        <p:spPr>
          <a:xfrm>
            <a:off x="1016000" y="1968500"/>
            <a:ext cx="406400" cy="406400"/>
          </a:xfrm>
          <a:prstGeom prst="ellipse">
            <a:avLst/>
          </a:prstGeom>
          <a:solidFill>
            <a:srgbClr val="FF6B3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KR"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EF61348-AA46-444D-AA54-05F98DAF7CE1}"/>
              </a:ext>
            </a:extLst>
          </p:cNvPr>
          <p:cNvSpPr txBox="1"/>
          <p:nvPr/>
        </p:nvSpPr>
        <p:spPr>
          <a:xfrm>
            <a:off x="1016000" y="2540000"/>
            <a:ext cx="2844800" cy="1200329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2400" dirty="0" err="1">
                <a:solidFill>
                  <a:srgbClr val="2D2D44"/>
                </a:solidFill>
                <a:latin typeface="Pretendard"/>
              </a:rPr>
              <a:t>어드민에서</a:t>
            </a:r>
            <a:r>
              <a:rPr lang="ko-KR" altLang="en-US" sz="2400" dirty="0">
                <a:solidFill>
                  <a:srgbClr val="2D2D44"/>
                </a:solidFill>
                <a:latin typeface="Pretendard"/>
              </a:rPr>
              <a:t>
운영자를 도와주는 형태</a:t>
            </a:r>
            <a:endParaRPr lang="en-KR" sz="2400" dirty="0">
              <a:solidFill>
                <a:srgbClr val="2D2D44"/>
              </a:solidFill>
              <a:latin typeface="Pretendard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386AD81C-9F44-E245-91D2-CC2427CE1849}"/>
              </a:ext>
            </a:extLst>
          </p:cNvPr>
          <p:cNvSpPr/>
          <p:nvPr/>
        </p:nvSpPr>
        <p:spPr>
          <a:xfrm>
            <a:off x="4470400" y="1968500"/>
            <a:ext cx="406400" cy="406400"/>
          </a:xfrm>
          <a:prstGeom prst="ellipse">
            <a:avLst/>
          </a:prstGeom>
          <a:solidFill>
            <a:srgbClr val="FF6B3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KR" sz="15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17C5D0E-A89B-8740-8A10-17F3313E094D}"/>
              </a:ext>
            </a:extLst>
          </p:cNvPr>
          <p:cNvSpPr txBox="1"/>
          <p:nvPr/>
        </p:nvSpPr>
        <p:spPr>
          <a:xfrm>
            <a:off x="4470400" y="2540000"/>
            <a:ext cx="2844800" cy="1200329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2400">
                <a:solidFill>
                  <a:srgbClr val="2D2D44"/>
                </a:solidFill>
                <a:latin typeface="Pretendard"/>
              </a:rPr>
              <a:t>질문에 답변은 잘 함
실제 시스템은 못 건드림</a:t>
            </a:r>
            <a:endParaRPr lang="en-KR" sz="2400">
              <a:solidFill>
                <a:srgbClr val="2D2D44"/>
              </a:solidFill>
              <a:latin typeface="Pretendard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F32331B8-6710-2F4F-9129-EC54B5EF4A51}"/>
              </a:ext>
            </a:extLst>
          </p:cNvPr>
          <p:cNvSpPr/>
          <p:nvPr/>
        </p:nvSpPr>
        <p:spPr>
          <a:xfrm>
            <a:off x="7924800" y="1968500"/>
            <a:ext cx="406400" cy="406400"/>
          </a:xfrm>
          <a:prstGeom prst="ellipse">
            <a:avLst/>
          </a:prstGeom>
          <a:solidFill>
            <a:srgbClr val="FF6B3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KR" sz="15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1F7D587-D9F2-FE4B-883D-F3023D29EB83}"/>
              </a:ext>
            </a:extLst>
          </p:cNvPr>
          <p:cNvSpPr txBox="1"/>
          <p:nvPr/>
        </p:nvSpPr>
        <p:spPr>
          <a:xfrm>
            <a:off x="7924800" y="2540000"/>
            <a:ext cx="2844800" cy="1200329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2400">
                <a:solidFill>
                  <a:srgbClr val="2D2D44"/>
                </a:solidFill>
                <a:latin typeface="Pretendard"/>
              </a:rPr>
              <a:t>결국 처리는
사람이 해야 하는 상태</a:t>
            </a:r>
            <a:endParaRPr lang="en-KR" sz="2400">
              <a:solidFill>
                <a:srgbClr val="2D2D44"/>
              </a:solidFill>
              <a:latin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5022040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DD243-A680-BF7D-93D2-54964D5E04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>
              <a:buNone/>
            </a:pPr>
            <a:r>
              <a:rPr lang="ko-KR" sz="3200" b="1" dirty="0">
                <a:solidFill>
                  <a:srgbClr val="1A1A2E"/>
                </a:solidFill>
                <a:latin typeface="Pretendard"/>
                <a:ea typeface="Pretendard"/>
              </a:rPr>
              <a:t>워크플로우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680AA6DA-89F4-C645-A6B9-D77CD2DB7866}"/>
              </a:ext>
            </a:extLst>
          </p:cNvPr>
          <p:cNvSpPr/>
          <p:nvPr/>
        </p:nvSpPr>
        <p:spPr>
          <a:xfrm>
            <a:off x="838200" y="1841500"/>
            <a:ext cx="3200400" cy="2667000"/>
          </a:xfrm>
          <a:prstGeom prst="roundRect">
            <a:avLst/>
          </a:prstGeom>
          <a:solidFill>
            <a:srgbClr val="FFF3E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KR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789E6B35-803C-4D40-989E-023CFFB147D6}"/>
              </a:ext>
            </a:extLst>
          </p:cNvPr>
          <p:cNvSpPr/>
          <p:nvPr/>
        </p:nvSpPr>
        <p:spPr>
          <a:xfrm>
            <a:off x="1016000" y="1968500"/>
            <a:ext cx="406400" cy="406400"/>
          </a:xfrm>
          <a:prstGeom prst="ellipse">
            <a:avLst/>
          </a:prstGeom>
          <a:solidFill>
            <a:srgbClr val="FF6B3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KR"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54B26BBF-D66A-2846-B2A2-B7D0AB416A85}"/>
              </a:ext>
            </a:extLst>
          </p:cNvPr>
          <p:cNvSpPr/>
          <p:nvPr/>
        </p:nvSpPr>
        <p:spPr>
          <a:xfrm>
            <a:off x="4292600" y="1841500"/>
            <a:ext cx="3200400" cy="2667000"/>
          </a:xfrm>
          <a:prstGeom prst="roundRect">
            <a:avLst/>
          </a:prstGeom>
          <a:solidFill>
            <a:srgbClr val="FFF3E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KR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C6EF1BF1-615F-4E40-82A7-206177CE13E2}"/>
              </a:ext>
            </a:extLst>
          </p:cNvPr>
          <p:cNvSpPr/>
          <p:nvPr/>
        </p:nvSpPr>
        <p:spPr>
          <a:xfrm>
            <a:off x="4470400" y="1968500"/>
            <a:ext cx="406400" cy="406400"/>
          </a:xfrm>
          <a:prstGeom prst="ellipse">
            <a:avLst/>
          </a:prstGeom>
          <a:solidFill>
            <a:srgbClr val="FF6B3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KR" sz="15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D6CB00F1-72C0-2548-A4E1-62823A8AAB70}"/>
              </a:ext>
            </a:extLst>
          </p:cNvPr>
          <p:cNvSpPr/>
          <p:nvPr/>
        </p:nvSpPr>
        <p:spPr>
          <a:xfrm>
            <a:off x="7747000" y="1841500"/>
            <a:ext cx="3200400" cy="2667000"/>
          </a:xfrm>
          <a:prstGeom prst="roundRect">
            <a:avLst/>
          </a:prstGeom>
          <a:solidFill>
            <a:srgbClr val="FFF3E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KR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FC1B417B-8752-254C-856E-0EE572231060}"/>
              </a:ext>
            </a:extLst>
          </p:cNvPr>
          <p:cNvSpPr/>
          <p:nvPr/>
        </p:nvSpPr>
        <p:spPr>
          <a:xfrm>
            <a:off x="7924800" y="1968500"/>
            <a:ext cx="406400" cy="406400"/>
          </a:xfrm>
          <a:prstGeom prst="ellipse">
            <a:avLst/>
          </a:prstGeom>
          <a:solidFill>
            <a:srgbClr val="FF6B3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KR" sz="15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31270B2-FC8C-8740-BEA9-DA39903A790B}"/>
              </a:ext>
            </a:extLst>
          </p:cNvPr>
          <p:cNvSpPr txBox="1"/>
          <p:nvPr/>
        </p:nvSpPr>
        <p:spPr>
          <a:xfrm>
            <a:off x="1016000" y="2540000"/>
            <a:ext cx="2844800" cy="83099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2400" dirty="0">
                <a:solidFill>
                  <a:srgbClr val="2D2D44"/>
                </a:solidFill>
                <a:latin typeface="Pretendard"/>
              </a:rPr>
              <a:t>정해진 분기를
따라가는 형태</a:t>
            </a:r>
            <a:endParaRPr lang="en-KR" sz="2400" dirty="0">
              <a:solidFill>
                <a:srgbClr val="2D2D44"/>
              </a:solidFill>
              <a:latin typeface="Pretendard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DC6C81D-63DA-2E46-9B35-D8F9975E573F}"/>
              </a:ext>
            </a:extLst>
          </p:cNvPr>
          <p:cNvSpPr txBox="1"/>
          <p:nvPr/>
        </p:nvSpPr>
        <p:spPr>
          <a:xfrm>
            <a:off x="4470400" y="2540000"/>
            <a:ext cx="2844800" cy="83099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2400">
                <a:solidFill>
                  <a:srgbClr val="2D2D44"/>
                </a:solidFill>
                <a:latin typeface="Pretendard"/>
              </a:rPr>
              <a:t>새로운 케이스마다
분기 추가</a:t>
            </a:r>
            <a:endParaRPr lang="en-KR" sz="2400">
              <a:solidFill>
                <a:srgbClr val="2D2D44"/>
              </a:solidFill>
              <a:latin typeface="Pretendard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49F2CD4-CF04-1644-938C-0B4EF8933883}"/>
              </a:ext>
            </a:extLst>
          </p:cNvPr>
          <p:cNvSpPr txBox="1"/>
          <p:nvPr/>
        </p:nvSpPr>
        <p:spPr>
          <a:xfrm>
            <a:off x="7924800" y="2540000"/>
            <a:ext cx="2844800" cy="1200329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2400">
                <a:solidFill>
                  <a:srgbClr val="2D2D44"/>
                </a:solidFill>
                <a:latin typeface="Pretendard"/>
              </a:rPr>
              <a:t>현실의 복잡한 판단을
커버 못함</a:t>
            </a:r>
            <a:endParaRPr lang="en-KR" sz="2400">
              <a:solidFill>
                <a:srgbClr val="2D2D44"/>
              </a:solidFill>
              <a:latin typeface="Pretendard"/>
            </a:endParaRP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3AAB4D30-A2B0-7649-8423-107E047BF341}"/>
              </a:ext>
            </a:extLst>
          </p:cNvPr>
          <p:cNvSpPr/>
          <p:nvPr/>
        </p:nvSpPr>
        <p:spPr>
          <a:xfrm>
            <a:off x="838200" y="4826000"/>
            <a:ext cx="10515600" cy="711200"/>
          </a:xfrm>
          <a:prstGeom prst="roundRect">
            <a:avLst/>
          </a:prstGeom>
          <a:solidFill>
            <a:srgbClr val="E71D3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ko-KR" altLang="en-US" sz="2400" b="1">
                <a:solidFill>
                  <a:srgbClr val="FFFFFF"/>
                </a:solidFill>
                <a:latin typeface="Pretendard"/>
              </a:rPr>
              <a:t>→ 유지보수 지옥</a:t>
            </a:r>
            <a:endParaRPr lang="en-KR" sz="2400" b="1">
              <a:solidFill>
                <a:srgbClr val="FFFFFF"/>
              </a:solidFill>
              <a:latin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3222038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ard0"/>
          <p:cNvSpPr/>
          <p:nvPr/>
        </p:nvSpPr>
        <p:spPr>
          <a:xfrm>
            <a:off x="975360" y="1639721"/>
            <a:ext cx="329184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E8EE"/>
            </a:solidFill>
          </a:ln>
        </p:spPr>
        <p:txBody>
          <a:bodyPr wrap="square" lIns="182880" tIns="228600" rIns="182880" bIns="137160" anchor="t"/>
          <a:lstStyle/>
          <a:p>
            <a:pPr algn="l">
              <a:buNone/>
            </a:pPr>
            <a:r>
              <a:rPr lang="ko-KR" sz="2800" b="1" dirty="0">
                <a:solidFill>
                  <a:srgbClr val="888899"/>
                </a:solidFill>
                <a:latin typeface="Pretendard"/>
                <a:ea typeface="Pretendard"/>
              </a:rPr>
              <a:t>챗봇</a:t>
            </a:r>
          </a:p>
          <a:p>
            <a:pPr algn="l">
              <a:buNone/>
            </a:pPr>
            <a:endParaRPr lang="en-US" altLang="ko-KR" sz="2400" dirty="0">
              <a:solidFill>
                <a:srgbClr val="2D2D44"/>
              </a:solidFill>
              <a:latin typeface="Pretendard"/>
              <a:ea typeface="Pretendard"/>
            </a:endParaRPr>
          </a:p>
          <a:p>
            <a:pPr algn="l">
              <a:buNone/>
            </a:pPr>
            <a:r>
              <a:rPr lang="ko-KR" sz="2000" dirty="0">
                <a:solidFill>
                  <a:srgbClr val="2D2D44"/>
                </a:solidFill>
                <a:latin typeface="Pretendard"/>
                <a:ea typeface="Pretendard"/>
              </a:rPr>
              <a:t>질문 → 답변</a:t>
            </a:r>
          </a:p>
          <a:p>
            <a:pPr algn="l">
              <a:buNone/>
            </a:pPr>
            <a:r>
              <a:rPr lang="ko-KR" sz="2000" dirty="0">
                <a:solidFill>
                  <a:srgbClr val="888899"/>
                </a:solidFill>
                <a:latin typeface="Pretendard"/>
                <a:ea typeface="Pretendard"/>
              </a:rPr>
              <a:t>대화만</a:t>
            </a:r>
          </a:p>
          <a:p>
            <a:pPr algn="l">
              <a:buNone/>
            </a:pPr>
            <a:endParaRPr lang="en-US" altLang="ko-KR" sz="2000" b="1" dirty="0">
              <a:solidFill>
                <a:srgbClr val="E71D36"/>
              </a:solidFill>
              <a:latin typeface="Pretendard"/>
              <a:ea typeface="Pretendard"/>
            </a:endParaRPr>
          </a:p>
          <a:p>
            <a:pPr algn="l">
              <a:buNone/>
            </a:pPr>
            <a:r>
              <a:rPr lang="ko-KR" sz="2000" b="1" dirty="0">
                <a:solidFill>
                  <a:srgbClr val="E71D36"/>
                </a:solidFill>
                <a:latin typeface="Pretendard"/>
                <a:ea typeface="Pretendard"/>
              </a:rPr>
              <a:t>❌ 처리 불가</a:t>
            </a:r>
          </a:p>
        </p:txBody>
      </p:sp>
      <p:sp>
        <p:nvSpPr>
          <p:cNvPr id="21" name="Card1"/>
          <p:cNvSpPr/>
          <p:nvPr/>
        </p:nvSpPr>
        <p:spPr>
          <a:xfrm>
            <a:off x="4450080" y="1639721"/>
            <a:ext cx="329184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E8EE"/>
            </a:solidFill>
          </a:ln>
        </p:spPr>
        <p:txBody>
          <a:bodyPr wrap="square" lIns="182880" tIns="228600" rIns="182880" bIns="137160" anchor="t"/>
          <a:lstStyle/>
          <a:p>
            <a:pPr algn="l">
              <a:buNone/>
            </a:pPr>
            <a:r>
              <a:rPr lang="ko-KR" sz="2800" b="1" dirty="0">
                <a:solidFill>
                  <a:srgbClr val="888899"/>
                </a:solidFill>
                <a:latin typeface="Pretendard"/>
                <a:ea typeface="Pretendard"/>
              </a:rPr>
              <a:t>워크플로우</a:t>
            </a:r>
            <a:endParaRPr lang="en-US" altLang="ko-KR" sz="2800" b="1" dirty="0">
              <a:solidFill>
                <a:srgbClr val="888899"/>
              </a:solidFill>
              <a:latin typeface="Pretendard"/>
              <a:ea typeface="Pretendard"/>
            </a:endParaRPr>
          </a:p>
          <a:p>
            <a:pPr algn="l">
              <a:buNone/>
            </a:pPr>
            <a:endParaRPr lang="ko-KR" sz="2400" b="1" dirty="0">
              <a:solidFill>
                <a:srgbClr val="888899"/>
              </a:solidFill>
              <a:latin typeface="Pretendard"/>
              <a:ea typeface="Pretendard"/>
            </a:endParaRPr>
          </a:p>
          <a:p>
            <a:pPr algn="l">
              <a:buNone/>
            </a:pPr>
            <a:r>
              <a:rPr lang="ko-KR" sz="2000" dirty="0">
                <a:solidFill>
                  <a:srgbClr val="2D2D44"/>
                </a:solidFill>
                <a:latin typeface="Pretendard"/>
                <a:ea typeface="Pretendard"/>
              </a:rPr>
              <a:t>트리거 → 정해진 액션</a:t>
            </a:r>
          </a:p>
          <a:p>
            <a:pPr algn="l">
              <a:buNone/>
            </a:pPr>
            <a:r>
              <a:rPr lang="ko-KR" sz="2000" dirty="0">
                <a:solidFill>
                  <a:srgbClr val="888899"/>
                </a:solidFill>
                <a:latin typeface="Pretendard"/>
                <a:ea typeface="Pretendard"/>
              </a:rPr>
              <a:t>고정 분기</a:t>
            </a:r>
          </a:p>
          <a:p>
            <a:pPr algn="l">
              <a:buNone/>
            </a:pPr>
            <a:endParaRPr lang="en-US" altLang="ko-KR" sz="2000" b="1" dirty="0">
              <a:solidFill>
                <a:srgbClr val="E71D36"/>
              </a:solidFill>
              <a:latin typeface="Pretendard"/>
              <a:ea typeface="Pretendard"/>
            </a:endParaRPr>
          </a:p>
          <a:p>
            <a:pPr algn="l">
              <a:buNone/>
            </a:pPr>
            <a:r>
              <a:rPr lang="ko-KR" sz="2000" b="1" dirty="0">
                <a:solidFill>
                  <a:srgbClr val="E71D36"/>
                </a:solidFill>
                <a:latin typeface="Pretendard"/>
                <a:ea typeface="Pretendard"/>
              </a:rPr>
              <a:t>❌ 유연성 부족</a:t>
            </a:r>
          </a:p>
        </p:txBody>
      </p:sp>
      <p:sp>
        <p:nvSpPr>
          <p:cNvPr id="22" name="Card2"/>
          <p:cNvSpPr/>
          <p:nvPr/>
        </p:nvSpPr>
        <p:spPr>
          <a:xfrm>
            <a:off x="7924800" y="1639721"/>
            <a:ext cx="3291840" cy="4206240"/>
          </a:xfrm>
          <a:prstGeom prst="roundRect">
            <a:avLst>
              <a:gd name="adj" fmla="val 5000"/>
            </a:avLst>
          </a:prstGeom>
          <a:solidFill>
            <a:srgbClr val="FFF5F0"/>
          </a:solidFill>
          <a:ln w="25400">
            <a:solidFill>
              <a:srgbClr val="FF6B35"/>
            </a:solidFill>
          </a:ln>
        </p:spPr>
        <p:txBody>
          <a:bodyPr wrap="square" lIns="182880" tIns="228600" rIns="182880" bIns="137160" anchor="t"/>
          <a:lstStyle/>
          <a:p>
            <a:pPr algn="l">
              <a:buNone/>
            </a:pPr>
            <a:r>
              <a:rPr lang="ko-KR" sz="2800" b="1" dirty="0">
                <a:solidFill>
                  <a:srgbClr val="FF6B35"/>
                </a:solidFill>
                <a:latin typeface="Pretendard"/>
                <a:ea typeface="Pretendard"/>
              </a:rPr>
              <a:t>에이전트</a:t>
            </a:r>
            <a:endParaRPr lang="en-US" altLang="ko-KR" sz="2800" b="1" dirty="0">
              <a:solidFill>
                <a:srgbClr val="FF6B35"/>
              </a:solidFill>
              <a:latin typeface="Pretendard"/>
              <a:ea typeface="Pretendard"/>
            </a:endParaRPr>
          </a:p>
          <a:p>
            <a:pPr algn="l">
              <a:buNone/>
            </a:pPr>
            <a:endParaRPr lang="ko-KR" sz="2000" b="1" dirty="0">
              <a:solidFill>
                <a:srgbClr val="FF6B35"/>
              </a:solidFill>
              <a:latin typeface="Pretendard"/>
              <a:ea typeface="Pretendard"/>
            </a:endParaRPr>
          </a:p>
          <a:p>
            <a:pPr algn="l">
              <a:buNone/>
            </a:pPr>
            <a:r>
              <a:rPr lang="ko-KR" sz="2000" dirty="0">
                <a:solidFill>
                  <a:srgbClr val="2D2D44"/>
                </a:solidFill>
                <a:latin typeface="Pretendard"/>
                <a:ea typeface="Pretendard"/>
              </a:rPr>
              <a:t>목표 → 스스로 판단 → 도구 선택 → 실행</a:t>
            </a:r>
          </a:p>
          <a:p>
            <a:pPr algn="l">
              <a:buNone/>
            </a:pPr>
            <a:r>
              <a:rPr lang="ko-KR" sz="2000" dirty="0">
                <a:solidFill>
                  <a:srgbClr val="888899"/>
                </a:solidFill>
                <a:latin typeface="Pretendard"/>
                <a:ea typeface="Pretendard"/>
              </a:rPr>
              <a:t>자율성</a:t>
            </a:r>
            <a:endParaRPr lang="en-US" altLang="ko-KR" sz="2000" dirty="0">
              <a:solidFill>
                <a:srgbClr val="888899"/>
              </a:solidFill>
              <a:latin typeface="Pretendard"/>
              <a:ea typeface="Pretendard"/>
            </a:endParaRPr>
          </a:p>
          <a:p>
            <a:pPr algn="l">
              <a:buNone/>
            </a:pPr>
            <a:endParaRPr lang="ko-KR" sz="2000" dirty="0">
              <a:solidFill>
                <a:srgbClr val="888899"/>
              </a:solidFill>
              <a:latin typeface="Pretendard"/>
              <a:ea typeface="Pretendard"/>
            </a:endParaRPr>
          </a:p>
          <a:p>
            <a:pPr algn="l">
              <a:buNone/>
            </a:pPr>
            <a:r>
              <a:rPr lang="ko-KR" sz="2000" b="1" dirty="0">
                <a:solidFill>
                  <a:srgbClr val="2EC4B6"/>
                </a:solidFill>
                <a:latin typeface="Pretendard"/>
                <a:ea typeface="Pretendard"/>
              </a:rPr>
              <a:t>✅ 자율 판단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D549965-888B-0643-6603-114464EFDF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b="1" dirty="0"/>
              <a:t>에이전트</a:t>
            </a:r>
            <a:endParaRPr lang="en-KR" sz="3200" b="1" dirty="0"/>
          </a:p>
        </p:txBody>
      </p:sp>
    </p:spTree>
    <p:extLst>
      <p:ext uri="{BB962C8B-B14F-4D97-AF65-F5344CB8AC3E}">
        <p14:creationId xmlns:p14="http://schemas.microsoft.com/office/powerpoint/2010/main" val="41854921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71953E-2EE3-A168-8408-BCCC8DE722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>
              <a:buNone/>
            </a:pPr>
            <a:r>
              <a:rPr lang="ko-KR" altLang="en-US" sz="3200" b="1" dirty="0">
                <a:solidFill>
                  <a:srgbClr val="1A1A2E"/>
                </a:solidFill>
                <a:latin typeface="Pretendard"/>
                <a:ea typeface="Pretendard"/>
              </a:rPr>
              <a:t>운영엔 에이전트가 </a:t>
            </a:r>
            <a:r>
              <a:rPr lang="ko-KR" altLang="en-US" sz="3200" b="1" dirty="0" err="1">
                <a:solidFill>
                  <a:srgbClr val="1A1A2E"/>
                </a:solidFill>
                <a:latin typeface="Pretendard"/>
                <a:ea typeface="Pretendard"/>
              </a:rPr>
              <a:t>딱이야</a:t>
            </a:r>
            <a:endParaRPr lang="ko-KR" sz="3200" b="1" dirty="0">
              <a:solidFill>
                <a:srgbClr val="1A1A2E"/>
              </a:solidFill>
              <a:latin typeface="Pretendard"/>
              <a:ea typeface="Pretendard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A56550-4DD2-9585-10AC-7A7EB54FF6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721590"/>
            <a:ext cx="10515600" cy="737455"/>
          </a:xfrm>
        </p:spPr>
        <p:txBody>
          <a:bodyPr anchor="ctr">
            <a:norm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ko-KR" b="1" dirty="0">
                <a:solidFill>
                  <a:srgbClr val="FF6B35"/>
                </a:solidFill>
                <a:latin typeface="Pretendard"/>
                <a:ea typeface="Pretendard"/>
              </a:rPr>
              <a:t>핵심: 자율성 — 목표를 주면 스스로 계획하고 실행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1E5EB8C-44FD-5D57-3294-550A24F2D706}"/>
              </a:ext>
            </a:extLst>
          </p:cNvPr>
          <p:cNvGrpSpPr/>
          <p:nvPr/>
        </p:nvGrpSpPr>
        <p:grpSpPr>
          <a:xfrm>
            <a:off x="1622452" y="2574328"/>
            <a:ext cx="8947097" cy="1240421"/>
            <a:chOff x="1622452" y="2618290"/>
            <a:chExt cx="8947097" cy="1240421"/>
          </a:xfrm>
        </p:grpSpPr>
        <p:sp>
          <p:nvSpPr>
            <p:cNvPr id="4" name="Rounded Rectangle 3">
              <a:extLst>
                <a:ext uri="{FF2B5EF4-FFF2-40B4-BE49-F238E27FC236}">
                  <a16:creationId xmlns:a16="http://schemas.microsoft.com/office/drawing/2014/main" id="{609492AB-4E02-CA96-EC44-EC09E06E84DA}"/>
                </a:ext>
              </a:extLst>
            </p:cNvPr>
            <p:cNvSpPr/>
            <p:nvPr/>
          </p:nvSpPr>
          <p:spPr>
            <a:xfrm>
              <a:off x="1622452" y="2618290"/>
              <a:ext cx="1784297" cy="1240421"/>
            </a:xfrm>
            <a:prstGeom prst="roundRect">
              <a:avLst/>
            </a:prstGeom>
            <a:solidFill>
              <a:srgbClr val="FF6B35"/>
            </a:solidFill>
            <a:ln w="1905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ctr" anchorCtr="0">
              <a:noAutofit/>
            </a:bodyPr>
            <a:lstStyle/>
            <a:p>
              <a:pPr algn="ctr"/>
              <a:r>
                <a:rPr lang="ko-KR" altLang="en-US" sz="2200" b="1" dirty="0">
                  <a:solidFill>
                    <a:srgbClr val="FFFFFF"/>
                  </a:solidFill>
                  <a:latin typeface="Pretendard"/>
                </a:rPr>
                <a:t>정책 읽기</a:t>
              </a:r>
              <a:endParaRPr lang="en-KR" sz="2200" b="1" dirty="0">
                <a:solidFill>
                  <a:srgbClr val="FFFFFF"/>
                </a:solidFill>
                <a:latin typeface="Pretendard"/>
              </a:endParaRPr>
            </a:p>
          </p:txBody>
        </p:sp>
        <p:sp>
          <p:nvSpPr>
            <p:cNvPr id="5" name="Right Arrow 4">
              <a:extLst>
                <a:ext uri="{FF2B5EF4-FFF2-40B4-BE49-F238E27FC236}">
                  <a16:creationId xmlns:a16="http://schemas.microsoft.com/office/drawing/2014/main" id="{D03BBF8D-82E6-D2E0-7BC7-6C4F41AE9264}"/>
                </a:ext>
              </a:extLst>
            </p:cNvPr>
            <p:cNvSpPr/>
            <p:nvPr/>
          </p:nvSpPr>
          <p:spPr>
            <a:xfrm>
              <a:off x="3606800" y="3111500"/>
              <a:ext cx="203200" cy="254000"/>
            </a:xfrm>
            <a:prstGeom prst="rightArrow">
              <a:avLst/>
            </a:prstGeom>
            <a:solidFill>
              <a:srgbClr val="1A1A2E"/>
            </a:solidFill>
            <a:ln w="1905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KR"/>
            </a:p>
          </p:txBody>
        </p:sp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D7F4D8F9-6007-7863-E391-5A49B88DA2DB}"/>
                </a:ext>
              </a:extLst>
            </p:cNvPr>
            <p:cNvSpPr/>
            <p:nvPr/>
          </p:nvSpPr>
          <p:spPr>
            <a:xfrm>
              <a:off x="4010052" y="2618290"/>
              <a:ext cx="1784297" cy="1240421"/>
            </a:xfrm>
            <a:prstGeom prst="roundRect">
              <a:avLst/>
            </a:prstGeom>
            <a:solidFill>
              <a:srgbClr val="4361EE"/>
            </a:solidFill>
            <a:ln w="1905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ctr" anchorCtr="0">
              <a:noAutofit/>
            </a:bodyPr>
            <a:lstStyle/>
            <a:p>
              <a:pPr algn="ctr"/>
              <a:r>
                <a:rPr lang="ko-KR" altLang="en-US" sz="2200" b="1">
                  <a:solidFill>
                    <a:srgbClr val="FFFFFF"/>
                  </a:solidFill>
                  <a:latin typeface="Pretendard"/>
                </a:rPr>
                <a:t>맥락 이해</a:t>
              </a:r>
              <a:endParaRPr lang="en-KR" sz="2200" b="1">
                <a:solidFill>
                  <a:srgbClr val="FFFFFF"/>
                </a:solidFill>
                <a:latin typeface="Pretendard"/>
              </a:endParaRPr>
            </a:p>
          </p:txBody>
        </p:sp>
        <p:sp>
          <p:nvSpPr>
            <p:cNvPr id="7" name="Right Arrow 6">
              <a:extLst>
                <a:ext uri="{FF2B5EF4-FFF2-40B4-BE49-F238E27FC236}">
                  <a16:creationId xmlns:a16="http://schemas.microsoft.com/office/drawing/2014/main" id="{2FC39ECF-56DF-F369-0ACE-C03999449B15}"/>
                </a:ext>
              </a:extLst>
            </p:cNvPr>
            <p:cNvSpPr/>
            <p:nvPr/>
          </p:nvSpPr>
          <p:spPr>
            <a:xfrm>
              <a:off x="5994400" y="3111500"/>
              <a:ext cx="203200" cy="254000"/>
            </a:xfrm>
            <a:prstGeom prst="rightArrow">
              <a:avLst/>
            </a:prstGeom>
            <a:solidFill>
              <a:srgbClr val="1A1A2E"/>
            </a:solidFill>
            <a:ln w="1905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KR"/>
            </a:p>
          </p:txBody>
        </p:sp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5A78D2E8-DAF8-B10C-CA71-5DBA085F6F6B}"/>
                </a:ext>
              </a:extLst>
            </p:cNvPr>
            <p:cNvSpPr/>
            <p:nvPr/>
          </p:nvSpPr>
          <p:spPr>
            <a:xfrm>
              <a:off x="6397652" y="2618290"/>
              <a:ext cx="1784297" cy="1240421"/>
            </a:xfrm>
            <a:prstGeom prst="roundRect">
              <a:avLst/>
            </a:prstGeom>
            <a:solidFill>
              <a:srgbClr val="2EC4B6"/>
            </a:solidFill>
            <a:ln w="1905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ctr" anchorCtr="0">
              <a:noAutofit/>
            </a:bodyPr>
            <a:lstStyle/>
            <a:p>
              <a:pPr algn="ctr"/>
              <a:r>
                <a:rPr lang="ko-KR" altLang="en-US" sz="2200" b="1">
                  <a:solidFill>
                    <a:srgbClr val="FFFFFF"/>
                  </a:solidFill>
                  <a:latin typeface="Pretendard"/>
                </a:rPr>
                <a:t>판단</a:t>
              </a:r>
              <a:endParaRPr lang="en-KR" sz="2200" b="1">
                <a:solidFill>
                  <a:srgbClr val="FFFFFF"/>
                </a:solidFill>
                <a:latin typeface="Pretendard"/>
              </a:endParaRPr>
            </a:p>
          </p:txBody>
        </p:sp>
        <p:sp>
          <p:nvSpPr>
            <p:cNvPr id="9" name="Right Arrow 8">
              <a:extLst>
                <a:ext uri="{FF2B5EF4-FFF2-40B4-BE49-F238E27FC236}">
                  <a16:creationId xmlns:a16="http://schemas.microsoft.com/office/drawing/2014/main" id="{EE07DBAB-CD56-551A-796A-84D158D6A6ED}"/>
                </a:ext>
              </a:extLst>
            </p:cNvPr>
            <p:cNvSpPr/>
            <p:nvPr/>
          </p:nvSpPr>
          <p:spPr>
            <a:xfrm>
              <a:off x="8382000" y="3111500"/>
              <a:ext cx="203200" cy="254000"/>
            </a:xfrm>
            <a:prstGeom prst="rightArrow">
              <a:avLst/>
            </a:prstGeom>
            <a:solidFill>
              <a:srgbClr val="1A1A2E"/>
            </a:solidFill>
            <a:ln w="1905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KR"/>
            </a:p>
          </p:txBody>
        </p:sp>
        <p:sp>
          <p:nvSpPr>
            <p:cNvPr id="10" name="Rounded Rectangle 9">
              <a:extLst>
                <a:ext uri="{FF2B5EF4-FFF2-40B4-BE49-F238E27FC236}">
                  <a16:creationId xmlns:a16="http://schemas.microsoft.com/office/drawing/2014/main" id="{FCF14EFF-272C-3E6E-999C-0FF300ED9A93}"/>
                </a:ext>
              </a:extLst>
            </p:cNvPr>
            <p:cNvSpPr/>
            <p:nvPr/>
          </p:nvSpPr>
          <p:spPr>
            <a:xfrm>
              <a:off x="8785252" y="2618290"/>
              <a:ext cx="1784297" cy="1240421"/>
            </a:xfrm>
            <a:prstGeom prst="roundRect">
              <a:avLst/>
            </a:prstGeom>
            <a:solidFill>
              <a:srgbClr val="7209B7"/>
            </a:solidFill>
            <a:ln w="1905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ctr" anchorCtr="0">
              <a:noAutofit/>
            </a:bodyPr>
            <a:lstStyle/>
            <a:p>
              <a:pPr algn="ctr"/>
              <a:r>
                <a:rPr lang="ko-KR" altLang="en-US" sz="2200" b="1">
                  <a:solidFill>
                    <a:srgbClr val="FFFFFF"/>
                  </a:solidFill>
                  <a:latin typeface="Pretendard"/>
                </a:rPr>
                <a:t>실행</a:t>
              </a:r>
              <a:endParaRPr lang="en-KR" sz="2200" b="1">
                <a:solidFill>
                  <a:srgbClr val="FFFFFF"/>
                </a:solidFill>
                <a:latin typeface="Pretendard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300017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Num"/>
          <p:cNvSpPr txBox="1"/>
          <p:nvPr/>
        </p:nvSpPr>
        <p:spPr>
          <a:xfrm>
            <a:off x="731520" y="1371600"/>
            <a:ext cx="10728960" cy="914400"/>
          </a:xfrm>
          <a:prstGeom prst="rect">
            <a:avLst/>
          </a:prstGeom>
          <a:noFill/>
          <a:ln>
            <a:noFill/>
          </a:ln>
        </p:spPr>
        <p:txBody>
          <a:bodyPr wrap="square" anchor="b"/>
          <a:lstStyle/>
          <a:p>
            <a:pPr algn="l">
              <a:buNone/>
            </a:pPr>
            <a:r>
              <a:rPr lang="en-US" sz="6000" b="1" dirty="0">
                <a:solidFill>
                  <a:srgbClr val="4361EE"/>
                </a:solidFill>
                <a:latin typeface="Pretendard"/>
                <a:ea typeface="Pretendard"/>
              </a:rPr>
              <a:t>02</a:t>
            </a:r>
          </a:p>
        </p:txBody>
      </p:sp>
      <p:sp>
        <p:nvSpPr>
          <p:cNvPr id="11" name="SectionTitle"/>
          <p:cNvSpPr txBox="1"/>
          <p:nvPr/>
        </p:nvSpPr>
        <p:spPr>
          <a:xfrm>
            <a:off x="731520" y="2440919"/>
            <a:ext cx="10728960" cy="60456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ko-KR" sz="3200" b="1" dirty="0">
                <a:solidFill>
                  <a:srgbClr val="1A1A2E"/>
                </a:solidFill>
                <a:latin typeface="Pretendard"/>
                <a:ea typeface="Pretendard"/>
              </a:rPr>
              <a:t>도구 &amp; 멀티 에이전트</a:t>
            </a:r>
          </a:p>
        </p:txBody>
      </p:sp>
      <p:sp>
        <p:nvSpPr>
          <p:cNvPr id="12" name="Line"/>
          <p:cNvSpPr/>
          <p:nvPr/>
        </p:nvSpPr>
        <p:spPr>
          <a:xfrm>
            <a:off x="731520" y="2286000"/>
            <a:ext cx="1371600" cy="45720"/>
          </a:xfrm>
          <a:prstGeom prst="rect">
            <a:avLst/>
          </a:prstGeom>
          <a:solidFill>
            <a:srgbClr val="4361E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6221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6F5F5-8D61-0E5D-79B2-989EAB4CD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>
              <a:buNone/>
            </a:pPr>
            <a:r>
              <a:rPr lang="ko-KR" altLang="en-US" sz="3200" b="1" dirty="0">
                <a:solidFill>
                  <a:srgbClr val="1A1A2E"/>
                </a:solidFill>
                <a:latin typeface="Pretendard"/>
                <a:ea typeface="Pretendard"/>
              </a:rPr>
              <a:t>도구</a:t>
            </a:r>
            <a:r>
              <a:rPr lang="ko-KR" sz="3200" b="1" dirty="0">
                <a:solidFill>
                  <a:srgbClr val="1A1A2E"/>
                </a:solidFill>
                <a:latin typeface="Pretendard"/>
                <a:ea typeface="Pretendard"/>
              </a:rPr>
              <a:t>: 에이전트의 손발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33A7C9-1E51-2E11-FFD7-04BE8C387C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ko-KR" dirty="0">
                <a:solidFill>
                  <a:srgbClr val="2D2D44"/>
                </a:solidFill>
                <a:latin typeface="Pretendard"/>
                <a:ea typeface="Pretendard"/>
              </a:rPr>
              <a:t>도구 없는 에이전트 = 생각만 하는 존재</a:t>
            </a:r>
          </a:p>
          <a:p>
            <a:pPr algn="l">
              <a:lnSpc>
                <a:spcPct val="100000"/>
              </a:lnSpc>
            </a:pPr>
            <a:r>
              <a:rPr lang="ko-KR" altLang="en-US" dirty="0">
                <a:solidFill>
                  <a:srgbClr val="2D2D44"/>
                </a:solidFill>
                <a:latin typeface="Pretendard"/>
                <a:ea typeface="Pretendard"/>
              </a:rPr>
              <a:t>도구를 통해 현실 세계와 연결</a:t>
            </a:r>
            <a:endParaRPr lang="ko-KR" dirty="0">
              <a:solidFill>
                <a:srgbClr val="2D2D44"/>
              </a:solidFill>
              <a:latin typeface="Pretendard"/>
              <a:ea typeface="Pretendard"/>
            </a:endParaRPr>
          </a:p>
          <a:p>
            <a:pPr algn="l">
              <a:lnSpc>
                <a:spcPct val="100000"/>
              </a:lnSpc>
            </a:pPr>
            <a:r>
              <a:rPr lang="ko-KR" dirty="0">
                <a:solidFill>
                  <a:srgbClr val="2D2D44"/>
                </a:solidFill>
                <a:latin typeface="Pretendard"/>
                <a:ea typeface="Pretendard"/>
              </a:rPr>
              <a:t>에이전트가 스스로 어떤 도구를 쓸지 판단</a:t>
            </a:r>
            <a:endParaRPr lang="en-US" altLang="ko-KR" dirty="0">
              <a:solidFill>
                <a:srgbClr val="2D2D44"/>
              </a:solidFill>
              <a:latin typeface="Pretendard"/>
              <a:ea typeface="Pretendard"/>
            </a:endParaRPr>
          </a:p>
          <a:p>
            <a:pPr algn="l">
              <a:lnSpc>
                <a:spcPct val="100000"/>
              </a:lnSpc>
            </a:pPr>
            <a:endParaRPr lang="ko-KR" dirty="0">
              <a:solidFill>
                <a:srgbClr val="2D2D44"/>
              </a:solidFill>
              <a:latin typeface="Pretendard"/>
              <a:ea typeface="Pretendard"/>
            </a:endParaRPr>
          </a:p>
          <a:p>
            <a:pPr algn="l">
              <a:lnSpc>
                <a:spcPct val="100000"/>
              </a:lnSpc>
              <a:buNone/>
            </a:pPr>
            <a:r>
              <a:rPr lang="ko-KR" b="1" dirty="0">
                <a:solidFill>
                  <a:srgbClr val="FF6B35"/>
                </a:solidFill>
                <a:latin typeface="Pretendard"/>
                <a:ea typeface="Pretendard"/>
              </a:rPr>
              <a:t>도구 설계가 에이전트 품질의 </a:t>
            </a:r>
            <a:r>
              <a:rPr lang="ko-KR" altLang="en-US" b="1" dirty="0">
                <a:solidFill>
                  <a:srgbClr val="FF6B35"/>
                </a:solidFill>
                <a:latin typeface="Pretendard"/>
                <a:ea typeface="Pretendard"/>
              </a:rPr>
              <a:t>절반</a:t>
            </a:r>
            <a:endParaRPr lang="ko-KR" b="1" dirty="0">
              <a:solidFill>
                <a:srgbClr val="FF6B35"/>
              </a:solidFill>
              <a:latin typeface="Pretendard"/>
              <a:ea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19892261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EDBBA204-B12E-1BA6-AC83-AB46039FF5FE}"/>
              </a:ext>
            </a:extLst>
          </p:cNvPr>
          <p:cNvGrpSpPr/>
          <p:nvPr/>
        </p:nvGrpSpPr>
        <p:grpSpPr>
          <a:xfrm>
            <a:off x="883920" y="2590380"/>
            <a:ext cx="10424160" cy="2322697"/>
            <a:chOff x="731520" y="2267651"/>
            <a:chExt cx="10424160" cy="2322697"/>
          </a:xfrm>
        </p:grpSpPr>
        <p:sp>
          <p:nvSpPr>
            <p:cNvPr id="20" name="Tool0"/>
            <p:cNvSpPr/>
            <p:nvPr/>
          </p:nvSpPr>
          <p:spPr>
            <a:xfrm>
              <a:off x="731520" y="2267651"/>
              <a:ext cx="2468880" cy="2322697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12700">
              <a:solidFill>
                <a:srgbClr val="E8E8EE"/>
              </a:solidFill>
            </a:ln>
          </p:spPr>
          <p:txBody>
            <a:bodyPr wrap="square" lIns="182880" tIns="274320" rIns="182880" bIns="91440" anchor="t"/>
            <a:lstStyle/>
            <a:p>
              <a:pPr algn="l">
                <a:buNone/>
              </a:pPr>
              <a:r>
                <a:rPr lang="ko-KR" sz="2000" b="1" dirty="0">
                  <a:solidFill>
                    <a:srgbClr val="FF6B35"/>
                  </a:solidFill>
                  <a:latin typeface="Pretendard"/>
                  <a:ea typeface="Pretendard"/>
                </a:rPr>
                <a:t>콘텐츠 조회</a:t>
              </a:r>
            </a:p>
            <a:p>
              <a:pPr algn="l">
                <a:buNone/>
              </a:pPr>
              <a:r>
                <a:rPr lang="ko-KR" sz="1600" dirty="0">
                  <a:solidFill>
                    <a:srgbClr val="888899"/>
                  </a:solidFill>
                  <a:latin typeface="Pretendard"/>
                  <a:ea typeface="Pretendard"/>
                </a:rPr>
                <a:t>처리 대상 내용 읽기</a:t>
              </a:r>
            </a:p>
          </p:txBody>
        </p:sp>
        <p:sp>
          <p:nvSpPr>
            <p:cNvPr id="21" name="Tool1"/>
            <p:cNvSpPr/>
            <p:nvPr/>
          </p:nvSpPr>
          <p:spPr>
            <a:xfrm>
              <a:off x="3383280" y="2267651"/>
              <a:ext cx="2468880" cy="2322697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12700">
              <a:solidFill>
                <a:srgbClr val="E8E8EE"/>
              </a:solidFill>
            </a:ln>
          </p:spPr>
          <p:txBody>
            <a:bodyPr wrap="square" lIns="182880" tIns="274320" rIns="182880" bIns="91440" anchor="t"/>
            <a:lstStyle/>
            <a:p>
              <a:pPr algn="l">
                <a:buNone/>
              </a:pPr>
              <a:r>
                <a:rPr lang="ko-KR" sz="2000" b="1" dirty="0">
                  <a:solidFill>
                    <a:srgbClr val="4361EE"/>
                  </a:solidFill>
                  <a:latin typeface="Pretendard"/>
                  <a:ea typeface="Pretendard"/>
                </a:rPr>
                <a:t>정책 조회</a:t>
              </a:r>
            </a:p>
            <a:p>
              <a:pPr algn="l">
                <a:buNone/>
              </a:pPr>
              <a:r>
                <a:rPr lang="ko-KR" sz="1600" dirty="0">
                  <a:solidFill>
                    <a:srgbClr val="888899"/>
                  </a:solidFill>
                  <a:latin typeface="Pretendard"/>
                  <a:ea typeface="Pretendard"/>
                </a:rPr>
                <a:t>판단 기준 가져오기</a:t>
              </a:r>
            </a:p>
          </p:txBody>
        </p:sp>
        <p:sp>
          <p:nvSpPr>
            <p:cNvPr id="22" name="Tool2"/>
            <p:cNvSpPr/>
            <p:nvPr/>
          </p:nvSpPr>
          <p:spPr>
            <a:xfrm>
              <a:off x="6035040" y="2267651"/>
              <a:ext cx="2468880" cy="2322697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12700">
              <a:solidFill>
                <a:srgbClr val="E8E8EE"/>
              </a:solidFill>
            </a:ln>
          </p:spPr>
          <p:txBody>
            <a:bodyPr wrap="square" lIns="182880" tIns="274320" rIns="182880" bIns="91440" anchor="t"/>
            <a:lstStyle/>
            <a:p>
              <a:pPr algn="l">
                <a:buNone/>
              </a:pPr>
              <a:r>
                <a:rPr lang="ko-KR" sz="2000" b="1" dirty="0">
                  <a:solidFill>
                    <a:srgbClr val="2EC4B6"/>
                  </a:solidFill>
                  <a:latin typeface="Pretendard"/>
                  <a:ea typeface="Pretendard"/>
                </a:rPr>
                <a:t>처리 API 호출</a:t>
              </a:r>
            </a:p>
            <a:p>
              <a:pPr algn="l">
                <a:buNone/>
              </a:pPr>
              <a:r>
                <a:rPr lang="ko-KR" sz="1600" dirty="0">
                  <a:solidFill>
                    <a:srgbClr val="888899"/>
                  </a:solidFill>
                  <a:latin typeface="Pretendard"/>
                  <a:ea typeface="Pretendard"/>
                </a:rPr>
                <a:t>실제 액션 실행</a:t>
              </a:r>
            </a:p>
          </p:txBody>
        </p:sp>
        <p:sp>
          <p:nvSpPr>
            <p:cNvPr id="23" name="Tool3"/>
            <p:cNvSpPr/>
            <p:nvPr/>
          </p:nvSpPr>
          <p:spPr>
            <a:xfrm>
              <a:off x="8686800" y="2267651"/>
              <a:ext cx="2468880" cy="2322697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12700">
              <a:solidFill>
                <a:srgbClr val="E8E8EE"/>
              </a:solidFill>
            </a:ln>
          </p:spPr>
          <p:txBody>
            <a:bodyPr wrap="square" lIns="182880" tIns="274320" rIns="182880" bIns="91440" anchor="t"/>
            <a:lstStyle/>
            <a:p>
              <a:pPr algn="l">
                <a:buNone/>
              </a:pPr>
              <a:r>
                <a:rPr lang="ko-KR" sz="2000" b="1" dirty="0">
                  <a:solidFill>
                    <a:srgbClr val="7209B7"/>
                  </a:solidFill>
                  <a:latin typeface="Pretendard"/>
                  <a:ea typeface="Pretendard"/>
                </a:rPr>
                <a:t>알림 생성</a:t>
              </a:r>
            </a:p>
            <a:p>
              <a:pPr algn="l">
                <a:buNone/>
              </a:pPr>
              <a:r>
                <a:rPr lang="ko-KR" sz="1600" dirty="0">
                  <a:solidFill>
                    <a:srgbClr val="888899"/>
                  </a:solidFill>
                  <a:latin typeface="Pretendard"/>
                  <a:ea typeface="Pretendard"/>
                </a:rPr>
                <a:t>사용자에게 안내</a:t>
              </a:r>
            </a:p>
          </p:txBody>
        </p:sp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7401885D-D9E2-6A2B-CBD1-BC951C2E7B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b="1" dirty="0"/>
              <a:t>운영 자동화에 사용했던 도구들</a:t>
            </a:r>
            <a:endParaRPr lang="en-KR" sz="3200" b="1" dirty="0"/>
          </a:p>
        </p:txBody>
      </p:sp>
    </p:spTree>
    <p:extLst>
      <p:ext uri="{BB962C8B-B14F-4D97-AF65-F5344CB8AC3E}">
        <p14:creationId xmlns:p14="http://schemas.microsoft.com/office/powerpoint/2010/main" val="17845424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1647F5-2C00-E972-60B9-34414F3366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b="1" dirty="0"/>
              <a:t>도구에 대한 설명의 중요성</a:t>
            </a:r>
            <a:endParaRPr lang="en-KR" sz="3200" b="1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0B952E9-206A-D185-1738-86B908DA012B}"/>
              </a:ext>
            </a:extLst>
          </p:cNvPr>
          <p:cNvGrpSpPr/>
          <p:nvPr/>
        </p:nvGrpSpPr>
        <p:grpSpPr>
          <a:xfrm>
            <a:off x="838200" y="1841500"/>
            <a:ext cx="3200400" cy="3429000"/>
            <a:chOff x="838200" y="1841500"/>
            <a:chExt cx="3200400" cy="3429000"/>
          </a:xfrm>
        </p:grpSpPr>
        <p:sp>
          <p:nvSpPr>
            <p:cNvPr id="3" name="Rounded Rectangle 2">
              <a:extLst>
                <a:ext uri="{FF2B5EF4-FFF2-40B4-BE49-F238E27FC236}">
                  <a16:creationId xmlns:a16="http://schemas.microsoft.com/office/drawing/2014/main" id="{F0943F19-786A-6B44-A027-C688F60471B8}"/>
                </a:ext>
              </a:extLst>
            </p:cNvPr>
            <p:cNvSpPr/>
            <p:nvPr/>
          </p:nvSpPr>
          <p:spPr>
            <a:xfrm>
              <a:off x="838200" y="1841500"/>
              <a:ext cx="3200400" cy="3429000"/>
            </a:xfrm>
            <a:prstGeom prst="roundRect">
              <a:avLst/>
            </a:prstGeom>
            <a:solidFill>
              <a:srgbClr val="F5F0EB"/>
            </a:solidFill>
            <a:ln w="1905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KR"/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649B67AC-9447-C243-9AAA-C514649AB0E6}"/>
                </a:ext>
              </a:extLst>
            </p:cNvPr>
            <p:cNvSpPr/>
            <p:nvPr/>
          </p:nvSpPr>
          <p:spPr>
            <a:xfrm>
              <a:off x="1016000" y="2019300"/>
              <a:ext cx="457200" cy="457200"/>
            </a:xfrm>
            <a:prstGeom prst="ellipse">
              <a:avLst/>
            </a:prstGeom>
            <a:solidFill>
              <a:srgbClr val="E86833"/>
            </a:solidFill>
            <a:ln w="1905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wrap="none" rtlCol="0" anchor="ctr" anchorCtr="0">
              <a:noAutofit/>
            </a:bodyPr>
            <a:lstStyle/>
            <a:p>
              <a:pPr algn="l"/>
              <a:r>
                <a:rPr lang="en-KR" sz="1400" b="1">
                  <a:solidFill>
                    <a:srgbClr val="FFFFFF"/>
                  </a:solidFill>
                </a:rPr>
                <a:t>01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4842C2F-1A90-CC42-B196-D55DE799E84D}"/>
                </a:ext>
              </a:extLst>
            </p:cNvPr>
            <p:cNvSpPr txBox="1"/>
            <p:nvPr/>
          </p:nvSpPr>
          <p:spPr>
            <a:xfrm>
              <a:off x="1016000" y="2603500"/>
              <a:ext cx="2844800" cy="830997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spAutoFit/>
            </a:bodyPr>
            <a:lstStyle/>
            <a:p>
              <a:pPr algn="l"/>
              <a:r>
                <a:rPr lang="en-US" sz="2400" b="1" dirty="0">
                  <a:solidFill>
                    <a:srgbClr val="1A1A2E"/>
                  </a:solidFill>
                  <a:latin typeface="Pretendard"/>
                </a:rPr>
                <a:t>Description</a:t>
              </a:r>
              <a:r>
                <a:rPr lang="ko-KR" altLang="en-US" sz="2400" b="1" dirty="0">
                  <a:solidFill>
                    <a:srgbClr val="1A1A2E"/>
                  </a:solidFill>
                  <a:latin typeface="Pretendard"/>
                </a:rPr>
                <a:t>을
명확하게</a:t>
              </a:r>
              <a:endParaRPr lang="en-KR" sz="2400" b="1" dirty="0">
                <a:solidFill>
                  <a:srgbClr val="1A1A2E"/>
                </a:solidFill>
                <a:latin typeface="Pretendard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9F07406-D737-8246-8444-28F077E1594D}"/>
                </a:ext>
              </a:extLst>
            </p:cNvPr>
            <p:cNvSpPr txBox="1"/>
            <p:nvPr/>
          </p:nvSpPr>
          <p:spPr>
            <a:xfrm>
              <a:off x="1016000" y="3619500"/>
              <a:ext cx="2844800" cy="1015663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spAutoFit/>
            </a:bodyPr>
            <a:lstStyle/>
            <a:p>
              <a:pPr algn="l"/>
              <a:r>
                <a:rPr lang="ko-KR" altLang="en-US" sz="2000" dirty="0">
                  <a:solidFill>
                    <a:srgbClr val="4A4A6A"/>
                  </a:solidFill>
                  <a:latin typeface="Pretendard"/>
                </a:rPr>
                <a:t>언제</a:t>
              </a:r>
              <a:r>
                <a:rPr lang="en-US" altLang="ko-KR" sz="2000" dirty="0">
                  <a:solidFill>
                    <a:srgbClr val="4A4A6A"/>
                  </a:solidFill>
                  <a:latin typeface="Pretendard"/>
                </a:rPr>
                <a:t>/</a:t>
              </a:r>
              <a:r>
                <a:rPr lang="ko-KR" altLang="en-US" sz="2000" dirty="0">
                  <a:solidFill>
                    <a:srgbClr val="4A4A6A"/>
                  </a:solidFill>
                  <a:latin typeface="Pretendard"/>
                </a:rPr>
                <a:t>어떻게 써야 하는지
설명이 핵심</a:t>
              </a:r>
              <a:endParaRPr lang="en-KR" sz="2000" dirty="0">
                <a:solidFill>
                  <a:srgbClr val="4A4A6A"/>
                </a:solidFill>
                <a:latin typeface="Pretendard"/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E9EDBF2-AA3B-E656-9962-4490BEDFCBCA}"/>
              </a:ext>
            </a:extLst>
          </p:cNvPr>
          <p:cNvGrpSpPr/>
          <p:nvPr/>
        </p:nvGrpSpPr>
        <p:grpSpPr>
          <a:xfrm>
            <a:off x="4292600" y="1841500"/>
            <a:ext cx="3200400" cy="3429000"/>
            <a:chOff x="4292600" y="1841500"/>
            <a:chExt cx="3200400" cy="3429000"/>
          </a:xfrm>
        </p:grpSpPr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73DBD36D-8A66-AA4E-955B-835A933CC082}"/>
                </a:ext>
              </a:extLst>
            </p:cNvPr>
            <p:cNvSpPr/>
            <p:nvPr/>
          </p:nvSpPr>
          <p:spPr>
            <a:xfrm>
              <a:off x="4292600" y="1841500"/>
              <a:ext cx="3200400" cy="3429000"/>
            </a:xfrm>
            <a:prstGeom prst="roundRect">
              <a:avLst/>
            </a:prstGeom>
            <a:solidFill>
              <a:srgbClr val="F5F0EB"/>
            </a:solidFill>
            <a:ln w="1905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KR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B16B1AAE-94ED-5F42-BAF9-F21178B89921}"/>
                </a:ext>
              </a:extLst>
            </p:cNvPr>
            <p:cNvSpPr/>
            <p:nvPr/>
          </p:nvSpPr>
          <p:spPr>
            <a:xfrm>
              <a:off x="4470400" y="2019300"/>
              <a:ext cx="457200" cy="457200"/>
            </a:xfrm>
            <a:prstGeom prst="ellipse">
              <a:avLst/>
            </a:prstGeom>
            <a:solidFill>
              <a:srgbClr val="E86833"/>
            </a:solidFill>
            <a:ln w="1905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wrap="none" rtlCol="0" anchor="ctr" anchorCtr="0">
              <a:noAutofit/>
            </a:bodyPr>
            <a:lstStyle/>
            <a:p>
              <a:pPr algn="l"/>
              <a:r>
                <a:rPr lang="en-KR" sz="1400" b="1">
                  <a:solidFill>
                    <a:srgbClr val="FFFFFF"/>
                  </a:solidFill>
                </a:rPr>
                <a:t>02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043C277-B2CF-1D49-9C82-5614C49179F3}"/>
                </a:ext>
              </a:extLst>
            </p:cNvPr>
            <p:cNvSpPr txBox="1"/>
            <p:nvPr/>
          </p:nvSpPr>
          <p:spPr>
            <a:xfrm>
              <a:off x="4470400" y="2603500"/>
              <a:ext cx="2844800" cy="830997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spAutoFit/>
            </a:bodyPr>
            <a:lstStyle/>
            <a:p>
              <a:pPr algn="l"/>
              <a:r>
                <a:rPr lang="ko-KR" altLang="en-US" sz="2400" b="1">
                  <a:solidFill>
                    <a:srgbClr val="1A1A2E"/>
                  </a:solidFill>
                  <a:latin typeface="Pretendard"/>
                </a:rPr>
                <a:t>파라미터 스키마
정확하게</a:t>
              </a:r>
              <a:endParaRPr lang="en-KR" sz="2400" b="1">
                <a:solidFill>
                  <a:srgbClr val="1A1A2E"/>
                </a:solidFill>
                <a:latin typeface="Pretendard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532F970-2AB2-A343-B8F2-F6C8C5B2936D}"/>
                </a:ext>
              </a:extLst>
            </p:cNvPr>
            <p:cNvSpPr txBox="1"/>
            <p:nvPr/>
          </p:nvSpPr>
          <p:spPr>
            <a:xfrm>
              <a:off x="4470400" y="3619500"/>
              <a:ext cx="2844800" cy="707886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spAutoFit/>
            </a:bodyPr>
            <a:lstStyle/>
            <a:p>
              <a:pPr algn="l"/>
              <a:r>
                <a:rPr lang="ko-KR" altLang="en-US" sz="2000">
                  <a:solidFill>
                    <a:srgbClr val="4A4A6A"/>
                  </a:solidFill>
                  <a:latin typeface="Pretendard"/>
                </a:rPr>
                <a:t>타입</a:t>
              </a:r>
              <a:r>
                <a:rPr lang="en-US" altLang="ko-KR" sz="2000">
                  <a:solidFill>
                    <a:srgbClr val="4A4A6A"/>
                  </a:solidFill>
                  <a:latin typeface="Pretendard"/>
                </a:rPr>
                <a:t>, </a:t>
              </a:r>
              <a:r>
                <a:rPr lang="ko-KR" altLang="en-US" sz="2000">
                  <a:solidFill>
                    <a:srgbClr val="4A4A6A"/>
                  </a:solidFill>
                  <a:latin typeface="Pretendard"/>
                </a:rPr>
                <a:t>필수 여부</a:t>
              </a:r>
              <a:r>
                <a:rPr lang="en-US" altLang="ko-KR" sz="2000">
                  <a:solidFill>
                    <a:srgbClr val="4A4A6A"/>
                  </a:solidFill>
                  <a:latin typeface="Pretendard"/>
                </a:rPr>
                <a:t>, </a:t>
              </a:r>
              <a:r>
                <a:rPr lang="ko-KR" altLang="en-US" sz="2000">
                  <a:solidFill>
                    <a:srgbClr val="4A4A6A"/>
                  </a:solidFill>
                  <a:latin typeface="Pretendard"/>
                </a:rPr>
                <a:t>허용 값
등을 정확히 정의</a:t>
              </a:r>
              <a:endParaRPr lang="en-KR" sz="2000">
                <a:solidFill>
                  <a:srgbClr val="4A4A6A"/>
                </a:solidFill>
                <a:latin typeface="Pretendard"/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9E63401-F298-BAFD-6188-527AEA76B278}"/>
              </a:ext>
            </a:extLst>
          </p:cNvPr>
          <p:cNvGrpSpPr/>
          <p:nvPr/>
        </p:nvGrpSpPr>
        <p:grpSpPr>
          <a:xfrm>
            <a:off x="7747000" y="1841500"/>
            <a:ext cx="3200400" cy="3429000"/>
            <a:chOff x="7747000" y="1841500"/>
            <a:chExt cx="3200400" cy="3429000"/>
          </a:xfrm>
        </p:grpSpPr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98ACE69F-4FB1-9A4B-9205-22DCF086CF45}"/>
                </a:ext>
              </a:extLst>
            </p:cNvPr>
            <p:cNvSpPr/>
            <p:nvPr/>
          </p:nvSpPr>
          <p:spPr>
            <a:xfrm>
              <a:off x="7747000" y="1841500"/>
              <a:ext cx="3200400" cy="3429000"/>
            </a:xfrm>
            <a:prstGeom prst="roundRect">
              <a:avLst/>
            </a:prstGeom>
            <a:solidFill>
              <a:srgbClr val="F5F0EB"/>
            </a:solidFill>
            <a:ln w="1905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KR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979D2C1B-0EA1-BF43-96D4-9593049F351A}"/>
                </a:ext>
              </a:extLst>
            </p:cNvPr>
            <p:cNvSpPr/>
            <p:nvPr/>
          </p:nvSpPr>
          <p:spPr>
            <a:xfrm>
              <a:off x="7924800" y="2019300"/>
              <a:ext cx="457200" cy="457200"/>
            </a:xfrm>
            <a:prstGeom prst="ellipse">
              <a:avLst/>
            </a:prstGeom>
            <a:solidFill>
              <a:srgbClr val="E86833"/>
            </a:solidFill>
            <a:ln w="1905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wrap="none" rtlCol="0" anchor="ctr" anchorCtr="0">
              <a:noAutofit/>
            </a:bodyPr>
            <a:lstStyle/>
            <a:p>
              <a:pPr algn="l"/>
              <a:r>
                <a:rPr lang="en-KR" sz="1400" b="1">
                  <a:solidFill>
                    <a:srgbClr val="FFFFFF"/>
                  </a:solidFill>
                </a:rPr>
                <a:t>03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B3C949B-A092-614A-8D81-3A1C1B910362}"/>
                </a:ext>
              </a:extLst>
            </p:cNvPr>
            <p:cNvSpPr txBox="1"/>
            <p:nvPr/>
          </p:nvSpPr>
          <p:spPr>
            <a:xfrm>
              <a:off x="7924800" y="2603500"/>
              <a:ext cx="2844800" cy="830997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spAutoFit/>
            </a:bodyPr>
            <a:lstStyle/>
            <a:p>
              <a:pPr algn="l"/>
              <a:r>
                <a:rPr lang="ko-KR" altLang="en-US" sz="2400" b="1">
                  <a:solidFill>
                    <a:srgbClr val="1A1A2E"/>
                  </a:solidFill>
                  <a:latin typeface="Pretendard"/>
                </a:rPr>
                <a:t>일부 파라미터는
고정값이 더 안전</a:t>
              </a:r>
              <a:endParaRPr lang="en-KR" sz="2400" b="1">
                <a:solidFill>
                  <a:srgbClr val="1A1A2E"/>
                </a:solidFill>
                <a:latin typeface="Pretendard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761D5258-66AF-1B45-A656-B65977FBB810}"/>
                </a:ext>
              </a:extLst>
            </p:cNvPr>
            <p:cNvSpPr txBox="1"/>
            <p:nvPr/>
          </p:nvSpPr>
          <p:spPr>
            <a:xfrm>
              <a:off x="7924800" y="3619500"/>
              <a:ext cx="2844800" cy="1323439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spAutoFit/>
            </a:bodyPr>
            <a:lstStyle/>
            <a:p>
              <a:pPr algn="l"/>
              <a:r>
                <a:rPr lang="en-US" sz="2000">
                  <a:solidFill>
                    <a:srgbClr val="4A4A6A"/>
                  </a:solidFill>
                  <a:latin typeface="Pretendard"/>
                </a:rPr>
                <a:t>LLM</a:t>
              </a:r>
              <a:r>
                <a:rPr lang="ko-KR" altLang="en-US" sz="2000">
                  <a:solidFill>
                    <a:srgbClr val="4A4A6A"/>
                  </a:solidFill>
                  <a:latin typeface="Pretendard"/>
                </a:rPr>
                <a:t>이 매번 생성하는 것보다
고정값이 나은 경우 있음</a:t>
              </a:r>
              <a:endParaRPr lang="en-KR" sz="2000">
                <a:solidFill>
                  <a:srgbClr val="4A4A6A"/>
                </a:solidFill>
                <a:latin typeface="Pretendard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788615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0A4E06-7024-A843-7523-6454322529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>
              <a:buNone/>
            </a:pPr>
            <a:r>
              <a:rPr lang="ko-KR" sz="3200" b="1" dirty="0">
                <a:solidFill>
                  <a:srgbClr val="1A1A2E"/>
                </a:solidFill>
                <a:latin typeface="Pretendard"/>
                <a:ea typeface="Pretendard"/>
              </a:rPr>
              <a:t>에이전트 하나로 다 하면?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2EF8BF3-8AF9-5C41-9513-2B81678F015A}"/>
              </a:ext>
            </a:extLst>
          </p:cNvPr>
          <p:cNvSpPr/>
          <p:nvPr/>
        </p:nvSpPr>
        <p:spPr>
          <a:xfrm>
            <a:off x="838200" y="1905000"/>
            <a:ext cx="3200400" cy="2667000"/>
          </a:xfrm>
          <a:prstGeom prst="roundRect">
            <a:avLst/>
          </a:prstGeom>
          <a:solidFill>
            <a:srgbClr val="FFF3E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KR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778C12F-A55A-BC42-937F-EB56DB874A40}"/>
              </a:ext>
            </a:extLst>
          </p:cNvPr>
          <p:cNvSpPr/>
          <p:nvPr/>
        </p:nvSpPr>
        <p:spPr>
          <a:xfrm>
            <a:off x="4292600" y="1905000"/>
            <a:ext cx="3200400" cy="2667000"/>
          </a:xfrm>
          <a:prstGeom prst="roundRect">
            <a:avLst/>
          </a:prstGeom>
          <a:solidFill>
            <a:srgbClr val="FFF3E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KR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2460D517-52F0-7945-9F98-68D037216A8E}"/>
              </a:ext>
            </a:extLst>
          </p:cNvPr>
          <p:cNvSpPr/>
          <p:nvPr/>
        </p:nvSpPr>
        <p:spPr>
          <a:xfrm>
            <a:off x="7747000" y="1905000"/>
            <a:ext cx="3200400" cy="2667000"/>
          </a:xfrm>
          <a:prstGeom prst="roundRect">
            <a:avLst/>
          </a:prstGeom>
          <a:solidFill>
            <a:srgbClr val="FFF3E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KR"/>
          </a:p>
        </p:txBody>
      </p:sp>
      <p:sp>
        <p:nvSpPr>
          <p:cNvPr id="7" name="Triangle 6">
            <a:extLst>
              <a:ext uri="{FF2B5EF4-FFF2-40B4-BE49-F238E27FC236}">
                <a16:creationId xmlns:a16="http://schemas.microsoft.com/office/drawing/2014/main" id="{5C545B12-9E47-9B45-A676-918F5EFA8032}"/>
              </a:ext>
            </a:extLst>
          </p:cNvPr>
          <p:cNvSpPr/>
          <p:nvPr/>
        </p:nvSpPr>
        <p:spPr>
          <a:xfrm>
            <a:off x="1016000" y="2133600"/>
            <a:ext cx="355600" cy="304800"/>
          </a:xfrm>
          <a:prstGeom prst="triangle">
            <a:avLst/>
          </a:prstGeom>
          <a:solidFill>
            <a:srgbClr val="E71D3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K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35A447F-5979-3A42-B2AD-CF1836B035EE}"/>
              </a:ext>
            </a:extLst>
          </p:cNvPr>
          <p:cNvSpPr txBox="1"/>
          <p:nvPr/>
        </p:nvSpPr>
        <p:spPr>
          <a:xfrm>
            <a:off x="1016000" y="2603500"/>
            <a:ext cx="28448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2400" b="1" dirty="0">
                <a:solidFill>
                  <a:srgbClr val="1A1A2E"/>
                </a:solidFill>
                <a:latin typeface="Pretendard"/>
              </a:rPr>
              <a:t>컨텍스트 과부하</a:t>
            </a:r>
            <a:endParaRPr lang="en-KR" sz="2400" b="1" dirty="0">
              <a:solidFill>
                <a:srgbClr val="1A1A2E"/>
              </a:solidFill>
              <a:latin typeface="Pretendard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C6AED9F-4148-C847-88E3-3863AC8B87B5}"/>
              </a:ext>
            </a:extLst>
          </p:cNvPr>
          <p:cNvSpPr txBox="1"/>
          <p:nvPr/>
        </p:nvSpPr>
        <p:spPr>
          <a:xfrm>
            <a:off x="1016000" y="3111500"/>
            <a:ext cx="2844800" cy="40011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2000">
                <a:solidFill>
                  <a:srgbClr val="E71D36"/>
                </a:solidFill>
                <a:latin typeface="Pretendard"/>
              </a:rPr>
              <a:t>→ 성능 저하</a:t>
            </a:r>
            <a:endParaRPr lang="en-KR" sz="2000">
              <a:solidFill>
                <a:srgbClr val="E71D36"/>
              </a:solidFill>
              <a:latin typeface="Pretendard"/>
            </a:endParaRPr>
          </a:p>
        </p:txBody>
      </p:sp>
      <p:sp>
        <p:nvSpPr>
          <p:cNvPr id="10" name="Triangle 9">
            <a:extLst>
              <a:ext uri="{FF2B5EF4-FFF2-40B4-BE49-F238E27FC236}">
                <a16:creationId xmlns:a16="http://schemas.microsoft.com/office/drawing/2014/main" id="{A677EE61-6A65-4144-ADC0-FBE0A22C73BB}"/>
              </a:ext>
            </a:extLst>
          </p:cNvPr>
          <p:cNvSpPr/>
          <p:nvPr/>
        </p:nvSpPr>
        <p:spPr>
          <a:xfrm>
            <a:off x="4470400" y="2133600"/>
            <a:ext cx="355600" cy="304800"/>
          </a:xfrm>
          <a:prstGeom prst="triangle">
            <a:avLst/>
          </a:prstGeom>
          <a:solidFill>
            <a:srgbClr val="E71D3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KR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49DD45C-F062-6D4C-B904-261B69F2A12B}"/>
              </a:ext>
            </a:extLst>
          </p:cNvPr>
          <p:cNvSpPr txBox="1"/>
          <p:nvPr/>
        </p:nvSpPr>
        <p:spPr>
          <a:xfrm>
            <a:off x="4470400" y="2603500"/>
            <a:ext cx="28448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2400" b="1">
                <a:solidFill>
                  <a:srgbClr val="1A1A2E"/>
                </a:solidFill>
                <a:latin typeface="Pretendard"/>
              </a:rPr>
              <a:t>역할 경계 모호</a:t>
            </a:r>
            <a:endParaRPr lang="en-KR" sz="2400" b="1">
              <a:solidFill>
                <a:srgbClr val="1A1A2E"/>
              </a:solidFill>
              <a:latin typeface="Pretendard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E34E9C8-40C1-B04F-824E-2B548AD86D53}"/>
              </a:ext>
            </a:extLst>
          </p:cNvPr>
          <p:cNvSpPr txBox="1"/>
          <p:nvPr/>
        </p:nvSpPr>
        <p:spPr>
          <a:xfrm>
            <a:off x="4470400" y="3111500"/>
            <a:ext cx="2844800" cy="40011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2000">
                <a:solidFill>
                  <a:srgbClr val="E71D36"/>
                </a:solidFill>
                <a:latin typeface="Pretendard"/>
              </a:rPr>
              <a:t>→ 예측 불가 동작</a:t>
            </a:r>
            <a:endParaRPr lang="en-KR" sz="2000">
              <a:solidFill>
                <a:srgbClr val="E71D36"/>
              </a:solidFill>
              <a:latin typeface="Pretendard"/>
            </a:endParaRPr>
          </a:p>
        </p:txBody>
      </p:sp>
      <p:sp>
        <p:nvSpPr>
          <p:cNvPr id="13" name="Triangle 12">
            <a:extLst>
              <a:ext uri="{FF2B5EF4-FFF2-40B4-BE49-F238E27FC236}">
                <a16:creationId xmlns:a16="http://schemas.microsoft.com/office/drawing/2014/main" id="{FEDEF1F2-A196-BA4F-8B9B-E4B737FC7BA4}"/>
              </a:ext>
            </a:extLst>
          </p:cNvPr>
          <p:cNvSpPr/>
          <p:nvPr/>
        </p:nvSpPr>
        <p:spPr>
          <a:xfrm>
            <a:off x="7924800" y="2133600"/>
            <a:ext cx="355600" cy="304800"/>
          </a:xfrm>
          <a:prstGeom prst="triangle">
            <a:avLst/>
          </a:prstGeom>
          <a:solidFill>
            <a:srgbClr val="E71D3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KR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45C212B-C6EF-374E-8663-6C4027A06D46}"/>
              </a:ext>
            </a:extLst>
          </p:cNvPr>
          <p:cNvSpPr txBox="1"/>
          <p:nvPr/>
        </p:nvSpPr>
        <p:spPr>
          <a:xfrm>
            <a:off x="7924800" y="2603500"/>
            <a:ext cx="28448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2400" b="1">
                <a:solidFill>
                  <a:srgbClr val="1A1A2E"/>
                </a:solidFill>
                <a:latin typeface="Pretendard"/>
              </a:rPr>
              <a:t>오류 추적 어려움</a:t>
            </a:r>
            <a:endParaRPr lang="en-KR" sz="2400" b="1">
              <a:solidFill>
                <a:srgbClr val="1A1A2E"/>
              </a:solidFill>
              <a:latin typeface="Pretendard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785B97B-9914-FA4A-ABA1-046DE1045426}"/>
              </a:ext>
            </a:extLst>
          </p:cNvPr>
          <p:cNvSpPr txBox="1"/>
          <p:nvPr/>
        </p:nvSpPr>
        <p:spPr>
          <a:xfrm>
            <a:off x="7924800" y="3111500"/>
            <a:ext cx="2844800" cy="707886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2000">
                <a:solidFill>
                  <a:srgbClr val="E71D36"/>
                </a:solidFill>
                <a:latin typeface="Pretendard"/>
              </a:rPr>
              <a:t>→ 어디서 틀렸는지 모름</a:t>
            </a:r>
            <a:endParaRPr lang="en-KR" sz="2000">
              <a:solidFill>
                <a:srgbClr val="E71D36"/>
              </a:solidFill>
              <a:latin typeface="Pretendard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09ECE9EC-E1F4-DC44-9E49-5DE9998F06EE}"/>
              </a:ext>
            </a:extLst>
          </p:cNvPr>
          <p:cNvSpPr/>
          <p:nvPr/>
        </p:nvSpPr>
        <p:spPr>
          <a:xfrm>
            <a:off x="838200" y="4953000"/>
            <a:ext cx="10109200" cy="834483"/>
          </a:xfrm>
          <a:prstGeom prst="roundRect">
            <a:avLst/>
          </a:prstGeom>
          <a:solidFill>
            <a:srgbClr val="E71D3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ko-KR" altLang="en-US" sz="2400" b="1" dirty="0">
                <a:solidFill>
                  <a:srgbClr val="FFFFFF"/>
                </a:solidFill>
                <a:latin typeface="Pretendard"/>
              </a:rPr>
              <a:t>→ 역할 분리 필요</a:t>
            </a:r>
            <a:endParaRPr lang="en-KR" sz="2400" b="1" dirty="0">
              <a:solidFill>
                <a:srgbClr val="FFFFFF"/>
              </a:solidFill>
              <a:latin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1812750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ole0"/>
          <p:cNvSpPr/>
          <p:nvPr/>
        </p:nvSpPr>
        <p:spPr>
          <a:xfrm>
            <a:off x="883920" y="2505250"/>
            <a:ext cx="2468880" cy="268400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E8EE"/>
            </a:solidFill>
          </a:ln>
        </p:spPr>
        <p:txBody>
          <a:bodyPr wrap="square" lIns="182880" tIns="228600" rIns="182880" bIns="91440" anchor="t"/>
          <a:lstStyle/>
          <a:p>
            <a:pPr algn="l">
              <a:buNone/>
            </a:pPr>
            <a:r>
              <a:rPr lang="ko-KR" sz="2400" b="1" dirty="0">
                <a:solidFill>
                  <a:srgbClr val="FF6B35"/>
                </a:solidFill>
                <a:latin typeface="Pretendard"/>
                <a:ea typeface="Pretendard"/>
              </a:rPr>
              <a:t>분류</a:t>
            </a:r>
          </a:p>
          <a:p>
            <a:pPr>
              <a:buNone/>
            </a:pPr>
            <a:endParaRPr lang="ko-KR" sz="400" dirty="0"/>
          </a:p>
          <a:p>
            <a:pPr algn="l">
              <a:buFont typeface="Arial"/>
              <a:buChar char="→"/>
            </a:pPr>
            <a:endParaRPr lang="en-US" altLang="ko-KR" sz="1400" dirty="0">
              <a:solidFill>
                <a:srgbClr val="2D2D44"/>
              </a:solidFill>
              <a:latin typeface="Pretendard"/>
              <a:ea typeface="Pretendard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ko-KR" sz="2000" dirty="0">
                <a:solidFill>
                  <a:srgbClr val="2D2D44"/>
                </a:solidFill>
                <a:latin typeface="Pretendard"/>
                <a:ea typeface="Pretendard"/>
              </a:rPr>
              <a:t>콘텐츠 조회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ko-KR" sz="2000" dirty="0">
                <a:solidFill>
                  <a:srgbClr val="2D2D44"/>
                </a:solidFill>
                <a:latin typeface="Pretendard"/>
                <a:ea typeface="Pretendard"/>
              </a:rPr>
              <a:t>처리 항목 선택</a:t>
            </a:r>
          </a:p>
        </p:txBody>
      </p:sp>
      <p:sp>
        <p:nvSpPr>
          <p:cNvPr id="21" name="Role1"/>
          <p:cNvSpPr/>
          <p:nvPr/>
        </p:nvSpPr>
        <p:spPr>
          <a:xfrm>
            <a:off x="3535680" y="2505250"/>
            <a:ext cx="2468880" cy="268400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E8EE"/>
            </a:solidFill>
          </a:ln>
        </p:spPr>
        <p:txBody>
          <a:bodyPr wrap="square" lIns="182880" tIns="228600" rIns="182880" bIns="91440" anchor="t"/>
          <a:lstStyle/>
          <a:p>
            <a:pPr algn="l">
              <a:buNone/>
            </a:pPr>
            <a:r>
              <a:rPr lang="ko-KR" sz="2400" b="1" dirty="0">
                <a:solidFill>
                  <a:srgbClr val="4361EE"/>
                </a:solidFill>
                <a:latin typeface="Pretendard"/>
                <a:ea typeface="Pretendard"/>
              </a:rPr>
              <a:t>검토</a:t>
            </a:r>
          </a:p>
          <a:p>
            <a:pPr>
              <a:buNone/>
            </a:pPr>
            <a:endParaRPr lang="ko-KR" sz="40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altLang="ko-KR" sz="1400" dirty="0">
              <a:solidFill>
                <a:srgbClr val="2D2D44"/>
              </a:solidFill>
              <a:latin typeface="Pretendard"/>
              <a:ea typeface="Pretendard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ko-KR" sz="2000" dirty="0">
                <a:solidFill>
                  <a:srgbClr val="2D2D44"/>
                </a:solidFill>
                <a:latin typeface="Pretendard"/>
                <a:ea typeface="Pretendard"/>
              </a:rPr>
              <a:t>정책 조회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ko-KR" sz="2000" dirty="0">
                <a:solidFill>
                  <a:srgbClr val="2D2D44"/>
                </a:solidFill>
                <a:latin typeface="Pretendard"/>
                <a:ea typeface="Pretendard"/>
              </a:rPr>
              <a:t>수락/거부 판단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ko-KR" sz="2000" dirty="0">
                <a:solidFill>
                  <a:srgbClr val="2D2D44"/>
                </a:solidFill>
                <a:latin typeface="Pretendard"/>
                <a:ea typeface="Pretendard"/>
              </a:rPr>
              <a:t>(주관 배제)</a:t>
            </a:r>
          </a:p>
        </p:txBody>
      </p:sp>
      <p:sp>
        <p:nvSpPr>
          <p:cNvPr id="22" name="Role2"/>
          <p:cNvSpPr/>
          <p:nvPr/>
        </p:nvSpPr>
        <p:spPr>
          <a:xfrm>
            <a:off x="6187440" y="2505250"/>
            <a:ext cx="2468880" cy="268400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E8EE"/>
            </a:solidFill>
          </a:ln>
        </p:spPr>
        <p:txBody>
          <a:bodyPr wrap="square" lIns="182880" tIns="228600" rIns="182880" bIns="91440" anchor="t"/>
          <a:lstStyle/>
          <a:p>
            <a:pPr algn="l">
              <a:buNone/>
            </a:pPr>
            <a:r>
              <a:rPr lang="ko-KR" sz="2400" b="1" dirty="0">
                <a:solidFill>
                  <a:srgbClr val="2EC4B6"/>
                </a:solidFill>
                <a:latin typeface="Pretendard"/>
                <a:ea typeface="Pretendard"/>
              </a:rPr>
              <a:t>검증</a:t>
            </a:r>
          </a:p>
          <a:p>
            <a:pPr>
              <a:buNone/>
            </a:pPr>
            <a:endParaRPr lang="ko-KR" sz="40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altLang="ko-KR" sz="1400" dirty="0">
              <a:solidFill>
                <a:srgbClr val="2D2D44"/>
              </a:solidFill>
              <a:latin typeface="Pretendard"/>
              <a:ea typeface="Pretendard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ko-KR" sz="2000" dirty="0">
                <a:solidFill>
                  <a:srgbClr val="2D2D44"/>
                </a:solidFill>
                <a:latin typeface="Pretendard"/>
                <a:ea typeface="Pretendard"/>
              </a:rPr>
              <a:t>체크리스트 실행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ko-KR" sz="2000" dirty="0">
                <a:solidFill>
                  <a:srgbClr val="2D2D44"/>
                </a:solidFill>
                <a:latin typeface="Pretendard"/>
                <a:ea typeface="Pretendard"/>
              </a:rPr>
              <a:t>오판단 발견 시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ko-KR" sz="2000" dirty="0">
                <a:solidFill>
                  <a:srgbClr val="2D2D44"/>
                </a:solidFill>
                <a:latin typeface="Pretendard"/>
                <a:ea typeface="Pretendard"/>
              </a:rPr>
              <a:t>재검토 루프</a:t>
            </a:r>
          </a:p>
        </p:txBody>
      </p:sp>
      <p:sp>
        <p:nvSpPr>
          <p:cNvPr id="23" name="Role3"/>
          <p:cNvSpPr/>
          <p:nvPr/>
        </p:nvSpPr>
        <p:spPr>
          <a:xfrm>
            <a:off x="8839200" y="2505250"/>
            <a:ext cx="2468880" cy="268400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E8EE"/>
            </a:solidFill>
          </a:ln>
        </p:spPr>
        <p:txBody>
          <a:bodyPr wrap="square" lIns="182880" tIns="228600" rIns="182880" bIns="91440" anchor="t"/>
          <a:lstStyle/>
          <a:p>
            <a:pPr algn="l">
              <a:buNone/>
            </a:pPr>
            <a:r>
              <a:rPr lang="ko-KR" sz="2400" b="1" dirty="0">
                <a:solidFill>
                  <a:srgbClr val="7209B7"/>
                </a:solidFill>
                <a:latin typeface="Pretendard"/>
                <a:ea typeface="Pretendard"/>
              </a:rPr>
              <a:t>처리</a:t>
            </a:r>
          </a:p>
          <a:p>
            <a:pPr>
              <a:buNone/>
            </a:pPr>
            <a:endParaRPr lang="ko-KR" sz="40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altLang="ko-KR" sz="1400" dirty="0">
              <a:solidFill>
                <a:srgbClr val="2D2D44"/>
              </a:solidFill>
              <a:latin typeface="Pretendard"/>
              <a:ea typeface="Pretendard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ko-KR" sz="2000" dirty="0">
                <a:solidFill>
                  <a:srgbClr val="2D2D44"/>
                </a:solidFill>
                <a:latin typeface="Pretendard"/>
                <a:ea typeface="Pretendard"/>
              </a:rPr>
              <a:t>우선순위 선택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ko-KR" sz="2000" dirty="0">
                <a:solidFill>
                  <a:srgbClr val="2D2D44"/>
                </a:solidFill>
                <a:latin typeface="Pretendard"/>
                <a:ea typeface="Pretendard"/>
              </a:rPr>
              <a:t>알림 생성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ko-KR" sz="2000" dirty="0">
                <a:solidFill>
                  <a:srgbClr val="2D2D44"/>
                </a:solidFill>
                <a:latin typeface="Pretendard"/>
                <a:ea typeface="Pretendard"/>
              </a:rPr>
              <a:t>API 호출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DE1735-D9E7-887B-DEF1-DE8BE92D4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b="1" dirty="0"/>
              <a:t>에이전트 팀</a:t>
            </a:r>
            <a:endParaRPr lang="en-KR" sz="3200" b="1" dirty="0"/>
          </a:p>
        </p:txBody>
      </p:sp>
    </p:spTree>
    <p:extLst>
      <p:ext uri="{BB962C8B-B14F-4D97-AF65-F5344CB8AC3E}">
        <p14:creationId xmlns:p14="http://schemas.microsoft.com/office/powerpoint/2010/main" val="38782341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4746D-6C40-F033-8D28-5493AD710F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b="1" dirty="0"/>
              <a:t>에이전트 팀의 협업 과정</a:t>
            </a:r>
            <a:endParaRPr lang="en-KR" sz="3200" b="1" dirty="0"/>
          </a:p>
        </p:txBody>
      </p:sp>
      <p:sp>
        <p:nvSpPr>
          <p:cNvPr id="20" name="Agent0"/>
          <p:cNvSpPr/>
          <p:nvPr/>
        </p:nvSpPr>
        <p:spPr>
          <a:xfrm>
            <a:off x="1066800" y="2517766"/>
            <a:ext cx="2103120" cy="1371600"/>
          </a:xfrm>
          <a:prstGeom prst="roundRect">
            <a:avLst>
              <a:gd name="adj" fmla="val 8000"/>
            </a:avLst>
          </a:prstGeom>
          <a:solidFill>
            <a:srgbClr val="FF6B35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ko-KR" sz="1800" b="1" dirty="0">
                <a:solidFill>
                  <a:srgbClr val="FFFFFF"/>
                </a:solidFill>
                <a:latin typeface="Pretendard"/>
                <a:ea typeface="Pretendard"/>
              </a:rPr>
              <a:t>분류</a:t>
            </a:r>
          </a:p>
          <a:p>
            <a:pPr algn="ctr">
              <a:buNone/>
            </a:pPr>
            <a:r>
              <a:rPr lang="ko-KR" sz="1800" b="1" dirty="0">
                <a:solidFill>
                  <a:srgbClr val="FFFFFF"/>
                </a:solidFill>
                <a:latin typeface="Pretendard"/>
                <a:ea typeface="Pretendard"/>
              </a:rPr>
              <a:t>에이전트</a:t>
            </a:r>
          </a:p>
        </p:txBody>
      </p:sp>
      <p:sp>
        <p:nvSpPr>
          <p:cNvPr id="30" name="Arrow0"/>
          <p:cNvSpPr/>
          <p:nvPr/>
        </p:nvSpPr>
        <p:spPr>
          <a:xfrm>
            <a:off x="3215640" y="3112126"/>
            <a:ext cx="457200" cy="182880"/>
          </a:xfrm>
          <a:prstGeom prst="rightArrow">
            <a:avLst/>
          </a:prstGeom>
          <a:solidFill>
            <a:srgbClr val="CCCCD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" name="Agent1"/>
          <p:cNvSpPr/>
          <p:nvPr/>
        </p:nvSpPr>
        <p:spPr>
          <a:xfrm>
            <a:off x="3718560" y="2517766"/>
            <a:ext cx="2103120" cy="1371600"/>
          </a:xfrm>
          <a:prstGeom prst="roundRect">
            <a:avLst>
              <a:gd name="adj" fmla="val 8000"/>
            </a:avLst>
          </a:prstGeom>
          <a:solidFill>
            <a:srgbClr val="4361EE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ko-KR" sz="1800" b="1" dirty="0">
                <a:solidFill>
                  <a:srgbClr val="FFFFFF"/>
                </a:solidFill>
                <a:latin typeface="Pretendard"/>
                <a:ea typeface="Pretendard"/>
              </a:rPr>
              <a:t>검토</a:t>
            </a:r>
          </a:p>
          <a:p>
            <a:pPr algn="ctr">
              <a:buNone/>
            </a:pPr>
            <a:r>
              <a:rPr lang="ko-KR" sz="1800" b="1" dirty="0">
                <a:solidFill>
                  <a:srgbClr val="FFFFFF"/>
                </a:solidFill>
                <a:latin typeface="Pretendard"/>
                <a:ea typeface="Pretendard"/>
              </a:rPr>
              <a:t>에이전트</a:t>
            </a:r>
          </a:p>
        </p:txBody>
      </p:sp>
      <p:sp>
        <p:nvSpPr>
          <p:cNvPr id="31" name="Arrow1"/>
          <p:cNvSpPr/>
          <p:nvPr/>
        </p:nvSpPr>
        <p:spPr>
          <a:xfrm>
            <a:off x="5867400" y="3112126"/>
            <a:ext cx="457200" cy="182880"/>
          </a:xfrm>
          <a:prstGeom prst="rightArrow">
            <a:avLst/>
          </a:prstGeom>
          <a:solidFill>
            <a:srgbClr val="CCCCD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" name="Agent2"/>
          <p:cNvSpPr/>
          <p:nvPr/>
        </p:nvSpPr>
        <p:spPr>
          <a:xfrm>
            <a:off x="6370320" y="2517766"/>
            <a:ext cx="2103120" cy="1371600"/>
          </a:xfrm>
          <a:prstGeom prst="roundRect">
            <a:avLst>
              <a:gd name="adj" fmla="val 8000"/>
            </a:avLst>
          </a:prstGeom>
          <a:solidFill>
            <a:srgbClr val="2EC4B6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ko-KR" sz="1800" b="1" dirty="0">
                <a:solidFill>
                  <a:srgbClr val="FFFFFF"/>
                </a:solidFill>
                <a:latin typeface="Pretendard"/>
                <a:ea typeface="Pretendard"/>
              </a:rPr>
              <a:t>검증</a:t>
            </a:r>
          </a:p>
          <a:p>
            <a:pPr algn="ctr">
              <a:buNone/>
            </a:pPr>
            <a:r>
              <a:rPr lang="ko-KR" sz="1800" b="1" dirty="0">
                <a:solidFill>
                  <a:srgbClr val="FFFFFF"/>
                </a:solidFill>
                <a:latin typeface="Pretendard"/>
                <a:ea typeface="Pretendard"/>
              </a:rPr>
              <a:t>에이전트</a:t>
            </a:r>
          </a:p>
        </p:txBody>
      </p:sp>
      <p:sp>
        <p:nvSpPr>
          <p:cNvPr id="32" name="Arrow2"/>
          <p:cNvSpPr/>
          <p:nvPr/>
        </p:nvSpPr>
        <p:spPr>
          <a:xfrm>
            <a:off x="8519160" y="3112126"/>
            <a:ext cx="457200" cy="182880"/>
          </a:xfrm>
          <a:prstGeom prst="rightArrow">
            <a:avLst/>
          </a:prstGeom>
          <a:solidFill>
            <a:srgbClr val="CCCCD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" name="Agent3"/>
          <p:cNvSpPr/>
          <p:nvPr/>
        </p:nvSpPr>
        <p:spPr>
          <a:xfrm>
            <a:off x="9022080" y="2517766"/>
            <a:ext cx="2103120" cy="1371600"/>
          </a:xfrm>
          <a:prstGeom prst="roundRect">
            <a:avLst>
              <a:gd name="adj" fmla="val 8000"/>
            </a:avLst>
          </a:prstGeom>
          <a:solidFill>
            <a:srgbClr val="7209B7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ko-KR" sz="1800" b="1" dirty="0">
                <a:solidFill>
                  <a:srgbClr val="FFFFFF"/>
                </a:solidFill>
                <a:latin typeface="Pretendard"/>
                <a:ea typeface="Pretendard"/>
              </a:rPr>
              <a:t>처리</a:t>
            </a:r>
          </a:p>
          <a:p>
            <a:pPr algn="ctr">
              <a:buNone/>
            </a:pPr>
            <a:r>
              <a:rPr lang="ko-KR" sz="1800" b="1" dirty="0">
                <a:solidFill>
                  <a:srgbClr val="FFFFFF"/>
                </a:solidFill>
                <a:latin typeface="Pretendard"/>
                <a:ea typeface="Pretendard"/>
              </a:rPr>
              <a:t>에이전트</a:t>
            </a:r>
          </a:p>
        </p:txBody>
      </p:sp>
      <p:sp>
        <p:nvSpPr>
          <p:cNvPr id="41" name="LoopLabel"/>
          <p:cNvSpPr txBox="1"/>
          <p:nvPr/>
        </p:nvSpPr>
        <p:spPr>
          <a:xfrm>
            <a:off x="4632960" y="4870358"/>
            <a:ext cx="2926080" cy="40233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ko-KR" b="1" dirty="0">
                <a:solidFill>
                  <a:srgbClr val="E71D36"/>
                </a:solidFill>
                <a:latin typeface="Pretendard"/>
                <a:ea typeface="Pretendard"/>
              </a:rPr>
              <a:t>오판단 발견 시 재검토</a:t>
            </a:r>
          </a:p>
        </p:txBody>
      </p:sp>
      <p:sp>
        <p:nvSpPr>
          <p:cNvPr id="5" name="U-Turn Arrow 4">
            <a:extLst>
              <a:ext uri="{FF2B5EF4-FFF2-40B4-BE49-F238E27FC236}">
                <a16:creationId xmlns:a16="http://schemas.microsoft.com/office/drawing/2014/main" id="{BF9E572E-CCDE-B248-BA3D-95A8EA62AA51}"/>
              </a:ext>
            </a:extLst>
          </p:cNvPr>
          <p:cNvSpPr/>
          <p:nvPr/>
        </p:nvSpPr>
        <p:spPr>
          <a:xfrm rot="10800000">
            <a:off x="4599094" y="3889363"/>
            <a:ext cx="2926080" cy="782707"/>
          </a:xfrm>
          <a:prstGeom prst="uturnArrow">
            <a:avLst>
              <a:gd name="adj1" fmla="val 18220"/>
              <a:gd name="adj2" fmla="val 25000"/>
              <a:gd name="adj3" fmla="val 25000"/>
              <a:gd name="adj4" fmla="val 43750"/>
              <a:gd name="adj5" fmla="val 94471"/>
            </a:avLst>
          </a:prstGeom>
          <a:solidFill>
            <a:srgbClr val="FF6B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13281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E97D36-FEDF-341F-12AA-6488414C72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>
              <a:buNone/>
            </a:pPr>
            <a:r>
              <a:rPr lang="ko-KR" sz="3200" b="1" dirty="0">
                <a:solidFill>
                  <a:srgbClr val="1A1A2E"/>
                </a:solidFill>
                <a:latin typeface="Pretendard"/>
                <a:ea typeface="Pretendard"/>
              </a:rPr>
              <a:t>Self-correction의 효과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B534FF-A81D-2BFD-F332-C0FC906BB2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ko-KR" dirty="0">
                <a:solidFill>
                  <a:srgbClr val="2D2D44"/>
                </a:solidFill>
                <a:latin typeface="Pretendard"/>
                <a:ea typeface="Pretendard"/>
              </a:rPr>
              <a:t>검증 에이전트(Critic)가 오판단을 잡아냄</a:t>
            </a:r>
          </a:p>
          <a:p>
            <a:pPr>
              <a:lnSpc>
                <a:spcPct val="100000"/>
              </a:lnSpc>
            </a:pPr>
            <a:r>
              <a:rPr lang="ko-KR" dirty="0">
                <a:solidFill>
                  <a:schemeClr val="tx1"/>
                </a:solidFill>
                <a:latin typeface="Pretendard"/>
                <a:ea typeface="Pretendard"/>
              </a:rPr>
              <a:t>체크리스트:</a:t>
            </a:r>
          </a:p>
          <a:p>
            <a:pPr lvl="1" algn="l">
              <a:lnSpc>
                <a:spcPct val="100000"/>
              </a:lnSpc>
              <a:buFont typeface="Arial"/>
              <a:buChar char="✓"/>
            </a:pPr>
            <a:r>
              <a:rPr lang="ko-KR" sz="2000" dirty="0">
                <a:solidFill>
                  <a:srgbClr val="2D2D44"/>
                </a:solidFill>
                <a:latin typeface="Pretendard"/>
                <a:ea typeface="Pretendard"/>
              </a:rPr>
              <a:t>명확한 근거가 있는가?</a:t>
            </a:r>
          </a:p>
          <a:p>
            <a:pPr lvl="1" algn="l">
              <a:lnSpc>
                <a:spcPct val="100000"/>
              </a:lnSpc>
              <a:buFont typeface="Arial"/>
              <a:buChar char="✓"/>
            </a:pPr>
            <a:r>
              <a:rPr lang="ko-KR" sz="2000" dirty="0">
                <a:solidFill>
                  <a:srgbClr val="2D2D44"/>
                </a:solidFill>
                <a:latin typeface="Pretendard"/>
                <a:ea typeface="Pretendard"/>
              </a:rPr>
              <a:t>정책 조건을 정확히 적용했는가?</a:t>
            </a:r>
          </a:p>
          <a:p>
            <a:pPr lvl="1" algn="l">
              <a:lnSpc>
                <a:spcPct val="100000"/>
              </a:lnSpc>
              <a:buFont typeface="Arial"/>
              <a:buChar char="✓"/>
            </a:pPr>
            <a:r>
              <a:rPr lang="ko-KR" sz="2000" dirty="0">
                <a:solidFill>
                  <a:srgbClr val="2D2D44"/>
                </a:solidFill>
                <a:latin typeface="Pretendard"/>
                <a:ea typeface="Pretendard"/>
              </a:rPr>
              <a:t>근거와 결론이 일치하는가?</a:t>
            </a:r>
            <a:endParaRPr lang="en-US" altLang="ko-KR" sz="2000" dirty="0">
              <a:solidFill>
                <a:srgbClr val="2D2D44"/>
              </a:solidFill>
              <a:latin typeface="Pretendard"/>
              <a:ea typeface="Pretendard"/>
            </a:endParaRPr>
          </a:p>
          <a:p>
            <a:pPr lvl="1" algn="l">
              <a:lnSpc>
                <a:spcPct val="100000"/>
              </a:lnSpc>
              <a:buFont typeface="Arial"/>
              <a:buChar char="✓"/>
            </a:pPr>
            <a:r>
              <a:rPr lang="ko-KR" altLang="en-US" sz="2000" dirty="0">
                <a:solidFill>
                  <a:srgbClr val="2D2D44"/>
                </a:solidFill>
                <a:latin typeface="Pretendard"/>
                <a:ea typeface="Pretendard"/>
              </a:rPr>
              <a:t>추정 기반 판단 금지 </a:t>
            </a:r>
            <a:r>
              <a:rPr lang="en-US" altLang="ko-KR" sz="2000" dirty="0">
                <a:solidFill>
                  <a:srgbClr val="2D2D44"/>
                </a:solidFill>
                <a:latin typeface="Pretendard"/>
                <a:ea typeface="Pretendard"/>
              </a:rPr>
              <a:t>("~</a:t>
            </a:r>
            <a:r>
              <a:rPr lang="ko-KR" altLang="en-US" sz="2000" dirty="0">
                <a:solidFill>
                  <a:srgbClr val="2D2D44"/>
                </a:solidFill>
                <a:latin typeface="Pretendard"/>
                <a:ea typeface="Pretendard"/>
              </a:rPr>
              <a:t>로 보인다</a:t>
            </a:r>
            <a:r>
              <a:rPr lang="en-US" altLang="ko-KR" sz="2000" dirty="0">
                <a:solidFill>
                  <a:srgbClr val="2D2D44"/>
                </a:solidFill>
                <a:latin typeface="Pretendard"/>
                <a:ea typeface="Pretendard"/>
              </a:rPr>
              <a:t>", "~</a:t>
            </a:r>
            <a:r>
              <a:rPr lang="ko-KR" altLang="en-US" sz="2000" dirty="0">
                <a:solidFill>
                  <a:srgbClr val="2D2D44"/>
                </a:solidFill>
                <a:latin typeface="Pretendard"/>
                <a:ea typeface="Pretendard"/>
              </a:rPr>
              <a:t>일 가능성이 있다</a:t>
            </a:r>
            <a:r>
              <a:rPr lang="en-US" altLang="ko-KR" sz="2000" dirty="0">
                <a:solidFill>
                  <a:srgbClr val="2D2D44"/>
                </a:solidFill>
                <a:latin typeface="Pretendard"/>
                <a:ea typeface="Pretendard"/>
              </a:rPr>
              <a:t>”)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ko-KR" sz="2400" b="1" dirty="0">
              <a:solidFill>
                <a:srgbClr val="FF6B35"/>
              </a:solidFill>
              <a:ea typeface="Pretendard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b="1" dirty="0">
                <a:solidFill>
                  <a:srgbClr val="FF6B35"/>
                </a:solidFill>
                <a:ea typeface="Pretendard"/>
              </a:rPr>
              <a:t>→ </a:t>
            </a:r>
            <a:r>
              <a:rPr lang="ko-KR" altLang="en-US" b="1" dirty="0">
                <a:solidFill>
                  <a:srgbClr val="FF6B35"/>
                </a:solidFill>
                <a:latin typeface="Pretendard"/>
                <a:ea typeface="Pretendard"/>
              </a:rPr>
              <a:t>정확도 개선에 큰 역할</a:t>
            </a:r>
            <a:endParaRPr lang="en-US" altLang="ko-KR" b="1" dirty="0">
              <a:solidFill>
                <a:srgbClr val="FF6B35"/>
              </a:solidFill>
              <a:latin typeface="Pretendard"/>
              <a:ea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40731916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Num"/>
          <p:cNvSpPr txBox="1"/>
          <p:nvPr/>
        </p:nvSpPr>
        <p:spPr>
          <a:xfrm>
            <a:off x="731520" y="1371600"/>
            <a:ext cx="10728960" cy="914400"/>
          </a:xfrm>
          <a:prstGeom prst="rect">
            <a:avLst/>
          </a:prstGeom>
          <a:noFill/>
          <a:ln>
            <a:noFill/>
          </a:ln>
        </p:spPr>
        <p:txBody>
          <a:bodyPr wrap="square" anchor="b"/>
          <a:lstStyle/>
          <a:p>
            <a:pPr algn="l">
              <a:buNone/>
            </a:pPr>
            <a:r>
              <a:rPr lang="en-US" sz="6000" b="1" dirty="0">
                <a:solidFill>
                  <a:srgbClr val="2EC4B6"/>
                </a:solidFill>
                <a:latin typeface="Pretendard"/>
                <a:ea typeface="Pretendard"/>
              </a:rPr>
              <a:t>03</a:t>
            </a:r>
          </a:p>
        </p:txBody>
      </p:sp>
      <p:sp>
        <p:nvSpPr>
          <p:cNvPr id="11" name="SectionTitle"/>
          <p:cNvSpPr txBox="1"/>
          <p:nvPr/>
        </p:nvSpPr>
        <p:spPr>
          <a:xfrm>
            <a:off x="731520" y="2440919"/>
            <a:ext cx="10728960" cy="60456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ko-KR" altLang="en-US" sz="3200" b="1" dirty="0">
                <a:solidFill>
                  <a:srgbClr val="1A1A2E"/>
                </a:solidFill>
                <a:latin typeface="Pretendard"/>
                <a:ea typeface="Pretendard"/>
              </a:rPr>
              <a:t>지식 관리</a:t>
            </a:r>
            <a:r>
              <a:rPr lang="ko-KR" sz="3200" b="1" dirty="0">
                <a:solidFill>
                  <a:srgbClr val="1A1A2E"/>
                </a:solidFill>
                <a:latin typeface="Pretendard"/>
                <a:ea typeface="Pretendard"/>
              </a:rPr>
              <a:t> &amp; 최적화</a:t>
            </a:r>
          </a:p>
        </p:txBody>
      </p:sp>
      <p:sp>
        <p:nvSpPr>
          <p:cNvPr id="12" name="Line"/>
          <p:cNvSpPr/>
          <p:nvPr/>
        </p:nvSpPr>
        <p:spPr>
          <a:xfrm>
            <a:off x="731520" y="2286000"/>
            <a:ext cx="1371600" cy="45720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7847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1E451314-5BAA-F2BD-5632-708FD8753D70}"/>
              </a:ext>
            </a:extLst>
          </p:cNvPr>
          <p:cNvGrpSpPr/>
          <p:nvPr/>
        </p:nvGrpSpPr>
        <p:grpSpPr>
          <a:xfrm>
            <a:off x="731520" y="1891714"/>
            <a:ext cx="10728960" cy="3572412"/>
            <a:chOff x="731520" y="1688514"/>
            <a:chExt cx="10728960" cy="3572412"/>
          </a:xfrm>
        </p:grpSpPr>
        <p:sp>
          <p:nvSpPr>
            <p:cNvPr id="20" name="LeftCol"/>
            <p:cNvSpPr/>
            <p:nvPr/>
          </p:nvSpPr>
          <p:spPr>
            <a:xfrm>
              <a:off x="731520" y="1688514"/>
              <a:ext cx="5120640" cy="3572412"/>
            </a:xfrm>
            <a:prstGeom prst="roundRect">
              <a:avLst>
                <a:gd name="adj" fmla="val 3000"/>
              </a:avLst>
            </a:prstGeom>
            <a:solidFill>
              <a:srgbClr val="FFFFFF"/>
            </a:solidFill>
            <a:ln w="12700">
              <a:solidFill>
                <a:srgbClr val="E8E8EE"/>
              </a:solidFill>
            </a:ln>
          </p:spPr>
          <p:txBody>
            <a:bodyPr wrap="square" lIns="182880" tIns="182880" rIns="182880" bIns="91440" anchor="t"/>
            <a:lstStyle/>
            <a:p>
              <a:pPr algn="l">
                <a:buNone/>
              </a:pPr>
              <a:r>
                <a:rPr lang="ko-KR" sz="2400" b="1" dirty="0">
                  <a:solidFill>
                    <a:srgbClr val="FF6B35"/>
                  </a:solidFill>
                  <a:latin typeface="Pretendard"/>
                  <a:ea typeface="Pretendard"/>
                </a:rPr>
                <a:t>기술적 이유</a:t>
              </a:r>
            </a:p>
            <a:p>
              <a:pPr marL="285750" indent="-285750" algn="l">
                <a:buFont typeface="Arial" panose="020B0604020202020204" pitchFamily="34" charset="0"/>
                <a:buChar char="•"/>
              </a:pPr>
              <a:endParaRPr lang="en-US" altLang="ko-KR" sz="2000" dirty="0">
                <a:solidFill>
                  <a:srgbClr val="2D2D44"/>
                </a:solidFill>
                <a:latin typeface="Pretendard"/>
                <a:ea typeface="Pretendard"/>
              </a:endParaRPr>
            </a:p>
            <a:p>
              <a:pPr marL="285750" indent="-285750" algn="l">
                <a:buFont typeface="Arial" panose="020B0604020202020204" pitchFamily="34" charset="0"/>
                <a:buChar char="•"/>
              </a:pPr>
              <a:r>
                <a:rPr lang="ko-KR" sz="2000" dirty="0">
                  <a:solidFill>
                    <a:srgbClr val="2D2D44"/>
                  </a:solidFill>
                  <a:latin typeface="Pretendard"/>
                  <a:ea typeface="Pretendard"/>
                </a:rPr>
                <a:t>컨텍스트 비대, lost-in-the-middle 성능 저하</a:t>
              </a:r>
            </a:p>
            <a:p>
              <a:pPr marL="285750" indent="-285750" algn="l">
                <a:buFont typeface="Arial" panose="020B0604020202020204" pitchFamily="34" charset="0"/>
                <a:buChar char="•"/>
              </a:pPr>
              <a:r>
                <a:rPr lang="ko-KR" sz="2000" dirty="0">
                  <a:solidFill>
                    <a:srgbClr val="2D2D44"/>
                  </a:solidFill>
                  <a:latin typeface="Pretendard"/>
                  <a:ea typeface="Pretendard"/>
                </a:rPr>
                <a:t>토큰 비용 폭증</a:t>
              </a:r>
            </a:p>
            <a:p>
              <a:pPr marL="285750" indent="-285750" algn="l">
                <a:buFont typeface="Arial" panose="020B0604020202020204" pitchFamily="34" charset="0"/>
                <a:buChar char="•"/>
              </a:pPr>
              <a:r>
                <a:rPr lang="ko-KR" sz="2000" dirty="0">
                  <a:solidFill>
                    <a:srgbClr val="2D2D44"/>
                  </a:solidFill>
                  <a:latin typeface="Pretendard"/>
                  <a:ea typeface="Pretendard"/>
                </a:rPr>
                <a:t>정책 변경 시 프롬프트 수정 필요</a:t>
              </a:r>
            </a:p>
          </p:txBody>
        </p:sp>
        <p:sp>
          <p:nvSpPr>
            <p:cNvPr id="21" name="RightCol"/>
            <p:cNvSpPr/>
            <p:nvPr/>
          </p:nvSpPr>
          <p:spPr>
            <a:xfrm>
              <a:off x="6035040" y="1688514"/>
              <a:ext cx="5425440" cy="3572412"/>
            </a:xfrm>
            <a:prstGeom prst="roundRect">
              <a:avLst>
                <a:gd name="adj" fmla="val 3000"/>
              </a:avLst>
            </a:prstGeom>
            <a:solidFill>
              <a:srgbClr val="FFFFFF"/>
            </a:solidFill>
            <a:ln w="12700">
              <a:solidFill>
                <a:srgbClr val="E8E8EE"/>
              </a:solidFill>
            </a:ln>
          </p:spPr>
          <p:txBody>
            <a:bodyPr wrap="square" lIns="182880" tIns="182880" rIns="182880" bIns="91440" anchor="t"/>
            <a:lstStyle/>
            <a:p>
              <a:pPr algn="l">
                <a:buNone/>
              </a:pPr>
              <a:r>
                <a:rPr lang="ko-KR" sz="2400" b="1" dirty="0">
                  <a:solidFill>
                    <a:srgbClr val="4361EE"/>
                  </a:solidFill>
                  <a:latin typeface="Pretendard"/>
                  <a:ea typeface="Pretendard"/>
                </a:rPr>
                <a:t>조직적 이유</a:t>
              </a:r>
            </a:p>
            <a:p>
              <a:pPr marL="342900" indent="-342900" algn="l">
                <a:buFont typeface="Arial" panose="020B0604020202020204" pitchFamily="34" charset="0"/>
                <a:buChar char="•"/>
              </a:pPr>
              <a:endParaRPr lang="en-US" altLang="ko-KR" sz="2000" dirty="0">
                <a:solidFill>
                  <a:srgbClr val="2D2D44"/>
                </a:solidFill>
                <a:latin typeface="Pretendard"/>
                <a:ea typeface="Pretendard"/>
              </a:endParaRPr>
            </a:p>
            <a:p>
              <a:pPr marL="342900" indent="-342900" algn="l">
                <a:buFont typeface="Arial" panose="020B0604020202020204" pitchFamily="34" charset="0"/>
                <a:buChar char="•"/>
              </a:pPr>
              <a:r>
                <a:rPr lang="ko-KR" sz="2000" dirty="0">
                  <a:solidFill>
                    <a:srgbClr val="2D2D44"/>
                  </a:solidFill>
                  <a:latin typeface="Pretendard"/>
                  <a:ea typeface="Pretendard"/>
                </a:rPr>
                <a:t>비엔지니어도 에이전트를 </a:t>
              </a:r>
              <a:r>
                <a:rPr lang="ko-KR" altLang="en-US" sz="2000" dirty="0">
                  <a:solidFill>
                    <a:srgbClr val="2D2D44"/>
                  </a:solidFill>
                  <a:latin typeface="Pretendard"/>
                  <a:ea typeface="Pretendard"/>
                </a:rPr>
                <a:t>개선할 수 있어야 함</a:t>
              </a:r>
              <a:endParaRPr lang="ko-KR" sz="2000" dirty="0">
                <a:solidFill>
                  <a:srgbClr val="2D2D44"/>
                </a:solidFill>
                <a:latin typeface="Pretendard"/>
                <a:ea typeface="Pretendard"/>
              </a:endParaRPr>
            </a:p>
            <a:p>
              <a:pPr marL="342900" indent="-342900" algn="l">
                <a:buFont typeface="Arial" panose="020B0604020202020204" pitchFamily="34" charset="0"/>
                <a:buChar char="•"/>
              </a:pPr>
              <a:r>
                <a:rPr lang="ko-KR" sz="2000" dirty="0">
                  <a:solidFill>
                    <a:srgbClr val="2D2D44"/>
                  </a:solidFill>
                  <a:latin typeface="Pretendard"/>
                  <a:ea typeface="Pretendard"/>
                </a:rPr>
                <a:t>정책 담당자: 문서만 수정 → 에이전트 판단 변경</a:t>
              </a:r>
            </a:p>
            <a:p>
              <a:pPr marL="342900" indent="-342900" algn="l">
                <a:buFont typeface="Arial" panose="020B0604020202020204" pitchFamily="34" charset="0"/>
                <a:buChar char="•"/>
              </a:pPr>
              <a:r>
                <a:rPr lang="ko-KR" sz="2000" dirty="0">
                  <a:solidFill>
                    <a:srgbClr val="2D2D44"/>
                  </a:solidFill>
                  <a:latin typeface="Pretendard"/>
                  <a:ea typeface="Pretendard"/>
                </a:rPr>
                <a:t>프롬프트 = 엔지니어 / 정책 = 담당자</a:t>
              </a:r>
            </a:p>
            <a:p>
              <a:pPr algn="l">
                <a:buNone/>
              </a:pPr>
              <a:endParaRPr lang="en-US" altLang="ko-KR" sz="2000" b="1" dirty="0">
                <a:solidFill>
                  <a:srgbClr val="2EC4B6"/>
                </a:solidFill>
                <a:latin typeface="Pretendard"/>
                <a:ea typeface="Pretendard"/>
              </a:endParaRPr>
            </a:p>
            <a:p>
              <a:pPr algn="l">
                <a:buNone/>
              </a:pPr>
              <a:r>
                <a:rPr lang="ko-KR" sz="2000" b="1" dirty="0">
                  <a:solidFill>
                    <a:srgbClr val="2EC4B6"/>
                  </a:solidFill>
                  <a:latin typeface="Pretendard"/>
                  <a:ea typeface="Pretendard"/>
                </a:rPr>
                <a:t>→ 오너십 분리 → 빠른 개선 사이클</a:t>
              </a:r>
            </a:p>
          </p:txBody>
        </p:sp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088CD7C1-B49F-8C30-3AD4-14243A96B3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b="1" dirty="0"/>
              <a:t>지식 관리는 프롬프트 밖에서</a:t>
            </a:r>
            <a:endParaRPr lang="en-KR" sz="3200" b="1" dirty="0"/>
          </a:p>
        </p:txBody>
      </p:sp>
    </p:spTree>
    <p:extLst>
      <p:ext uri="{BB962C8B-B14F-4D97-AF65-F5344CB8AC3E}">
        <p14:creationId xmlns:p14="http://schemas.microsoft.com/office/powerpoint/2010/main" val="14667759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DD5A8-33B1-3DF8-F588-BD3E8858D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>
              <a:buNone/>
            </a:pPr>
            <a:r>
              <a:rPr lang="ko-KR" sz="3200" b="1" dirty="0">
                <a:solidFill>
                  <a:srgbClr val="1A1A2E"/>
                </a:solidFill>
                <a:latin typeface="Pretendard"/>
                <a:ea typeface="Pretendard"/>
              </a:rPr>
              <a:t>RAG = 꼭 벡터 검색이어야 할까?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9E7216-367F-7913-41A2-604EC302B2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512158"/>
            <a:ext cx="10515600" cy="664805"/>
          </a:xfrm>
        </p:spPr>
        <p:txBody>
          <a:bodyPr anchor="ctr">
            <a:norm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ko-KR" b="1" dirty="0">
                <a:solidFill>
                  <a:srgbClr val="FF6B35"/>
                </a:solidFill>
                <a:latin typeface="Pretendard"/>
                <a:ea typeface="Pretendard"/>
              </a:rPr>
              <a:t>데이터 구조에 맞는 방법이 최선 — 오버엔지니어링 주의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26C0AA4-22C2-2BB8-BAE5-6EE221649543}"/>
              </a:ext>
            </a:extLst>
          </p:cNvPr>
          <p:cNvGrpSpPr/>
          <p:nvPr/>
        </p:nvGrpSpPr>
        <p:grpSpPr>
          <a:xfrm>
            <a:off x="838200" y="2349500"/>
            <a:ext cx="5181600" cy="2159000"/>
            <a:chOff x="838200" y="1905000"/>
            <a:chExt cx="5181600" cy="2159000"/>
          </a:xfrm>
        </p:grpSpPr>
        <p:sp>
          <p:nvSpPr>
            <p:cNvPr id="4" name="Rounded Rectangle 3">
              <a:extLst>
                <a:ext uri="{FF2B5EF4-FFF2-40B4-BE49-F238E27FC236}">
                  <a16:creationId xmlns:a16="http://schemas.microsoft.com/office/drawing/2014/main" id="{5EB45AE0-4308-B577-CEDB-BE64E19933A2}"/>
                </a:ext>
              </a:extLst>
            </p:cNvPr>
            <p:cNvSpPr/>
            <p:nvPr/>
          </p:nvSpPr>
          <p:spPr>
            <a:xfrm>
              <a:off x="838200" y="1905000"/>
              <a:ext cx="5181600" cy="2159000"/>
            </a:xfrm>
            <a:prstGeom prst="roundRect">
              <a:avLst/>
            </a:prstGeom>
            <a:solidFill>
              <a:srgbClr val="F0EDFF"/>
            </a:solidFill>
            <a:ln w="1905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KR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9489874-A149-DBE2-5689-0EA79DEBFB87}"/>
                </a:ext>
              </a:extLst>
            </p:cNvPr>
            <p:cNvSpPr txBox="1"/>
            <p:nvPr/>
          </p:nvSpPr>
          <p:spPr>
            <a:xfrm>
              <a:off x="1016000" y="2032000"/>
              <a:ext cx="4826000" cy="4572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spAutoFit/>
            </a:bodyPr>
            <a:lstStyle/>
            <a:p>
              <a:pPr algn="l"/>
              <a:r>
                <a:rPr lang="en-US" sz="2000" b="1">
                  <a:solidFill>
                    <a:srgbClr val="4361EE"/>
                  </a:solidFill>
                  <a:latin typeface="Pretendard"/>
                </a:rPr>
                <a:t>RAG </a:t>
              </a:r>
              <a:r>
                <a:rPr lang="ko-KR" altLang="en-US" sz="2000" b="1">
                  <a:solidFill>
                    <a:srgbClr val="4361EE"/>
                  </a:solidFill>
                  <a:latin typeface="Pretendard"/>
                </a:rPr>
                <a:t>검색 방식</a:t>
              </a:r>
              <a:endParaRPr lang="en-KR" sz="2000" b="1">
                <a:solidFill>
                  <a:srgbClr val="4361EE"/>
                </a:solidFill>
                <a:latin typeface="Pretendard"/>
              </a:endParaRPr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7C41D81B-F1E6-6D2B-12CA-FECD76B93F94}"/>
                </a:ext>
              </a:extLst>
            </p:cNvPr>
            <p:cNvGrpSpPr/>
            <p:nvPr/>
          </p:nvGrpSpPr>
          <p:grpSpPr>
            <a:xfrm>
              <a:off x="1075519" y="2624137"/>
              <a:ext cx="4706961" cy="1201986"/>
              <a:chOff x="911225" y="2555494"/>
              <a:chExt cx="4706961" cy="1201986"/>
            </a:xfrm>
          </p:grpSpPr>
          <p:sp>
            <p:nvSpPr>
              <p:cNvPr id="6" name="Rounded Rectangle 5">
                <a:extLst>
                  <a:ext uri="{FF2B5EF4-FFF2-40B4-BE49-F238E27FC236}">
                    <a16:creationId xmlns:a16="http://schemas.microsoft.com/office/drawing/2014/main" id="{ADC3B072-EDAF-C33C-0461-56944F3CABD5}"/>
                  </a:ext>
                </a:extLst>
              </p:cNvPr>
              <p:cNvSpPr/>
              <p:nvPr/>
            </p:nvSpPr>
            <p:spPr>
              <a:xfrm>
                <a:off x="911225" y="2555494"/>
                <a:ext cx="2305050" cy="553212"/>
              </a:xfrm>
              <a:prstGeom prst="roundRect">
                <a:avLst/>
              </a:prstGeom>
              <a:solidFill>
                <a:srgbClr val="4361EE"/>
              </a:solidFill>
              <a:ln w="1905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Overflow="clip" horzOverflow="clip" rtlCol="0" anchor="ctr" anchorCtr="0">
                <a:noAutofit/>
              </a:bodyPr>
              <a:lstStyle/>
              <a:p>
                <a:pPr algn="l"/>
                <a:r>
                  <a:rPr lang="ko-KR" altLang="en-US" sz="1400" b="1">
                    <a:solidFill>
                      <a:srgbClr val="FFFFFF"/>
                    </a:solidFill>
                    <a:latin typeface="Pretendard"/>
                  </a:rPr>
                  <a:t>벡터 검색</a:t>
                </a:r>
                <a:endParaRPr lang="en-KR" sz="1400" b="1">
                  <a:solidFill>
                    <a:srgbClr val="FFFFFF"/>
                  </a:solidFill>
                  <a:latin typeface="Pretendard"/>
                </a:endParaRPr>
              </a:p>
            </p:txBody>
          </p:sp>
          <p:sp>
            <p:nvSpPr>
              <p:cNvPr id="7" name="Rounded Rectangle 6">
                <a:extLst>
                  <a:ext uri="{FF2B5EF4-FFF2-40B4-BE49-F238E27FC236}">
                    <a16:creationId xmlns:a16="http://schemas.microsoft.com/office/drawing/2014/main" id="{C3B56FA2-1FA1-2837-303F-A858B2DB5F9D}"/>
                  </a:ext>
                </a:extLst>
              </p:cNvPr>
              <p:cNvSpPr/>
              <p:nvPr/>
            </p:nvSpPr>
            <p:spPr>
              <a:xfrm>
                <a:off x="3313136" y="2555494"/>
                <a:ext cx="2305050" cy="553212"/>
              </a:xfrm>
              <a:prstGeom prst="roundRect">
                <a:avLst/>
              </a:prstGeom>
              <a:solidFill>
                <a:srgbClr val="FFFFFF"/>
              </a:solidFill>
              <a:ln w="1905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Overflow="clip" horzOverflow="clip" rtlCol="0" anchor="ctr" anchorCtr="0">
                <a:noAutofit/>
              </a:bodyPr>
              <a:lstStyle/>
              <a:p>
                <a:pPr algn="l"/>
                <a:r>
                  <a:rPr lang="ko-KR" altLang="en-US" sz="1400" b="1" dirty="0">
                    <a:solidFill>
                      <a:srgbClr val="2D2D44"/>
                    </a:solidFill>
                    <a:latin typeface="Pretendard"/>
                  </a:rPr>
                  <a:t>키워드 검색</a:t>
                </a:r>
                <a:endParaRPr lang="en-KR" sz="1400" b="1" dirty="0">
                  <a:solidFill>
                    <a:srgbClr val="2D2D44"/>
                  </a:solidFill>
                  <a:latin typeface="Pretendard"/>
                </a:endParaRPr>
              </a:p>
            </p:txBody>
          </p:sp>
          <p:sp>
            <p:nvSpPr>
              <p:cNvPr id="8" name="Rounded Rectangle 7">
                <a:extLst>
                  <a:ext uri="{FF2B5EF4-FFF2-40B4-BE49-F238E27FC236}">
                    <a16:creationId xmlns:a16="http://schemas.microsoft.com/office/drawing/2014/main" id="{985906CD-D8B0-EFFB-4C17-CA48A3D9DA33}"/>
                  </a:ext>
                </a:extLst>
              </p:cNvPr>
              <p:cNvSpPr/>
              <p:nvPr/>
            </p:nvSpPr>
            <p:spPr>
              <a:xfrm>
                <a:off x="911225" y="3204268"/>
                <a:ext cx="2305050" cy="553212"/>
              </a:xfrm>
              <a:prstGeom prst="roundRect">
                <a:avLst/>
              </a:prstGeom>
              <a:solidFill>
                <a:srgbClr val="FFFFFF"/>
              </a:solidFill>
              <a:ln w="1905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Overflow="clip" horzOverflow="clip" rtlCol="0" anchor="ctr" anchorCtr="0">
                <a:noAutofit/>
              </a:bodyPr>
              <a:lstStyle/>
              <a:p>
                <a:pPr algn="l"/>
                <a:r>
                  <a:rPr lang="en-US" sz="1400" b="1">
                    <a:solidFill>
                      <a:srgbClr val="2D2D44"/>
                    </a:solidFill>
                    <a:latin typeface="Pretendard"/>
                  </a:rPr>
                  <a:t>API </a:t>
                </a:r>
                <a:r>
                  <a:rPr lang="ko-KR" altLang="en-US" sz="1400" b="1">
                    <a:solidFill>
                      <a:srgbClr val="2D2D44"/>
                    </a:solidFill>
                    <a:latin typeface="Pretendard"/>
                  </a:rPr>
                  <a:t>조회</a:t>
                </a:r>
                <a:endParaRPr lang="en-KR" sz="1400" b="1">
                  <a:solidFill>
                    <a:srgbClr val="2D2D44"/>
                  </a:solidFill>
                  <a:latin typeface="Pretendard"/>
                </a:endParaRPr>
              </a:p>
            </p:txBody>
          </p:sp>
          <p:sp>
            <p:nvSpPr>
              <p:cNvPr id="9" name="Rounded Rectangle 8">
                <a:extLst>
                  <a:ext uri="{FF2B5EF4-FFF2-40B4-BE49-F238E27FC236}">
                    <a16:creationId xmlns:a16="http://schemas.microsoft.com/office/drawing/2014/main" id="{725AA019-7E99-3473-151C-ADBBF2C09439}"/>
                  </a:ext>
                </a:extLst>
              </p:cNvPr>
              <p:cNvSpPr/>
              <p:nvPr/>
            </p:nvSpPr>
            <p:spPr>
              <a:xfrm>
                <a:off x="3313136" y="3204268"/>
                <a:ext cx="2305050" cy="553212"/>
              </a:xfrm>
              <a:prstGeom prst="roundRect">
                <a:avLst/>
              </a:prstGeom>
              <a:solidFill>
                <a:srgbClr val="FFFFFF"/>
              </a:solidFill>
              <a:ln w="19050" cap="flat" cmpd="sng" algn="ctr">
                <a:noFill/>
                <a:prstDash val="solid"/>
                <a:miter lim="800000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Overflow="clip" horzOverflow="clip" rtlCol="0" anchor="ctr" anchorCtr="0">
                <a:noAutofit/>
              </a:bodyPr>
              <a:lstStyle/>
              <a:p>
                <a:pPr algn="l"/>
                <a:r>
                  <a:rPr lang="en-US" sz="1400" b="1">
                    <a:solidFill>
                      <a:srgbClr val="2D2D44"/>
                    </a:solidFill>
                    <a:latin typeface="Pretendard"/>
                  </a:rPr>
                  <a:t>DB </a:t>
                </a:r>
                <a:r>
                  <a:rPr lang="ko-KR" altLang="en-US" sz="1400" b="1">
                    <a:solidFill>
                      <a:srgbClr val="2D2D44"/>
                    </a:solidFill>
                    <a:latin typeface="Pretendard"/>
                  </a:rPr>
                  <a:t>쿼리</a:t>
                </a:r>
                <a:endParaRPr lang="en-KR" sz="1400" b="1">
                  <a:solidFill>
                    <a:srgbClr val="2D2D44"/>
                  </a:solidFill>
                  <a:latin typeface="Pretendard"/>
                </a:endParaRPr>
              </a:p>
            </p:txBody>
          </p:sp>
        </p:grp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923C488F-F1B9-52F3-1D56-CA11EDDD59D9}"/>
              </a:ext>
            </a:extLst>
          </p:cNvPr>
          <p:cNvGrpSpPr/>
          <p:nvPr/>
        </p:nvGrpSpPr>
        <p:grpSpPr>
          <a:xfrm>
            <a:off x="6273800" y="2359726"/>
            <a:ext cx="5080000" cy="2159000"/>
            <a:chOff x="6273800" y="1905000"/>
            <a:chExt cx="5080000" cy="2159000"/>
          </a:xfrm>
        </p:grpSpPr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AA049541-82A7-23C2-4B70-4902F11C01B2}"/>
                </a:ext>
              </a:extLst>
            </p:cNvPr>
            <p:cNvSpPr/>
            <p:nvPr/>
          </p:nvSpPr>
          <p:spPr>
            <a:xfrm>
              <a:off x="6273800" y="1905000"/>
              <a:ext cx="5080000" cy="2159000"/>
            </a:xfrm>
            <a:prstGeom prst="roundRect">
              <a:avLst/>
            </a:prstGeom>
            <a:solidFill>
              <a:srgbClr val="E8F8F5"/>
            </a:solidFill>
            <a:ln w="1905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KR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453B5CE2-00AF-0B43-D6C6-B3181A161942}"/>
                </a:ext>
              </a:extLst>
            </p:cNvPr>
            <p:cNvSpPr txBox="1"/>
            <p:nvPr/>
          </p:nvSpPr>
          <p:spPr>
            <a:xfrm>
              <a:off x="6477000" y="2032000"/>
              <a:ext cx="4699000" cy="4572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spAutoFit/>
            </a:bodyPr>
            <a:lstStyle/>
            <a:p>
              <a:pPr algn="l"/>
              <a:r>
                <a:rPr lang="en-US" sz="2000" b="1">
                  <a:solidFill>
                    <a:srgbClr val="2EC4B6"/>
                  </a:solidFill>
                  <a:latin typeface="Pretendard"/>
                </a:rPr>
                <a:t>KAMP </a:t>
              </a:r>
              <a:r>
                <a:rPr lang="ko-KR" altLang="en-US" sz="2000" b="1">
                  <a:solidFill>
                    <a:srgbClr val="2EC4B6"/>
                  </a:solidFill>
                  <a:latin typeface="Pretendard"/>
                </a:rPr>
                <a:t>사례</a:t>
              </a:r>
              <a:endParaRPr lang="en-KR" sz="2000" b="1">
                <a:solidFill>
                  <a:srgbClr val="2EC4B6"/>
                </a:solidFill>
                <a:latin typeface="Pretendard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FE33A69-1EC8-AA8F-D489-B49007284D8A}"/>
                </a:ext>
              </a:extLst>
            </p:cNvPr>
            <p:cNvSpPr txBox="1"/>
            <p:nvPr/>
          </p:nvSpPr>
          <p:spPr>
            <a:xfrm>
              <a:off x="6477000" y="2667000"/>
              <a:ext cx="4699000" cy="830997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spAutoFit/>
            </a:bodyPr>
            <a:lstStyle/>
            <a:p>
              <a:pPr algn="l"/>
              <a:r>
                <a:rPr lang="en-US" sz="2400" dirty="0">
                  <a:solidFill>
                    <a:srgbClr val="2D2D44"/>
                  </a:solidFill>
                  <a:latin typeface="Pretendard"/>
                </a:rPr>
                <a:t>ID</a:t>
              </a:r>
              <a:r>
                <a:rPr lang="ko-KR" altLang="en-US" sz="2400" dirty="0">
                  <a:solidFill>
                    <a:srgbClr val="2D2D44"/>
                  </a:solidFill>
                  <a:latin typeface="Pretendard"/>
                </a:rPr>
                <a:t>로 정책 </a:t>
              </a:r>
              <a:r>
                <a:rPr lang="en-US" sz="2400" dirty="0">
                  <a:solidFill>
                    <a:srgbClr val="2D2D44"/>
                  </a:solidFill>
                  <a:latin typeface="Pretendard"/>
                </a:rPr>
                <a:t>API </a:t>
              </a:r>
              <a:r>
                <a:rPr lang="ko-KR" altLang="en-US" sz="2400" dirty="0">
                  <a:solidFill>
                    <a:srgbClr val="2D2D44"/>
                  </a:solidFill>
                  <a:latin typeface="Pretendard"/>
                </a:rPr>
                <a:t>직접 조회
→ 벡터 </a:t>
              </a:r>
              <a:r>
                <a:rPr lang="en-US" sz="2400" dirty="0">
                  <a:solidFill>
                    <a:srgbClr val="2D2D44"/>
                  </a:solidFill>
                  <a:latin typeface="Pretendard"/>
                </a:rPr>
                <a:t>DB </a:t>
              </a:r>
              <a:r>
                <a:rPr lang="ko-KR" altLang="en-US" sz="2400" dirty="0">
                  <a:solidFill>
                    <a:srgbClr val="2D2D44"/>
                  </a:solidFill>
                  <a:latin typeface="Pretendard"/>
                </a:rPr>
                <a:t>없이 충분</a:t>
              </a:r>
              <a:endParaRPr lang="en-KR" sz="2400" dirty="0">
                <a:solidFill>
                  <a:srgbClr val="2D2D44"/>
                </a:solidFill>
                <a:latin typeface="Pretendard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944818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812E8-B0B7-AC95-174C-FE59BC8C00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>
              <a:buNone/>
            </a:pPr>
            <a:r>
              <a:rPr lang="ko-KR" sz="3200" b="1" dirty="0">
                <a:solidFill>
                  <a:srgbClr val="1A1A2E"/>
                </a:solidFill>
                <a:latin typeface="Pretendard"/>
                <a:ea typeface="Pretendard"/>
              </a:rPr>
              <a:t>에이전트가 </a:t>
            </a:r>
            <a:r>
              <a:rPr lang="ko-KR" altLang="en-US" sz="3200" b="1" dirty="0">
                <a:latin typeface="Pretendard"/>
                <a:ea typeface="Pretendard"/>
              </a:rPr>
              <a:t>지식</a:t>
            </a:r>
            <a:r>
              <a:rPr lang="ko-KR" sz="3200" b="1" dirty="0">
                <a:solidFill>
                  <a:srgbClr val="1A1A2E"/>
                </a:solidFill>
                <a:latin typeface="Pretendard"/>
                <a:ea typeface="Pretendard"/>
              </a:rPr>
              <a:t> 개선에도 참여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C063F4-2909-210B-5C9E-16B96ECC40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dirty="0">
                <a:latin typeface="Pretendard"/>
                <a:ea typeface="Pretendard"/>
              </a:rPr>
              <a:t>잘못된 지식이 잘못된 동작의 원인이 되는 경우가 많음</a:t>
            </a:r>
            <a:endParaRPr lang="en-US" altLang="ko-KR" dirty="0">
              <a:latin typeface="Pretendard"/>
              <a:ea typeface="Pretendard"/>
            </a:endParaRPr>
          </a:p>
          <a:p>
            <a:pPr algn="l">
              <a:lnSpc>
                <a:spcPct val="100000"/>
              </a:lnSpc>
            </a:pPr>
            <a:r>
              <a:rPr lang="ko-KR" altLang="en-US" dirty="0">
                <a:solidFill>
                  <a:srgbClr val="2D2D44"/>
                </a:solidFill>
                <a:latin typeface="Pretendard"/>
                <a:ea typeface="Pretendard"/>
              </a:rPr>
              <a:t>사람이 인지하기 쉽지 않음</a:t>
            </a:r>
            <a:endParaRPr lang="en-US" altLang="ko-KR" dirty="0">
              <a:solidFill>
                <a:srgbClr val="2D2D44"/>
              </a:solidFill>
              <a:latin typeface="Pretendard"/>
              <a:ea typeface="Pretendard"/>
            </a:endParaRPr>
          </a:p>
          <a:p>
            <a:pPr algn="l">
              <a:lnSpc>
                <a:spcPct val="100000"/>
              </a:lnSpc>
            </a:pPr>
            <a:r>
              <a:rPr lang="ko-KR" altLang="en-US" dirty="0">
                <a:latin typeface="Pretendard"/>
                <a:ea typeface="Pretendard"/>
              </a:rPr>
              <a:t>에이전트에게 로깅 도구를 제공하고 </a:t>
            </a:r>
            <a:r>
              <a:rPr lang="ko-KR" dirty="0">
                <a:solidFill>
                  <a:srgbClr val="2D2D44"/>
                </a:solidFill>
                <a:latin typeface="Pretendard"/>
                <a:ea typeface="Pretendard"/>
              </a:rPr>
              <a:t>모호한</a:t>
            </a:r>
            <a:r>
              <a:rPr lang="en-US" altLang="ko-KR" dirty="0">
                <a:solidFill>
                  <a:srgbClr val="2D2D44"/>
                </a:solidFill>
                <a:latin typeface="Pretendard"/>
                <a:ea typeface="Pretendard"/>
              </a:rPr>
              <a:t>/</a:t>
            </a:r>
            <a:r>
              <a:rPr lang="ko-KR" altLang="en-US" dirty="0">
                <a:solidFill>
                  <a:srgbClr val="2D2D44"/>
                </a:solidFill>
                <a:latin typeface="Pretendard"/>
                <a:ea typeface="Pretendard"/>
              </a:rPr>
              <a:t>모순이 있는</a:t>
            </a:r>
            <a:r>
              <a:rPr lang="ko-KR" dirty="0">
                <a:solidFill>
                  <a:srgbClr val="2D2D44"/>
                </a:solidFill>
                <a:latin typeface="Pretendard"/>
                <a:ea typeface="Pretendard"/>
              </a:rPr>
              <a:t> </a:t>
            </a:r>
            <a:r>
              <a:rPr lang="ko-KR" altLang="en-US" dirty="0">
                <a:solidFill>
                  <a:srgbClr val="2D2D44"/>
                </a:solidFill>
                <a:latin typeface="Pretendard"/>
                <a:ea typeface="Pretendard"/>
              </a:rPr>
              <a:t>내용</a:t>
            </a:r>
            <a:r>
              <a:rPr lang="ko-KR" dirty="0">
                <a:solidFill>
                  <a:srgbClr val="2D2D44"/>
                </a:solidFill>
                <a:latin typeface="Pretendard"/>
                <a:ea typeface="Pretendard"/>
              </a:rPr>
              <a:t> 발견 시 직접 피드백 기록</a:t>
            </a:r>
          </a:p>
          <a:p>
            <a:pPr algn="l">
              <a:lnSpc>
                <a:spcPct val="100000"/>
              </a:lnSpc>
            </a:pPr>
            <a:r>
              <a:rPr lang="ko-KR" dirty="0">
                <a:solidFill>
                  <a:srgbClr val="2D2D44"/>
                </a:solidFill>
                <a:latin typeface="Pretendard"/>
                <a:ea typeface="Pretendard"/>
              </a:rPr>
              <a:t>담당자 확인 → 정책 보완 → 에이전트 </a:t>
            </a:r>
            <a:r>
              <a:rPr lang="ko-KR" dirty="0" err="1">
                <a:solidFill>
                  <a:srgbClr val="2D2D44"/>
                </a:solidFill>
                <a:latin typeface="Pretendard"/>
                <a:ea typeface="Pretendard"/>
              </a:rPr>
              <a:t>재판단</a:t>
            </a:r>
            <a:endParaRPr lang="en-US" altLang="ko-KR" dirty="0">
              <a:solidFill>
                <a:srgbClr val="2D2D44"/>
              </a:solidFill>
              <a:latin typeface="Pretendard"/>
              <a:ea typeface="Pretendard"/>
            </a:endParaRPr>
          </a:p>
          <a:p>
            <a:pPr algn="l">
              <a:lnSpc>
                <a:spcPct val="100000"/>
              </a:lnSpc>
            </a:pPr>
            <a:endParaRPr lang="ko-KR" dirty="0">
              <a:solidFill>
                <a:srgbClr val="2D2D44"/>
              </a:solidFill>
              <a:latin typeface="Pretendard"/>
              <a:ea typeface="Pretendard"/>
            </a:endParaRPr>
          </a:p>
          <a:p>
            <a:pPr algn="l">
              <a:lnSpc>
                <a:spcPct val="100000"/>
              </a:lnSpc>
            </a:pPr>
            <a:r>
              <a:rPr lang="ko-KR" b="1" dirty="0">
                <a:solidFill>
                  <a:srgbClr val="FF6B35"/>
                </a:solidFill>
                <a:latin typeface="Pretendard"/>
                <a:ea typeface="Pretendard"/>
              </a:rPr>
              <a:t>에이전트 = 단순 실행자가 아닌 시스템 개선 참여자</a:t>
            </a:r>
          </a:p>
        </p:txBody>
      </p:sp>
    </p:spTree>
    <p:extLst>
      <p:ext uri="{BB962C8B-B14F-4D97-AF65-F5344CB8AC3E}">
        <p14:creationId xmlns:p14="http://schemas.microsoft.com/office/powerpoint/2010/main" val="21747004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9B7D7-DF69-7033-E6F5-B729D6EBF5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>
              <a:buNone/>
            </a:pPr>
            <a:r>
              <a:rPr lang="ko-KR" sz="3200" b="1" dirty="0">
                <a:solidFill>
                  <a:srgbClr val="1A1A2E"/>
                </a:solidFill>
                <a:latin typeface="Pretendard"/>
                <a:ea typeface="Pretendard"/>
              </a:rPr>
              <a:t>모델 선택: 모두 같은 모델?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CC8DE51-0514-B4B6-1E6E-98BD242D36E2}"/>
              </a:ext>
            </a:extLst>
          </p:cNvPr>
          <p:cNvGrpSpPr/>
          <p:nvPr/>
        </p:nvGrpSpPr>
        <p:grpSpPr>
          <a:xfrm>
            <a:off x="1041400" y="2191544"/>
            <a:ext cx="10109200" cy="2032000"/>
            <a:chOff x="838200" y="1905000"/>
            <a:chExt cx="10109200" cy="2032000"/>
          </a:xfrm>
        </p:grpSpPr>
        <p:sp>
          <p:nvSpPr>
            <p:cNvPr id="4" name="Rounded Rectangle 3">
              <a:extLst>
                <a:ext uri="{FF2B5EF4-FFF2-40B4-BE49-F238E27FC236}">
                  <a16:creationId xmlns:a16="http://schemas.microsoft.com/office/drawing/2014/main" id="{5D49957B-65EF-1A4E-8F7C-4DA86C80A0D7}"/>
                </a:ext>
              </a:extLst>
            </p:cNvPr>
            <p:cNvSpPr/>
            <p:nvPr/>
          </p:nvSpPr>
          <p:spPr>
            <a:xfrm>
              <a:off x="838200" y="1905000"/>
              <a:ext cx="3200400" cy="2032000"/>
            </a:xfrm>
            <a:prstGeom prst="roundRect">
              <a:avLst/>
            </a:prstGeom>
            <a:solidFill>
              <a:srgbClr val="FFF3ED"/>
            </a:solidFill>
            <a:ln w="1905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KR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B60049A0-A389-D14A-9C0C-937CF318E258}"/>
                </a:ext>
              </a:extLst>
            </p:cNvPr>
            <p:cNvSpPr txBox="1"/>
            <p:nvPr/>
          </p:nvSpPr>
          <p:spPr>
            <a:xfrm>
              <a:off x="990601" y="2559844"/>
              <a:ext cx="2692400" cy="707886"/>
            </a:xfrm>
            <a:prstGeom prst="rect">
              <a:avLst/>
            </a:prstGeom>
            <a:noFill/>
          </p:spPr>
          <p:txBody>
            <a:bodyPr vertOverflow="overflow" vert="horz" wrap="square" rtlCol="0" anchor="ctr">
              <a:spAutoFit/>
            </a:bodyPr>
            <a:lstStyle/>
            <a:p>
              <a:pPr algn="ctr"/>
              <a:r>
                <a:rPr lang="ko-KR" altLang="en-US" sz="2000" b="1" dirty="0">
                  <a:solidFill>
                    <a:srgbClr val="FF6B35"/>
                  </a:solidFill>
                  <a:latin typeface="Pretendard"/>
                </a:rPr>
                <a:t>에이전트마다
요구사항이 다름</a:t>
              </a:r>
              <a:endParaRPr lang="en-KR" sz="2000" b="1" dirty="0">
                <a:solidFill>
                  <a:srgbClr val="FF6B35"/>
                </a:solidFill>
                <a:latin typeface="Pretendard"/>
              </a:endParaRPr>
            </a:p>
          </p:txBody>
        </p:sp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CF30CD12-C1DF-BF41-80D3-C0F5AC77F67D}"/>
                </a:ext>
              </a:extLst>
            </p:cNvPr>
            <p:cNvSpPr/>
            <p:nvPr/>
          </p:nvSpPr>
          <p:spPr>
            <a:xfrm>
              <a:off x="4292600" y="1905000"/>
              <a:ext cx="3200400" cy="2032000"/>
            </a:xfrm>
            <a:prstGeom prst="roundRect">
              <a:avLst/>
            </a:prstGeom>
            <a:solidFill>
              <a:srgbClr val="F0EDFF"/>
            </a:solidFill>
            <a:ln w="1905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KR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A18C354-B2AC-F74F-B734-C92923A13654}"/>
                </a:ext>
              </a:extLst>
            </p:cNvPr>
            <p:cNvSpPr txBox="1"/>
            <p:nvPr/>
          </p:nvSpPr>
          <p:spPr>
            <a:xfrm>
              <a:off x="4445001" y="2559844"/>
              <a:ext cx="2692400" cy="707886"/>
            </a:xfrm>
            <a:prstGeom prst="rect">
              <a:avLst/>
            </a:prstGeom>
            <a:noFill/>
          </p:spPr>
          <p:txBody>
            <a:bodyPr vertOverflow="overflow" vert="horz" wrap="square" rtlCol="0" anchor="ctr">
              <a:spAutoFit/>
            </a:bodyPr>
            <a:lstStyle/>
            <a:p>
              <a:pPr algn="ctr"/>
              <a:r>
                <a:rPr lang="ko-KR" altLang="en-US" sz="2000" b="1">
                  <a:solidFill>
                    <a:srgbClr val="4361EE"/>
                  </a:solidFill>
                  <a:latin typeface="Pretendard"/>
                </a:rPr>
                <a:t>반복 판단 </a:t>
              </a:r>
              <a:r>
                <a:rPr lang="en-US" sz="2000" b="1">
                  <a:solidFill>
                    <a:srgbClr val="4361EE"/>
                  </a:solidFill>
                  <a:latin typeface="Pretendard"/>
                </a:rPr>
                <a:t>vs
</a:t>
              </a:r>
              <a:r>
                <a:rPr lang="ko-KR" altLang="en-US" sz="2000" b="1">
                  <a:solidFill>
                    <a:srgbClr val="4361EE"/>
                  </a:solidFill>
                  <a:latin typeface="Pretendard"/>
                </a:rPr>
                <a:t>정밀 검증은 다름</a:t>
              </a:r>
              <a:endParaRPr lang="en-KR" sz="2000" b="1">
                <a:solidFill>
                  <a:srgbClr val="4361EE"/>
                </a:solidFill>
                <a:latin typeface="Pretendard"/>
              </a:endParaRPr>
            </a:p>
          </p:txBody>
        </p:sp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931651F0-BE4D-D345-A617-70200BA7DFB0}"/>
                </a:ext>
              </a:extLst>
            </p:cNvPr>
            <p:cNvSpPr/>
            <p:nvPr/>
          </p:nvSpPr>
          <p:spPr>
            <a:xfrm>
              <a:off x="7747000" y="1905000"/>
              <a:ext cx="3200400" cy="2032000"/>
            </a:xfrm>
            <a:prstGeom prst="roundRect">
              <a:avLst/>
            </a:prstGeom>
            <a:solidFill>
              <a:srgbClr val="E8F8F5"/>
            </a:solidFill>
            <a:ln w="1905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KR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DD2B052-F4C6-2E44-9B91-0B3D99F7FA40}"/>
                </a:ext>
              </a:extLst>
            </p:cNvPr>
            <p:cNvSpPr txBox="1"/>
            <p:nvPr/>
          </p:nvSpPr>
          <p:spPr>
            <a:xfrm>
              <a:off x="7899401" y="2559844"/>
              <a:ext cx="2692400" cy="707886"/>
            </a:xfrm>
            <a:prstGeom prst="rect">
              <a:avLst/>
            </a:prstGeom>
            <a:noFill/>
          </p:spPr>
          <p:txBody>
            <a:bodyPr vertOverflow="overflow" vert="horz" wrap="square" rtlCol="0" anchor="ctr">
              <a:spAutoFit/>
            </a:bodyPr>
            <a:lstStyle/>
            <a:p>
              <a:pPr algn="ctr"/>
              <a:r>
                <a:rPr lang="ko-KR" altLang="en-US" sz="2000" b="1" dirty="0">
                  <a:solidFill>
                    <a:srgbClr val="2EC4B6"/>
                  </a:solidFill>
                  <a:latin typeface="Pretendard"/>
                </a:rPr>
                <a:t>비용</a:t>
              </a:r>
              <a:r>
                <a:rPr lang="en-US" altLang="ko-KR" sz="2000" b="1" dirty="0">
                  <a:solidFill>
                    <a:srgbClr val="2EC4B6"/>
                  </a:solidFill>
                  <a:latin typeface="Pretendard"/>
                </a:rPr>
                <a:t>/</a:t>
              </a:r>
              <a:r>
                <a:rPr lang="ko-KR" altLang="en-US" sz="2000" b="1" dirty="0">
                  <a:solidFill>
                    <a:srgbClr val="2EC4B6"/>
                  </a:solidFill>
                  <a:latin typeface="Pretendard"/>
                </a:rPr>
                <a:t>성능</a:t>
              </a:r>
              <a:r>
                <a:rPr lang="en-US" altLang="ko-KR" sz="2000" b="1" dirty="0">
                  <a:solidFill>
                    <a:srgbClr val="2EC4B6"/>
                  </a:solidFill>
                  <a:latin typeface="Pretendard"/>
                </a:rPr>
                <a:t>/</a:t>
              </a:r>
              <a:r>
                <a:rPr lang="ko-KR" altLang="en-US" sz="2000" b="1" dirty="0" err="1">
                  <a:solidFill>
                    <a:srgbClr val="2EC4B6"/>
                  </a:solidFill>
                  <a:latin typeface="Pretendard"/>
                </a:rPr>
                <a:t>레이턴시</a:t>
              </a:r>
              <a:r>
                <a:rPr lang="ko-KR" altLang="en-US" sz="2000" b="1" dirty="0">
                  <a:solidFill>
                    <a:srgbClr val="2EC4B6"/>
                  </a:solidFill>
                  <a:latin typeface="Pretendard"/>
                </a:rPr>
                <a:t>
고려 필요</a:t>
              </a:r>
              <a:endParaRPr lang="en-KR" sz="2000" b="1" dirty="0">
                <a:solidFill>
                  <a:srgbClr val="2EC4B6"/>
                </a:solidFill>
                <a:latin typeface="Pretendard"/>
              </a:endParaRP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8932FECD-8949-404E-A539-307B499510E9}"/>
              </a:ext>
            </a:extLst>
          </p:cNvPr>
          <p:cNvSpPr txBox="1"/>
          <p:nvPr/>
        </p:nvSpPr>
        <p:spPr>
          <a:xfrm>
            <a:off x="838200" y="4878388"/>
            <a:ext cx="105156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ko-KR" altLang="en-US" sz="2800" b="1">
                <a:solidFill>
                  <a:srgbClr val="FF6B35"/>
                </a:solidFill>
                <a:latin typeface="Pretendard"/>
              </a:rPr>
              <a:t>비용</a:t>
            </a:r>
            <a:r>
              <a:rPr lang="en-US" altLang="ko-KR" sz="2800" b="1">
                <a:solidFill>
                  <a:srgbClr val="FF6B35"/>
                </a:solidFill>
                <a:latin typeface="Pretendard"/>
              </a:rPr>
              <a:t>/</a:t>
            </a:r>
            <a:r>
              <a:rPr lang="ko-KR" altLang="en-US" sz="2800" b="1">
                <a:solidFill>
                  <a:srgbClr val="FF6B35"/>
                </a:solidFill>
                <a:latin typeface="Pretendard"/>
              </a:rPr>
              <a:t>성능</a:t>
            </a:r>
            <a:r>
              <a:rPr lang="en-US" altLang="ko-KR" sz="2800" b="1">
                <a:solidFill>
                  <a:srgbClr val="FF6B35"/>
                </a:solidFill>
                <a:latin typeface="Pretendard"/>
              </a:rPr>
              <a:t>/</a:t>
            </a:r>
            <a:r>
              <a:rPr lang="ko-KR" altLang="en-US" sz="2800" b="1">
                <a:solidFill>
                  <a:srgbClr val="FF6B35"/>
                </a:solidFill>
                <a:latin typeface="Pretendard"/>
              </a:rPr>
              <a:t>레이턴시 트레이드오프 → 역할별 모델 분리</a:t>
            </a:r>
            <a:endParaRPr lang="en-KR" sz="2800" b="1">
              <a:solidFill>
                <a:srgbClr val="FF6B35"/>
              </a:solidFill>
              <a:latin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29384484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16CAC-11AC-1BAC-5320-BDA0F84EF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>
              <a:buNone/>
            </a:pPr>
            <a:r>
              <a:rPr lang="ko-KR" sz="3200" b="1" dirty="0">
                <a:solidFill>
                  <a:srgbClr val="1A1A2E"/>
                </a:solidFill>
                <a:latin typeface="Pretendard"/>
                <a:ea typeface="Pretendard"/>
              </a:rPr>
              <a:t>역할에 따른 모델 선택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F91C3A1-2AC7-C842-F3D2-383C30B57109}"/>
              </a:ext>
            </a:extLst>
          </p:cNvPr>
          <p:cNvGrpSpPr/>
          <p:nvPr/>
        </p:nvGrpSpPr>
        <p:grpSpPr>
          <a:xfrm>
            <a:off x="838200" y="2184400"/>
            <a:ext cx="10515600" cy="3378200"/>
            <a:chOff x="838200" y="1778000"/>
            <a:chExt cx="10515600" cy="3378200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B347DC2D-F8D9-564F-B86E-47417E5A0C57}"/>
                </a:ext>
              </a:extLst>
            </p:cNvPr>
            <p:cNvSpPr txBox="1"/>
            <p:nvPr/>
          </p:nvSpPr>
          <p:spPr>
            <a:xfrm>
              <a:off x="838200" y="1778000"/>
              <a:ext cx="10515600" cy="52322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spAutoFit/>
            </a:bodyPr>
            <a:lstStyle/>
            <a:p>
              <a:pPr algn="l"/>
              <a:r>
                <a:rPr lang="ko-KR" altLang="en-US" sz="2800" b="1">
                  <a:solidFill>
                    <a:srgbClr val="FF6B35"/>
                  </a:solidFill>
                  <a:latin typeface="Pretendard"/>
                </a:rPr>
                <a:t>결국 직접 써보는 게 제일 좋음 </a:t>
              </a:r>
              <a:r>
                <a:rPr lang="en-US" altLang="ko-KR" sz="2800" b="1">
                  <a:solidFill>
                    <a:srgbClr val="FF6B35"/>
                  </a:solidFill>
                  <a:latin typeface="Pretendard"/>
                </a:rPr>
                <a:t>(</a:t>
              </a:r>
              <a:r>
                <a:rPr lang="en-US" sz="2800" b="1">
                  <a:solidFill>
                    <a:srgbClr val="FF6B35"/>
                  </a:solidFill>
                  <a:latin typeface="Pretendard"/>
                </a:rPr>
                <a:t>A/B </a:t>
              </a:r>
              <a:r>
                <a:rPr lang="ko-KR" altLang="en-US" sz="2800" b="1">
                  <a:solidFill>
                    <a:srgbClr val="FF6B35"/>
                  </a:solidFill>
                  <a:latin typeface="Pretendard"/>
                </a:rPr>
                <a:t>테스트</a:t>
              </a:r>
              <a:r>
                <a:rPr lang="en-US" altLang="ko-KR" sz="2800" b="1">
                  <a:solidFill>
                    <a:srgbClr val="FF6B35"/>
                  </a:solidFill>
                  <a:latin typeface="Pretendard"/>
                </a:rPr>
                <a:t>)</a:t>
              </a:r>
              <a:endParaRPr lang="en-KR" sz="2800" b="1">
                <a:solidFill>
                  <a:srgbClr val="FF6B35"/>
                </a:solidFill>
                <a:latin typeface="Pretendard"/>
              </a:endParaRPr>
            </a:p>
          </p:txBody>
        </p:sp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84EED7B3-8D74-5145-AC77-06BC119842B2}"/>
                </a:ext>
              </a:extLst>
            </p:cNvPr>
            <p:cNvSpPr/>
            <p:nvPr/>
          </p:nvSpPr>
          <p:spPr>
            <a:xfrm>
              <a:off x="838200" y="2476500"/>
              <a:ext cx="5181600" cy="1651000"/>
            </a:xfrm>
            <a:prstGeom prst="roundRect">
              <a:avLst/>
            </a:prstGeom>
            <a:solidFill>
              <a:srgbClr val="E8F8F5"/>
            </a:solidFill>
            <a:ln w="1905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KR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8E8F53E-C783-8645-B887-10E96961EF86}"/>
                </a:ext>
              </a:extLst>
            </p:cNvPr>
            <p:cNvSpPr txBox="1"/>
            <p:nvPr/>
          </p:nvSpPr>
          <p:spPr>
            <a:xfrm>
              <a:off x="1016000" y="2603500"/>
              <a:ext cx="4826000" cy="461665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spAutoFit/>
            </a:bodyPr>
            <a:lstStyle/>
            <a:p>
              <a:pPr algn="l"/>
              <a:r>
                <a:rPr lang="ko-KR" altLang="en-US" sz="2400" b="1" dirty="0">
                  <a:solidFill>
                    <a:srgbClr val="2EC4B6"/>
                  </a:solidFill>
                  <a:latin typeface="Pretendard"/>
                </a:rPr>
                <a:t>단순 분류 </a:t>
              </a:r>
              <a:r>
                <a:rPr lang="en-US" altLang="ko-KR" sz="2400" b="1" dirty="0">
                  <a:solidFill>
                    <a:srgbClr val="2EC4B6"/>
                  </a:solidFill>
                  <a:latin typeface="Pretendard"/>
                </a:rPr>
                <a:t>/ </a:t>
              </a:r>
              <a:r>
                <a:rPr lang="ko-KR" altLang="en-US" sz="2400" b="1" dirty="0">
                  <a:solidFill>
                    <a:srgbClr val="2EC4B6"/>
                  </a:solidFill>
                  <a:latin typeface="Pretendard"/>
                </a:rPr>
                <a:t>처리 </a:t>
              </a:r>
              <a:r>
                <a:rPr lang="en-US" altLang="ko-KR" sz="2400" b="1" dirty="0">
                  <a:solidFill>
                    <a:srgbClr val="2EC4B6"/>
                  </a:solidFill>
                  <a:latin typeface="Pretendard"/>
                </a:rPr>
                <a:t>/ </a:t>
              </a:r>
              <a:r>
                <a:rPr lang="ko-KR" altLang="en-US" sz="2400" b="1" dirty="0">
                  <a:solidFill>
                    <a:srgbClr val="2EC4B6"/>
                  </a:solidFill>
                  <a:latin typeface="Pretendard"/>
                </a:rPr>
                <a:t>도구 실행</a:t>
              </a:r>
              <a:endParaRPr lang="en-KR" sz="2400" b="1" dirty="0">
                <a:solidFill>
                  <a:srgbClr val="2EC4B6"/>
                </a:solidFill>
                <a:latin typeface="Pretendard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77FA67B-F408-1F4A-8D89-2F05BB1D983F}"/>
                </a:ext>
              </a:extLst>
            </p:cNvPr>
            <p:cNvSpPr txBox="1"/>
            <p:nvPr/>
          </p:nvSpPr>
          <p:spPr>
            <a:xfrm>
              <a:off x="1016000" y="3124200"/>
              <a:ext cx="4826000" cy="707886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spAutoFit/>
            </a:bodyPr>
            <a:lstStyle/>
            <a:p>
              <a:pPr algn="l"/>
              <a:r>
                <a:rPr lang="en-US" sz="2000" dirty="0">
                  <a:solidFill>
                    <a:srgbClr val="2D2D44"/>
                  </a:solidFill>
                  <a:latin typeface="Pretendard"/>
                </a:rPr>
                <a:t>→ Flash, Haiku, mini </a:t>
              </a:r>
              <a:r>
                <a:rPr lang="ko-KR" altLang="en-US" sz="2000" dirty="0">
                  <a:solidFill>
                    <a:srgbClr val="2D2D44"/>
                  </a:solidFill>
                  <a:latin typeface="Pretendard"/>
                </a:rPr>
                <a:t>등
   가벼운 모델로 충분</a:t>
              </a:r>
              <a:endParaRPr lang="en-KR" sz="2000" dirty="0">
                <a:solidFill>
                  <a:srgbClr val="2D2D44"/>
                </a:solidFill>
                <a:latin typeface="Pretendard"/>
              </a:endParaRPr>
            </a:p>
          </p:txBody>
        </p:sp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CBB9618E-7041-0C48-A42A-436B1F0D62DE}"/>
                </a:ext>
              </a:extLst>
            </p:cNvPr>
            <p:cNvSpPr/>
            <p:nvPr/>
          </p:nvSpPr>
          <p:spPr>
            <a:xfrm>
              <a:off x="6273800" y="2476500"/>
              <a:ext cx="5080000" cy="1651000"/>
            </a:xfrm>
            <a:prstGeom prst="roundRect">
              <a:avLst/>
            </a:prstGeom>
            <a:solidFill>
              <a:srgbClr val="F0EDFF"/>
            </a:solidFill>
            <a:ln w="1905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KR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E3211A6-64F3-5148-977B-F34DF3FEACC3}"/>
                </a:ext>
              </a:extLst>
            </p:cNvPr>
            <p:cNvSpPr txBox="1"/>
            <p:nvPr/>
          </p:nvSpPr>
          <p:spPr>
            <a:xfrm>
              <a:off x="6451600" y="2603500"/>
              <a:ext cx="4724400" cy="461665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spAutoFit/>
            </a:bodyPr>
            <a:lstStyle/>
            <a:p>
              <a:pPr algn="l"/>
              <a:r>
                <a:rPr lang="ko-KR" altLang="en-US" sz="2400" b="1">
                  <a:solidFill>
                    <a:srgbClr val="4361EE"/>
                  </a:solidFill>
                  <a:latin typeface="Pretendard"/>
                </a:rPr>
                <a:t>정책 판단 </a:t>
              </a:r>
              <a:r>
                <a:rPr lang="en-US" altLang="ko-KR" sz="2400" b="1">
                  <a:solidFill>
                    <a:srgbClr val="4361EE"/>
                  </a:solidFill>
                  <a:latin typeface="Pretendard"/>
                </a:rPr>
                <a:t>/ </a:t>
              </a:r>
              <a:r>
                <a:rPr lang="ko-KR" altLang="en-US" sz="2400" b="1">
                  <a:solidFill>
                    <a:srgbClr val="4361EE"/>
                  </a:solidFill>
                  <a:latin typeface="Pretendard"/>
                </a:rPr>
                <a:t>논리적 근거 필요</a:t>
              </a:r>
              <a:endParaRPr lang="en-KR" sz="2400" b="1">
                <a:solidFill>
                  <a:srgbClr val="4361EE"/>
                </a:solidFill>
                <a:latin typeface="Pretendard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3CBBAEF-5CF2-904C-B074-4DC3BF4F233C}"/>
                </a:ext>
              </a:extLst>
            </p:cNvPr>
            <p:cNvSpPr txBox="1"/>
            <p:nvPr/>
          </p:nvSpPr>
          <p:spPr>
            <a:xfrm>
              <a:off x="6451600" y="3124200"/>
              <a:ext cx="4724400" cy="707886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spAutoFit/>
            </a:bodyPr>
            <a:lstStyle/>
            <a:p>
              <a:pPr algn="l"/>
              <a:r>
                <a:rPr lang="en-US" sz="2000" dirty="0">
                  <a:solidFill>
                    <a:srgbClr val="2D2D44"/>
                  </a:solidFill>
                  <a:latin typeface="Pretendard"/>
                </a:rPr>
                <a:t>→ Pro, Opus(Sonnet), o3 </a:t>
              </a:r>
              <a:r>
                <a:rPr lang="ko-KR" altLang="en-US" sz="2000" dirty="0">
                  <a:solidFill>
                    <a:srgbClr val="2D2D44"/>
                  </a:solidFill>
                  <a:latin typeface="Pretendard"/>
                </a:rPr>
                <a:t>등
   고성능 모델 추천</a:t>
              </a:r>
              <a:endParaRPr lang="en-KR" sz="2000" dirty="0">
                <a:solidFill>
                  <a:srgbClr val="2D2D44"/>
                </a:solidFill>
                <a:latin typeface="Pretendard"/>
              </a:endParaRPr>
            </a:p>
          </p:txBody>
        </p:sp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73A6D0AE-A83F-9047-8005-F82A7E5B2197}"/>
                </a:ext>
              </a:extLst>
            </p:cNvPr>
            <p:cNvSpPr/>
            <p:nvPr/>
          </p:nvSpPr>
          <p:spPr>
            <a:xfrm>
              <a:off x="838200" y="4445000"/>
              <a:ext cx="10515600" cy="711200"/>
            </a:xfrm>
            <a:prstGeom prst="roundRect">
              <a:avLst/>
            </a:prstGeom>
            <a:solidFill>
              <a:srgbClr val="FFF3ED"/>
            </a:solidFill>
            <a:ln w="1905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KR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66036B9-9D7A-EA45-8566-66711F6FF2B9}"/>
                </a:ext>
              </a:extLst>
            </p:cNvPr>
            <p:cNvSpPr txBox="1"/>
            <p:nvPr/>
          </p:nvSpPr>
          <p:spPr>
            <a:xfrm>
              <a:off x="1016000" y="4569767"/>
              <a:ext cx="10160000" cy="461665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spAutoFit/>
            </a:bodyPr>
            <a:lstStyle/>
            <a:p>
              <a:pPr algn="l"/>
              <a:r>
                <a:rPr lang="ko-KR" altLang="en-US" sz="2400" b="1" dirty="0">
                  <a:solidFill>
                    <a:srgbClr val="E86833"/>
                  </a:solidFill>
                  <a:latin typeface="Pretendard"/>
                </a:rPr>
                <a:t>큰 모델은 </a:t>
              </a:r>
              <a:r>
                <a:rPr lang="ko-KR" altLang="en-US" sz="2400" b="1" dirty="0" err="1">
                  <a:solidFill>
                    <a:srgbClr val="E86833"/>
                  </a:solidFill>
                  <a:latin typeface="Pretendard"/>
                </a:rPr>
                <a:t>레이턴시</a:t>
              </a:r>
              <a:r>
                <a:rPr lang="ko-KR" altLang="en-US" sz="2400" b="1" dirty="0">
                  <a:solidFill>
                    <a:srgbClr val="E86833"/>
                  </a:solidFill>
                  <a:latin typeface="Pretendard"/>
                </a:rPr>
                <a:t> 무관한 경우에만 사용 추천</a:t>
              </a:r>
              <a:endParaRPr lang="en-KR" sz="2400" b="1" dirty="0">
                <a:solidFill>
                  <a:srgbClr val="E86833"/>
                </a:solidFill>
                <a:latin typeface="Pretendard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597182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171FD4-CB6E-B5F9-2E94-279F477591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>
              <a:buNone/>
            </a:pPr>
            <a:r>
              <a:rPr lang="ko-KR" sz="3200" b="1" dirty="0">
                <a:solidFill>
                  <a:srgbClr val="1A1A2E"/>
                </a:solidFill>
                <a:latin typeface="Pretendard"/>
                <a:ea typeface="Pretendard"/>
              </a:rPr>
              <a:t>비용 모니터링과 가드레일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022A67-ABBC-97A3-109A-15E35029C5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ko-KR" dirty="0">
                <a:solidFill>
                  <a:srgbClr val="2D2D44"/>
                </a:solidFill>
                <a:latin typeface="Pretendard"/>
                <a:ea typeface="Pretendard"/>
              </a:rPr>
              <a:t>자율적 에이전트는 루프 등으로 비용 비정상 증가 위험</a:t>
            </a:r>
          </a:p>
          <a:p>
            <a:pPr algn="l">
              <a:lnSpc>
                <a:spcPct val="100000"/>
              </a:lnSpc>
              <a:buNone/>
            </a:pPr>
            <a:r>
              <a:rPr lang="ko-KR" b="1" dirty="0">
                <a:solidFill>
                  <a:srgbClr val="4361EE"/>
                </a:solidFill>
                <a:latin typeface="Pretendard"/>
                <a:ea typeface="Pretendard"/>
              </a:rPr>
              <a:t>기술적 가드레일:</a:t>
            </a:r>
          </a:p>
          <a:p>
            <a:pPr lvl="1" algn="l">
              <a:lnSpc>
                <a:spcPct val="100000"/>
              </a:lnSpc>
            </a:pPr>
            <a:r>
              <a:rPr lang="ko-KR" sz="2800" dirty="0">
                <a:solidFill>
                  <a:srgbClr val="2D2D44"/>
                </a:solidFill>
                <a:latin typeface="Pretendard"/>
                <a:ea typeface="Pretendard"/>
              </a:rPr>
              <a:t>Invocation 횟수 제한, Timeout 설정</a:t>
            </a:r>
          </a:p>
          <a:p>
            <a:pPr algn="l">
              <a:lnSpc>
                <a:spcPct val="100000"/>
              </a:lnSpc>
              <a:buNone/>
            </a:pPr>
            <a:r>
              <a:rPr lang="ko-KR" b="1" dirty="0">
                <a:solidFill>
                  <a:srgbClr val="2EC4B6"/>
                </a:solidFill>
                <a:latin typeface="Pretendard"/>
                <a:ea typeface="Pretendard"/>
              </a:rPr>
              <a:t>모니터링:</a:t>
            </a:r>
          </a:p>
          <a:p>
            <a:pPr lvl="1" algn="l">
              <a:lnSpc>
                <a:spcPct val="100000"/>
              </a:lnSpc>
            </a:pPr>
            <a:r>
              <a:rPr lang="ko-KR" sz="2800" dirty="0">
                <a:solidFill>
                  <a:srgbClr val="2D2D44"/>
                </a:solidFill>
                <a:latin typeface="Pretendard"/>
                <a:ea typeface="Pretendard"/>
              </a:rPr>
              <a:t>에이전트별 비용 추적, 이상 탐지</a:t>
            </a:r>
            <a:endParaRPr lang="en-US" altLang="ko-KR" sz="2800" dirty="0">
              <a:solidFill>
                <a:srgbClr val="2D2D44"/>
              </a:solidFill>
              <a:latin typeface="Pretendard"/>
              <a:ea typeface="Pretendard"/>
            </a:endParaRPr>
          </a:p>
          <a:p>
            <a:pPr lvl="1" algn="l">
              <a:lnSpc>
                <a:spcPct val="100000"/>
              </a:lnSpc>
              <a:buFont typeface="Arial"/>
              <a:buChar char="→"/>
            </a:pPr>
            <a:endParaRPr lang="ko-KR" sz="2800" dirty="0">
              <a:solidFill>
                <a:srgbClr val="2D2D44"/>
              </a:solidFill>
              <a:latin typeface="Pretendard"/>
              <a:ea typeface="Pretendard"/>
            </a:endParaRPr>
          </a:p>
          <a:p>
            <a:pPr algn="l">
              <a:lnSpc>
                <a:spcPct val="100000"/>
              </a:lnSpc>
              <a:buNone/>
            </a:pPr>
            <a:r>
              <a:rPr lang="ko-KR" b="1" dirty="0">
                <a:solidFill>
                  <a:srgbClr val="E71D36"/>
                </a:solidFill>
                <a:latin typeface="Pretendard"/>
                <a:ea typeface="Pretendard"/>
              </a:rPr>
              <a:t>가드레일과 모니터링 모두 필수</a:t>
            </a:r>
          </a:p>
        </p:txBody>
      </p:sp>
    </p:spTree>
    <p:extLst>
      <p:ext uri="{BB962C8B-B14F-4D97-AF65-F5344CB8AC3E}">
        <p14:creationId xmlns:p14="http://schemas.microsoft.com/office/powerpoint/2010/main" val="25428048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Num"/>
          <p:cNvSpPr txBox="1"/>
          <p:nvPr/>
        </p:nvSpPr>
        <p:spPr>
          <a:xfrm>
            <a:off x="731520" y="1371600"/>
            <a:ext cx="10728960" cy="914400"/>
          </a:xfrm>
          <a:prstGeom prst="rect">
            <a:avLst/>
          </a:prstGeom>
          <a:noFill/>
          <a:ln>
            <a:noFill/>
          </a:ln>
        </p:spPr>
        <p:txBody>
          <a:bodyPr wrap="square" anchor="b"/>
          <a:lstStyle/>
          <a:p>
            <a:pPr algn="l">
              <a:buNone/>
            </a:pPr>
            <a:r>
              <a:rPr lang="en-US" sz="6000" b="1" dirty="0">
                <a:solidFill>
                  <a:srgbClr val="7209B7"/>
                </a:solidFill>
                <a:latin typeface="Pretendard"/>
                <a:ea typeface="Pretendard"/>
              </a:rPr>
              <a:t>04</a:t>
            </a:r>
          </a:p>
        </p:txBody>
      </p:sp>
      <p:sp>
        <p:nvSpPr>
          <p:cNvPr id="11" name="SectionTitle"/>
          <p:cNvSpPr txBox="1"/>
          <p:nvPr/>
        </p:nvSpPr>
        <p:spPr>
          <a:xfrm>
            <a:off x="731520" y="2440919"/>
            <a:ext cx="10728960" cy="60456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ko-KR" sz="3200" b="1" dirty="0">
                <a:solidFill>
                  <a:srgbClr val="1A1A2E"/>
                </a:solidFill>
                <a:latin typeface="Pretendard"/>
                <a:ea typeface="Pretendard"/>
              </a:rPr>
              <a:t>평가</a:t>
            </a:r>
            <a:r>
              <a:rPr lang="ko-KR" altLang="en-US" sz="3200" b="1" dirty="0">
                <a:solidFill>
                  <a:srgbClr val="1A1A2E"/>
                </a:solidFill>
                <a:latin typeface="Pretendard"/>
                <a:ea typeface="Pretendard"/>
              </a:rPr>
              <a:t> </a:t>
            </a:r>
            <a:r>
              <a:rPr lang="en-US" altLang="ko-KR" sz="3200" b="1" dirty="0">
                <a:solidFill>
                  <a:srgbClr val="1A1A2E"/>
                </a:solidFill>
                <a:latin typeface="Pretendard"/>
                <a:ea typeface="Pretendard"/>
              </a:rPr>
              <a:t>&amp;</a:t>
            </a:r>
            <a:r>
              <a:rPr lang="ko-KR" altLang="en-US" sz="3200" b="1" dirty="0">
                <a:solidFill>
                  <a:srgbClr val="1A1A2E"/>
                </a:solidFill>
                <a:latin typeface="Pretendard"/>
                <a:ea typeface="Pretendard"/>
              </a:rPr>
              <a:t> 모니터링</a:t>
            </a:r>
            <a:endParaRPr lang="ko-KR" sz="3200" b="1" dirty="0">
              <a:solidFill>
                <a:srgbClr val="1A1A2E"/>
              </a:solidFill>
              <a:latin typeface="Pretendard"/>
              <a:ea typeface="Pretendard"/>
            </a:endParaRPr>
          </a:p>
        </p:txBody>
      </p:sp>
      <p:sp>
        <p:nvSpPr>
          <p:cNvPr id="12" name="Line"/>
          <p:cNvSpPr/>
          <p:nvPr/>
        </p:nvSpPr>
        <p:spPr>
          <a:xfrm>
            <a:off x="731520" y="2286000"/>
            <a:ext cx="1371600" cy="45720"/>
          </a:xfrm>
          <a:prstGeom prst="rect">
            <a:avLst/>
          </a:prstGeom>
          <a:solidFill>
            <a:srgbClr val="7209B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5553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8B59-4A7B-7177-35AC-BE125501F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>
              <a:buNone/>
            </a:pPr>
            <a:r>
              <a:rPr lang="ko-KR" altLang="en-US" sz="3200" b="1" dirty="0">
                <a:solidFill>
                  <a:srgbClr val="1A1A2E"/>
                </a:solidFill>
                <a:latin typeface="Pretendard"/>
                <a:ea typeface="Pretendard"/>
              </a:rPr>
              <a:t>정형화된 응답을 내는 경우</a:t>
            </a:r>
            <a:endParaRPr lang="ko-KR" sz="3200" b="1" dirty="0">
              <a:solidFill>
                <a:srgbClr val="1A1A2E"/>
              </a:solidFill>
              <a:latin typeface="Pretendard"/>
              <a:ea typeface="Pretendard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851EED-3B2C-DB38-3401-7E3487C113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r>
              <a:rPr lang="ko-KR" altLang="en-US" dirty="0">
                <a:solidFill>
                  <a:schemeClr val="tx1"/>
                </a:solidFill>
                <a:latin typeface="Pretendard"/>
                <a:ea typeface="Pretendard"/>
              </a:rPr>
              <a:t>이 경우는 쉬움</a:t>
            </a:r>
            <a:endParaRPr lang="en-US" altLang="ko-KR" dirty="0">
              <a:solidFill>
                <a:schemeClr val="tx1"/>
              </a:solidFill>
              <a:latin typeface="Pretendard"/>
              <a:ea typeface="Pretendard"/>
            </a:endParaRPr>
          </a:p>
          <a:p>
            <a:r>
              <a:rPr lang="ko-KR" altLang="en-US" dirty="0">
                <a:solidFill>
                  <a:schemeClr val="tx1"/>
                </a:solidFill>
                <a:latin typeface="Pretendard"/>
                <a:ea typeface="Pretendard"/>
              </a:rPr>
              <a:t>맞았는지</a:t>
            </a:r>
            <a:r>
              <a:rPr lang="en-US" altLang="ko-KR" dirty="0">
                <a:solidFill>
                  <a:schemeClr val="tx1"/>
                </a:solidFill>
                <a:latin typeface="Pretendard"/>
                <a:ea typeface="Pretendard"/>
              </a:rPr>
              <a:t>/</a:t>
            </a:r>
            <a:r>
              <a:rPr lang="ko-KR" altLang="en-US" dirty="0">
                <a:solidFill>
                  <a:schemeClr val="tx1"/>
                </a:solidFill>
                <a:latin typeface="Pretendard"/>
                <a:ea typeface="Pretendard"/>
              </a:rPr>
              <a:t>틀렸는지 검사하면 됨</a:t>
            </a:r>
            <a:endParaRPr lang="en-US" altLang="ko-KR" dirty="0">
              <a:solidFill>
                <a:schemeClr val="tx1"/>
              </a:solidFill>
              <a:latin typeface="Pretendard"/>
              <a:ea typeface="Pretendard"/>
            </a:endParaRPr>
          </a:p>
          <a:p>
            <a:r>
              <a:rPr lang="ko-KR" altLang="en-US" dirty="0">
                <a:solidFill>
                  <a:schemeClr val="tx1"/>
                </a:solidFill>
                <a:latin typeface="Pretendard"/>
                <a:ea typeface="Pretendard"/>
              </a:rPr>
              <a:t>중요한 것은 평가 데이터셋의 품질</a:t>
            </a:r>
            <a:endParaRPr lang="ko-KR" dirty="0">
              <a:solidFill>
                <a:schemeClr val="tx1"/>
              </a:solidFill>
              <a:latin typeface="Pretendard"/>
              <a:ea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143125449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94E9B-7C9F-2774-C15A-D16ADB114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>
              <a:buNone/>
            </a:pPr>
            <a:r>
              <a:rPr lang="ko-KR" sz="3200" b="1" dirty="0">
                <a:solidFill>
                  <a:srgbClr val="1A1A2E"/>
                </a:solidFill>
                <a:latin typeface="Pretendard"/>
                <a:ea typeface="Pretendard"/>
              </a:rPr>
              <a:t>비결정적 시스템</a:t>
            </a:r>
            <a:r>
              <a:rPr lang="ko-KR" altLang="en-US" sz="3200" b="1" dirty="0">
                <a:solidFill>
                  <a:srgbClr val="1A1A2E"/>
                </a:solidFill>
                <a:latin typeface="Pretendard"/>
                <a:ea typeface="Pretendard"/>
              </a:rPr>
              <a:t>이기 때문에</a:t>
            </a:r>
            <a:endParaRPr lang="ko-KR" sz="3200" b="1" dirty="0">
              <a:solidFill>
                <a:srgbClr val="1A1A2E"/>
              </a:solidFill>
              <a:latin typeface="Pretendard"/>
              <a:ea typeface="Pretendard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2C84D9E-2F52-548B-CA0F-CFCFF09B790C}"/>
              </a:ext>
            </a:extLst>
          </p:cNvPr>
          <p:cNvGrpSpPr/>
          <p:nvPr/>
        </p:nvGrpSpPr>
        <p:grpSpPr>
          <a:xfrm>
            <a:off x="838200" y="2032000"/>
            <a:ext cx="10515600" cy="3556000"/>
            <a:chOff x="838200" y="1778000"/>
            <a:chExt cx="10515600" cy="3556000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0E8393BF-5FCD-3340-9BE2-29612BDF065D}"/>
                </a:ext>
              </a:extLst>
            </p:cNvPr>
            <p:cNvSpPr txBox="1"/>
            <p:nvPr/>
          </p:nvSpPr>
          <p:spPr>
            <a:xfrm>
              <a:off x="838200" y="1778000"/>
              <a:ext cx="10515600" cy="4572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spAutoFit/>
            </a:bodyPr>
            <a:lstStyle/>
            <a:p>
              <a:pPr algn="l"/>
              <a:r>
                <a:rPr lang="ko-KR" altLang="en-US" sz="2400" dirty="0">
                  <a:solidFill>
                    <a:srgbClr val="2D2D44"/>
                  </a:solidFill>
                  <a:latin typeface="Pretendard"/>
                </a:rPr>
                <a:t>자율적 에이전트는 루프 등으로 비용 비정상 증가 위험</a:t>
              </a:r>
              <a:endParaRPr lang="en-KR" sz="2400" dirty="0">
                <a:solidFill>
                  <a:srgbClr val="2D2D44"/>
                </a:solidFill>
                <a:latin typeface="Pretendard"/>
              </a:endParaRPr>
            </a:p>
          </p:txBody>
        </p:sp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08356F90-DE60-7F49-9679-8BF98CD4D50D}"/>
                </a:ext>
              </a:extLst>
            </p:cNvPr>
            <p:cNvSpPr/>
            <p:nvPr/>
          </p:nvSpPr>
          <p:spPr>
            <a:xfrm>
              <a:off x="838200" y="2476500"/>
              <a:ext cx="5181600" cy="1905000"/>
            </a:xfrm>
            <a:prstGeom prst="roundRect">
              <a:avLst/>
            </a:prstGeom>
            <a:solidFill>
              <a:srgbClr val="F0EDFF"/>
            </a:solidFill>
            <a:ln w="1905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KR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92EA695A-96D4-8E43-9AFC-D87EAEE52021}"/>
                </a:ext>
              </a:extLst>
            </p:cNvPr>
            <p:cNvSpPr txBox="1"/>
            <p:nvPr/>
          </p:nvSpPr>
          <p:spPr>
            <a:xfrm>
              <a:off x="1016000" y="2641600"/>
              <a:ext cx="4826000" cy="4572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spAutoFit/>
            </a:bodyPr>
            <a:lstStyle/>
            <a:p>
              <a:pPr algn="l"/>
              <a:r>
                <a:rPr lang="ko-KR" altLang="en-US" sz="2400" b="1" dirty="0">
                  <a:solidFill>
                    <a:srgbClr val="4361EE"/>
                  </a:solidFill>
                  <a:latin typeface="Pretendard"/>
                </a:rPr>
                <a:t>기술적 가드레일</a:t>
              </a:r>
              <a:endParaRPr lang="en-KR" sz="2400" b="1" dirty="0">
                <a:solidFill>
                  <a:srgbClr val="4361EE"/>
                </a:solidFill>
                <a:latin typeface="Pretendard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53A2D48-B7F6-0A4C-801F-AE0677569DB5}"/>
                </a:ext>
              </a:extLst>
            </p:cNvPr>
            <p:cNvSpPr txBox="1"/>
            <p:nvPr/>
          </p:nvSpPr>
          <p:spPr>
            <a:xfrm>
              <a:off x="1016000" y="3200400"/>
              <a:ext cx="4826000" cy="707886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spAutoFit/>
            </a:bodyPr>
            <a:lstStyle/>
            <a:p>
              <a:pPr algn="l"/>
              <a:r>
                <a:rPr lang="en-US" sz="2000" dirty="0">
                  <a:solidFill>
                    <a:srgbClr val="2D2D44"/>
                  </a:solidFill>
                  <a:latin typeface="Pretendard"/>
                </a:rPr>
                <a:t>• Invocation </a:t>
              </a:r>
              <a:r>
                <a:rPr lang="ko-KR" altLang="en-US" sz="2000" dirty="0">
                  <a:solidFill>
                    <a:srgbClr val="2D2D44"/>
                  </a:solidFill>
                  <a:latin typeface="Pretendard"/>
                </a:rPr>
                <a:t>횟수 제한
</a:t>
              </a:r>
              <a:r>
                <a:rPr lang="en-US" altLang="ko-KR" sz="2000" dirty="0">
                  <a:solidFill>
                    <a:srgbClr val="2D2D44"/>
                  </a:solidFill>
                  <a:latin typeface="Pretendard"/>
                </a:rPr>
                <a:t>• </a:t>
              </a:r>
              <a:r>
                <a:rPr lang="en-US" sz="2000" dirty="0">
                  <a:solidFill>
                    <a:srgbClr val="2D2D44"/>
                  </a:solidFill>
                  <a:latin typeface="Pretendard"/>
                </a:rPr>
                <a:t>Timeout </a:t>
              </a:r>
              <a:r>
                <a:rPr lang="ko-KR" altLang="en-US" sz="2000" dirty="0">
                  <a:solidFill>
                    <a:srgbClr val="2D2D44"/>
                  </a:solidFill>
                  <a:latin typeface="Pretendard"/>
                </a:rPr>
                <a:t>설정</a:t>
              </a:r>
              <a:endParaRPr lang="en-KR" sz="2000" dirty="0">
                <a:solidFill>
                  <a:srgbClr val="2D2D44"/>
                </a:solidFill>
                <a:latin typeface="Pretendard"/>
              </a:endParaRPr>
            </a:p>
          </p:txBody>
        </p:sp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9081C073-76D8-E145-927C-9FE0475E3477}"/>
                </a:ext>
              </a:extLst>
            </p:cNvPr>
            <p:cNvSpPr/>
            <p:nvPr/>
          </p:nvSpPr>
          <p:spPr>
            <a:xfrm>
              <a:off x="6273800" y="2476500"/>
              <a:ext cx="5080000" cy="1905000"/>
            </a:xfrm>
            <a:prstGeom prst="roundRect">
              <a:avLst/>
            </a:prstGeom>
            <a:solidFill>
              <a:srgbClr val="E8F8F5"/>
            </a:solidFill>
            <a:ln w="1905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KR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21F3682-8459-AD42-80DA-95FDCBC9BF45}"/>
                </a:ext>
              </a:extLst>
            </p:cNvPr>
            <p:cNvSpPr txBox="1"/>
            <p:nvPr/>
          </p:nvSpPr>
          <p:spPr>
            <a:xfrm>
              <a:off x="6451600" y="2641600"/>
              <a:ext cx="4724400" cy="4572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spAutoFit/>
            </a:bodyPr>
            <a:lstStyle/>
            <a:p>
              <a:pPr algn="l"/>
              <a:r>
                <a:rPr lang="ko-KR" altLang="en-US" sz="2400" b="1">
                  <a:solidFill>
                    <a:srgbClr val="2EC4B6"/>
                  </a:solidFill>
                  <a:latin typeface="Pretendard"/>
                </a:rPr>
                <a:t>모니터링</a:t>
              </a:r>
              <a:endParaRPr lang="en-KR" sz="2400" b="1">
                <a:solidFill>
                  <a:srgbClr val="2EC4B6"/>
                </a:solidFill>
                <a:latin typeface="Pretendard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086E9EE-FF78-D348-85D0-4E63CD6E1CEE}"/>
                </a:ext>
              </a:extLst>
            </p:cNvPr>
            <p:cNvSpPr txBox="1"/>
            <p:nvPr/>
          </p:nvSpPr>
          <p:spPr>
            <a:xfrm>
              <a:off x="6451600" y="3200400"/>
              <a:ext cx="4724400" cy="707886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spAutoFit/>
            </a:bodyPr>
            <a:lstStyle/>
            <a:p>
              <a:pPr algn="l"/>
              <a:r>
                <a:rPr lang="en-US" altLang="ko-KR" sz="2000">
                  <a:solidFill>
                    <a:srgbClr val="2D2D44"/>
                  </a:solidFill>
                  <a:latin typeface="Pretendard"/>
                </a:rPr>
                <a:t>• </a:t>
              </a:r>
              <a:r>
                <a:rPr lang="ko-KR" altLang="en-US" sz="2000">
                  <a:solidFill>
                    <a:srgbClr val="2D2D44"/>
                  </a:solidFill>
                  <a:latin typeface="Pretendard"/>
                </a:rPr>
                <a:t>에이전트별 비용 추적
</a:t>
              </a:r>
              <a:r>
                <a:rPr lang="en-US" altLang="ko-KR" sz="2000">
                  <a:solidFill>
                    <a:srgbClr val="2D2D44"/>
                  </a:solidFill>
                  <a:latin typeface="Pretendard"/>
                </a:rPr>
                <a:t>• </a:t>
              </a:r>
              <a:r>
                <a:rPr lang="ko-KR" altLang="en-US" sz="2000">
                  <a:solidFill>
                    <a:srgbClr val="2D2D44"/>
                  </a:solidFill>
                  <a:latin typeface="Pretendard"/>
                </a:rPr>
                <a:t>이상 탐지</a:t>
              </a:r>
              <a:endParaRPr lang="en-KR" sz="2000">
                <a:solidFill>
                  <a:srgbClr val="2D2D44"/>
                </a:solidFill>
                <a:latin typeface="Pretendard"/>
              </a:endParaRPr>
            </a:p>
          </p:txBody>
        </p:sp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B5FE9CCD-BD9D-1E40-95CC-DF8F4B0ED15B}"/>
                </a:ext>
              </a:extLst>
            </p:cNvPr>
            <p:cNvSpPr/>
            <p:nvPr/>
          </p:nvSpPr>
          <p:spPr>
            <a:xfrm>
              <a:off x="838200" y="4699000"/>
              <a:ext cx="10515600" cy="635000"/>
            </a:xfrm>
            <a:prstGeom prst="roundRect">
              <a:avLst/>
            </a:prstGeom>
            <a:solidFill>
              <a:srgbClr val="E71D36"/>
            </a:solidFill>
            <a:ln w="1905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ctr" anchorCtr="0">
              <a:noAutofit/>
            </a:bodyPr>
            <a:lstStyle/>
            <a:p>
              <a:pPr algn="l"/>
              <a:r>
                <a:rPr lang="ko-KR" altLang="en-US" sz="2200" b="1">
                  <a:solidFill>
                    <a:srgbClr val="FFFFFF"/>
                  </a:solidFill>
                  <a:latin typeface="Pretendard"/>
                </a:rPr>
                <a:t>가드레일과 모니터링 모두 필수</a:t>
              </a:r>
              <a:endParaRPr lang="en-KR" sz="2200" b="1">
                <a:solidFill>
                  <a:srgbClr val="FFFFFF"/>
                </a:solidFill>
                <a:latin typeface="Pretendard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9222226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8A57A6-F519-DA7D-5503-1580CE2F77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b="1" dirty="0"/>
              <a:t>비정형 응답을 내는 경우</a:t>
            </a:r>
            <a:endParaRPr lang="en-KR" sz="32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16F1E8-86D1-CA99-83AC-F15A2F0A72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r>
              <a:rPr lang="en-KR" dirty="0"/>
              <a:t>LLM-as-a-judge</a:t>
            </a:r>
          </a:p>
          <a:p>
            <a:r>
              <a:rPr lang="ko-KR" altLang="en-US" dirty="0"/>
              <a:t>에이전트가 답변이 기준에 맞는지 검토</a:t>
            </a:r>
            <a:endParaRPr lang="en-US" altLang="ko-KR" dirty="0"/>
          </a:p>
          <a:p>
            <a:pPr lvl="1"/>
            <a:r>
              <a:rPr lang="ko-KR" altLang="en-US" sz="2800" dirty="0"/>
              <a:t>정책 준수 여부</a:t>
            </a:r>
          </a:p>
          <a:p>
            <a:pPr lvl="1"/>
            <a:r>
              <a:rPr lang="ko-KR" altLang="en-US" sz="2800" dirty="0"/>
              <a:t>판단 근거 명확성</a:t>
            </a:r>
          </a:p>
          <a:p>
            <a:pPr lvl="1"/>
            <a:r>
              <a:rPr lang="ko-KR" altLang="en-US" sz="2800" dirty="0"/>
              <a:t>근거와 결론 일치</a:t>
            </a:r>
            <a:endParaRPr lang="en-US" altLang="ko-KR" sz="2800" dirty="0"/>
          </a:p>
          <a:p>
            <a:r>
              <a:rPr lang="ko-KR" altLang="en-US" dirty="0"/>
              <a:t>에이전트를 구성하는 모델과 다른</a:t>
            </a:r>
            <a:r>
              <a:rPr lang="en-US" altLang="ko-KR" dirty="0"/>
              <a:t>,</a:t>
            </a:r>
            <a:r>
              <a:rPr lang="ko-KR" altLang="en-US" dirty="0"/>
              <a:t> 고성능 모델 사용을 권장</a:t>
            </a:r>
          </a:p>
        </p:txBody>
      </p:sp>
    </p:spTree>
    <p:extLst>
      <p:ext uri="{BB962C8B-B14F-4D97-AF65-F5344CB8AC3E}">
        <p14:creationId xmlns:p14="http://schemas.microsoft.com/office/powerpoint/2010/main" val="396476558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F52DA8-6430-D279-5A7B-B94A31EDD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>
              <a:buNone/>
            </a:pPr>
            <a:r>
              <a:rPr lang="ko-KR" altLang="en-US" sz="3200" b="1" dirty="0">
                <a:latin typeface="Pretendard"/>
                <a:ea typeface="Pretendard"/>
              </a:rPr>
              <a:t>모니터링</a:t>
            </a:r>
            <a:r>
              <a:rPr lang="ko-KR" sz="3200" b="1" dirty="0">
                <a:solidFill>
                  <a:srgbClr val="1A1A2E"/>
                </a:solidFill>
                <a:latin typeface="Pretendard"/>
                <a:ea typeface="Pretendard"/>
              </a:rPr>
              <a:t>: </a:t>
            </a:r>
            <a:r>
              <a:rPr lang="ko-KR" altLang="en-US" sz="3200" b="1" dirty="0">
                <a:solidFill>
                  <a:srgbClr val="1A1A2E"/>
                </a:solidFill>
                <a:latin typeface="Pretendard"/>
                <a:ea typeface="Pretendard"/>
              </a:rPr>
              <a:t>모든 것을 남겨라</a:t>
            </a:r>
            <a:endParaRPr lang="ko-KR" sz="3200" b="1" dirty="0">
              <a:solidFill>
                <a:srgbClr val="1A1A2E"/>
              </a:solidFill>
              <a:latin typeface="Pretendard"/>
              <a:ea typeface="Pretendard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57E763-7501-92DF-C6B0-DAFABBAD23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ko-KR" dirty="0">
                <a:solidFill>
                  <a:srgbClr val="2D2D44"/>
                </a:solidFill>
                <a:latin typeface="Pretendard"/>
                <a:ea typeface="Pretendard"/>
              </a:rPr>
              <a:t>각 에이전트 단계별 로깅 필수</a:t>
            </a:r>
          </a:p>
          <a:p>
            <a:pPr algn="l">
              <a:lnSpc>
                <a:spcPct val="100000"/>
              </a:lnSpc>
            </a:pPr>
            <a:r>
              <a:rPr lang="ko-KR" dirty="0">
                <a:solidFill>
                  <a:srgbClr val="2D2D44"/>
                </a:solidFill>
                <a:latin typeface="Pretendard"/>
                <a:ea typeface="Pretendard"/>
              </a:rPr>
              <a:t>오판단 발생 시 어느 에이전트에서 잘못됐는지 추적</a:t>
            </a:r>
            <a:endParaRPr lang="en-US" altLang="ko-KR" dirty="0">
              <a:solidFill>
                <a:srgbClr val="2D2D44"/>
              </a:solidFill>
              <a:latin typeface="Pretendard"/>
              <a:ea typeface="Pretendard"/>
            </a:endParaRPr>
          </a:p>
          <a:p>
            <a:pPr algn="l">
              <a:lnSpc>
                <a:spcPct val="100000"/>
              </a:lnSpc>
            </a:pPr>
            <a:r>
              <a:rPr lang="ko-KR" altLang="en-US" dirty="0">
                <a:solidFill>
                  <a:srgbClr val="2D2D44"/>
                </a:solidFill>
                <a:latin typeface="Pretendard"/>
                <a:ea typeface="Pretendard"/>
              </a:rPr>
              <a:t>사용된 모델</a:t>
            </a:r>
            <a:r>
              <a:rPr lang="en-US" altLang="ko-KR" dirty="0">
                <a:solidFill>
                  <a:srgbClr val="2D2D44"/>
                </a:solidFill>
                <a:latin typeface="Pretendard"/>
                <a:ea typeface="Pretendard"/>
              </a:rPr>
              <a:t>,</a:t>
            </a:r>
            <a:r>
              <a:rPr lang="ko-KR" altLang="en-US" dirty="0">
                <a:solidFill>
                  <a:srgbClr val="2D2D44"/>
                </a:solidFill>
                <a:latin typeface="Pretendard"/>
                <a:ea typeface="Pretendard"/>
              </a:rPr>
              <a:t> 프롬프트</a:t>
            </a:r>
            <a:r>
              <a:rPr lang="en-US" altLang="ko-KR" dirty="0">
                <a:solidFill>
                  <a:srgbClr val="2D2D44"/>
                </a:solidFill>
                <a:latin typeface="Pretendard"/>
                <a:ea typeface="Pretendard"/>
              </a:rPr>
              <a:t>,</a:t>
            </a:r>
            <a:r>
              <a:rPr lang="ko-KR" altLang="en-US" dirty="0">
                <a:solidFill>
                  <a:srgbClr val="2D2D44"/>
                </a:solidFill>
                <a:latin typeface="Pretendard"/>
                <a:ea typeface="Pretendard"/>
              </a:rPr>
              <a:t> 응답</a:t>
            </a:r>
            <a:r>
              <a:rPr lang="en-US" altLang="ko-KR" dirty="0">
                <a:solidFill>
                  <a:srgbClr val="2D2D44"/>
                </a:solidFill>
                <a:latin typeface="Pretendard"/>
                <a:ea typeface="Pretendard"/>
              </a:rPr>
              <a:t>,</a:t>
            </a:r>
            <a:r>
              <a:rPr lang="ko-KR" altLang="en-US" dirty="0">
                <a:latin typeface="Pretendard"/>
                <a:ea typeface="Pretendard"/>
              </a:rPr>
              <a:t> 비용</a:t>
            </a:r>
            <a:r>
              <a:rPr lang="en-US" altLang="ko-KR" dirty="0">
                <a:latin typeface="Pretendard"/>
                <a:ea typeface="Pretendard"/>
              </a:rPr>
              <a:t>,</a:t>
            </a:r>
            <a:r>
              <a:rPr lang="ko-KR" altLang="en-US" dirty="0">
                <a:latin typeface="Pretendard"/>
                <a:ea typeface="Pretendard"/>
              </a:rPr>
              <a:t> </a:t>
            </a:r>
            <a:r>
              <a:rPr lang="ko-KR" altLang="en-US" dirty="0" err="1">
                <a:latin typeface="Pretendard"/>
                <a:ea typeface="Pretendard"/>
              </a:rPr>
              <a:t>레이턴시</a:t>
            </a:r>
            <a:r>
              <a:rPr lang="ko-KR" altLang="en-US" dirty="0">
                <a:latin typeface="Pretendard"/>
                <a:ea typeface="Pretendard"/>
              </a:rPr>
              <a:t> 등 모든 것을 남겨야 재현할 수 있음</a:t>
            </a:r>
            <a:endParaRPr lang="en-US" altLang="ko-KR" dirty="0">
              <a:latin typeface="Pretendard"/>
              <a:ea typeface="Pretendard"/>
            </a:endParaRPr>
          </a:p>
          <a:p>
            <a:pPr algn="l">
              <a:lnSpc>
                <a:spcPct val="100000"/>
              </a:lnSpc>
            </a:pPr>
            <a:r>
              <a:rPr lang="ko-KR" altLang="en-US" dirty="0">
                <a:solidFill>
                  <a:srgbClr val="2D2D44"/>
                </a:solidFill>
                <a:latin typeface="Pretendard"/>
                <a:ea typeface="Pretendard"/>
              </a:rPr>
              <a:t>분석도 에이전트가</a:t>
            </a:r>
            <a:endParaRPr lang="en-US" altLang="ko-KR" dirty="0">
              <a:solidFill>
                <a:srgbClr val="2D2D44"/>
              </a:solidFill>
              <a:latin typeface="Pretendard"/>
              <a:ea typeface="Pretendard"/>
            </a:endParaRPr>
          </a:p>
          <a:p>
            <a:pPr algn="l">
              <a:lnSpc>
                <a:spcPct val="100000"/>
              </a:lnSpc>
            </a:pPr>
            <a:endParaRPr lang="ko-KR" dirty="0">
              <a:solidFill>
                <a:srgbClr val="2D2D44"/>
              </a:solidFill>
              <a:latin typeface="Pretendard"/>
              <a:ea typeface="Pretendard"/>
            </a:endParaRPr>
          </a:p>
          <a:p>
            <a:pPr algn="l">
              <a:lnSpc>
                <a:spcPct val="100000"/>
              </a:lnSpc>
              <a:buNone/>
            </a:pPr>
            <a:r>
              <a:rPr lang="ko-KR" b="1" dirty="0">
                <a:solidFill>
                  <a:srgbClr val="E71D36"/>
                </a:solidFill>
                <a:latin typeface="Pretendard"/>
                <a:ea typeface="Pretendard"/>
              </a:rPr>
              <a:t>블랙박스 에이전트는 프로덕션에서 위험</a:t>
            </a:r>
          </a:p>
        </p:txBody>
      </p:sp>
    </p:spTree>
    <p:extLst>
      <p:ext uri="{BB962C8B-B14F-4D97-AF65-F5344CB8AC3E}">
        <p14:creationId xmlns:p14="http://schemas.microsoft.com/office/powerpoint/2010/main" val="263831827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AEE45E-0E1B-39A4-94AB-5AB4112E9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b="1" dirty="0"/>
              <a:t>통계 대시보드</a:t>
            </a:r>
            <a:endParaRPr lang="en-KR" sz="32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073686-83E7-0EAB-397E-508838CB9C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r>
              <a:rPr lang="ko-KR" altLang="en-US" dirty="0"/>
              <a:t>자주</a:t>
            </a:r>
            <a:r>
              <a:rPr lang="en-US" altLang="ko-KR" dirty="0"/>
              <a:t>,</a:t>
            </a:r>
            <a:r>
              <a:rPr lang="ko-KR" altLang="en-US" dirty="0"/>
              <a:t> 쉽게 볼 수 있는 곳에 만들어두면 좋음</a:t>
            </a:r>
            <a:endParaRPr lang="en-US" altLang="ko-KR" dirty="0"/>
          </a:p>
          <a:p>
            <a:r>
              <a:rPr lang="ko-KR" altLang="en-US" dirty="0"/>
              <a:t>보면 좋은 지표</a:t>
            </a:r>
            <a:endParaRPr lang="en-US" altLang="ko-KR" dirty="0"/>
          </a:p>
          <a:p>
            <a:pPr lvl="1"/>
            <a:r>
              <a:rPr lang="ko-KR" altLang="en-US" sz="2800" dirty="0" err="1"/>
              <a:t>호출량</a:t>
            </a:r>
            <a:endParaRPr lang="en-US" altLang="ko-KR" sz="2800" dirty="0"/>
          </a:p>
          <a:p>
            <a:pPr lvl="1"/>
            <a:r>
              <a:rPr lang="ko-KR" altLang="en-US" sz="2800" dirty="0"/>
              <a:t>호출 당 비용</a:t>
            </a:r>
            <a:r>
              <a:rPr lang="en-US" altLang="ko-KR" sz="2800" dirty="0"/>
              <a:t>(</a:t>
            </a:r>
            <a:r>
              <a:rPr lang="ko-KR" altLang="en-US" sz="2800" dirty="0"/>
              <a:t>평균</a:t>
            </a:r>
            <a:r>
              <a:rPr lang="en-US" altLang="ko-KR" sz="2800" dirty="0"/>
              <a:t>,</a:t>
            </a:r>
            <a:r>
              <a:rPr lang="ko-KR" altLang="en-US" sz="2800" dirty="0"/>
              <a:t> 상위 </a:t>
            </a:r>
            <a:r>
              <a:rPr lang="en-US" altLang="ko-KR" sz="2800" dirty="0"/>
              <a:t>n%)</a:t>
            </a:r>
          </a:p>
          <a:p>
            <a:pPr lvl="1"/>
            <a:r>
              <a:rPr lang="ko-KR" altLang="en-US" sz="2800" dirty="0"/>
              <a:t>호출 당 평균 </a:t>
            </a:r>
            <a:r>
              <a:rPr lang="ko-KR" altLang="en-US" sz="2800" dirty="0" err="1"/>
              <a:t>레이턴시</a:t>
            </a:r>
            <a:endParaRPr lang="en-US" altLang="ko-KR" sz="2800" dirty="0"/>
          </a:p>
          <a:p>
            <a:pPr lvl="1"/>
            <a:r>
              <a:rPr lang="ko-KR" altLang="en-US" sz="2800" dirty="0"/>
              <a:t>응답 실패율</a:t>
            </a:r>
            <a:endParaRPr lang="en-US" altLang="ko-KR" sz="2800" dirty="0"/>
          </a:p>
        </p:txBody>
      </p:sp>
    </p:spTree>
    <p:extLst>
      <p:ext uri="{BB962C8B-B14F-4D97-AF65-F5344CB8AC3E}">
        <p14:creationId xmlns:p14="http://schemas.microsoft.com/office/powerpoint/2010/main" val="143896042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Icon"/>
          <p:cNvSpPr txBox="1"/>
          <p:nvPr/>
        </p:nvSpPr>
        <p:spPr>
          <a:xfrm>
            <a:off x="731520" y="1371600"/>
            <a:ext cx="10728960" cy="914400"/>
          </a:xfrm>
          <a:prstGeom prst="rect">
            <a:avLst/>
          </a:prstGeom>
          <a:noFill/>
          <a:ln>
            <a:noFill/>
          </a:ln>
        </p:spPr>
        <p:txBody>
          <a:bodyPr wrap="square" anchor="b"/>
          <a:lstStyle/>
          <a:p>
            <a:pPr algn="l">
              <a:buNone/>
            </a:pPr>
            <a:r>
              <a:rPr lang="en-US" sz="6000" b="1" dirty="0">
                <a:solidFill>
                  <a:srgbClr val="FF6B35"/>
                </a:solidFill>
                <a:latin typeface="Pretendard"/>
                <a:ea typeface="Pretendard"/>
              </a:rPr>
              <a:t>✦</a:t>
            </a:r>
          </a:p>
        </p:txBody>
      </p:sp>
      <p:sp>
        <p:nvSpPr>
          <p:cNvPr id="11" name="SectionTitle"/>
          <p:cNvSpPr txBox="1"/>
          <p:nvPr/>
        </p:nvSpPr>
        <p:spPr>
          <a:xfrm>
            <a:off x="731520" y="2440919"/>
            <a:ext cx="10728960" cy="604562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ko-KR" altLang="en-US" sz="3200" b="1" dirty="0">
                <a:solidFill>
                  <a:srgbClr val="1A1A2E"/>
                </a:solidFill>
                <a:latin typeface="Pretendard"/>
                <a:ea typeface="Pretendard"/>
              </a:rPr>
              <a:t>마무리</a:t>
            </a:r>
            <a:endParaRPr lang="ko-KR" sz="3200" b="1" dirty="0">
              <a:solidFill>
                <a:srgbClr val="1A1A2E"/>
              </a:solidFill>
              <a:latin typeface="Pretendard"/>
              <a:ea typeface="Pretendard"/>
            </a:endParaRPr>
          </a:p>
        </p:txBody>
      </p:sp>
      <p:sp>
        <p:nvSpPr>
          <p:cNvPr id="12" name="Line"/>
          <p:cNvSpPr/>
          <p:nvPr/>
        </p:nvSpPr>
        <p:spPr>
          <a:xfrm>
            <a:off x="731520" y="2286000"/>
            <a:ext cx="1371600" cy="457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16646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8EA9F-7010-335D-FAFE-6F73F47A2B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b="1" dirty="0"/>
              <a:t>정리하면</a:t>
            </a:r>
            <a:endParaRPr lang="en-KR" sz="3200" b="1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34F4146-0F12-23D3-7C45-9F34088E1206}"/>
              </a:ext>
            </a:extLst>
          </p:cNvPr>
          <p:cNvGrpSpPr/>
          <p:nvPr/>
        </p:nvGrpSpPr>
        <p:grpSpPr>
          <a:xfrm>
            <a:off x="1112520" y="2309192"/>
            <a:ext cx="9966960" cy="3200400"/>
            <a:chOff x="883920" y="1752600"/>
            <a:chExt cx="9966960" cy="3200400"/>
          </a:xfrm>
        </p:grpSpPr>
        <p:sp>
          <p:nvSpPr>
            <p:cNvPr id="30" name="Card0"/>
            <p:cNvSpPr/>
            <p:nvPr/>
          </p:nvSpPr>
          <p:spPr>
            <a:xfrm>
              <a:off x="883920" y="1752600"/>
              <a:ext cx="3200400" cy="320040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12700">
              <a:solidFill>
                <a:srgbClr val="E8E8EE"/>
              </a:solidFill>
            </a:ln>
          </p:spPr>
          <p:txBody>
            <a:bodyPr wrap="square" lIns="182880" tIns="228600" rIns="182880" bIns="91440" anchor="t"/>
            <a:lstStyle/>
            <a:p>
              <a:pPr algn="l">
                <a:buNone/>
              </a:pPr>
              <a:r>
                <a:rPr lang="en-US" sz="2000" b="1" dirty="0">
                  <a:solidFill>
                    <a:srgbClr val="FF6B35"/>
                  </a:solidFill>
                  <a:latin typeface="Pretendard"/>
                  <a:ea typeface="Pretendard"/>
                </a:rPr>
                <a:t>01</a:t>
              </a:r>
            </a:p>
            <a:p>
              <a:pPr algn="l">
                <a:buNone/>
              </a:pPr>
              <a:r>
                <a:rPr lang="ko-KR" sz="2000" b="1" dirty="0">
                  <a:solidFill>
                    <a:srgbClr val="2D2D44"/>
                  </a:solidFill>
                  <a:latin typeface="Pretendard"/>
                  <a:ea typeface="Pretendard"/>
                </a:rPr>
                <a:t>도구를 줘야 진짜 일을 한다</a:t>
              </a:r>
              <a:endParaRPr lang="en-US" altLang="ko-KR" sz="2000" b="1" dirty="0">
                <a:solidFill>
                  <a:srgbClr val="2D2D44"/>
                </a:solidFill>
                <a:latin typeface="Pretendard"/>
                <a:ea typeface="Pretendard"/>
              </a:endParaRPr>
            </a:p>
            <a:p>
              <a:pPr algn="l">
                <a:buNone/>
              </a:pPr>
              <a:endParaRPr lang="ko-KR" sz="2000" b="1" dirty="0">
                <a:solidFill>
                  <a:srgbClr val="2D2D44"/>
                </a:solidFill>
                <a:latin typeface="Pretendard"/>
                <a:ea typeface="Pretendard"/>
              </a:endParaRPr>
            </a:p>
            <a:p>
              <a:pPr>
                <a:buNone/>
              </a:pPr>
              <a:endParaRPr lang="ko-KR" sz="400" dirty="0"/>
            </a:p>
            <a:p>
              <a:pPr marL="285750" indent="-285750" algn="l">
                <a:buFont typeface="Arial" panose="020B0604020202020204" pitchFamily="34" charset="0"/>
                <a:buChar char="•"/>
              </a:pPr>
              <a:r>
                <a:rPr lang="ko-KR" sz="1600" dirty="0" err="1">
                  <a:solidFill>
                    <a:srgbClr val="2D2D44"/>
                  </a:solidFill>
                  <a:latin typeface="Pretendard"/>
                  <a:ea typeface="Pretendard"/>
                </a:rPr>
                <a:t>챗봇</a:t>
              </a:r>
              <a:r>
                <a:rPr lang="ko-KR" sz="1600" dirty="0">
                  <a:solidFill>
                    <a:srgbClr val="2D2D44"/>
                  </a:solidFill>
                  <a:latin typeface="Pretendard"/>
                  <a:ea typeface="Pretendard"/>
                </a:rPr>
                <a:t> → 에이전트 전환 핵심</a:t>
              </a:r>
            </a:p>
            <a:p>
              <a:pPr marL="285750" indent="-285750" algn="l">
                <a:buFont typeface="Arial" panose="020B0604020202020204" pitchFamily="34" charset="0"/>
                <a:buChar char="•"/>
              </a:pPr>
              <a:r>
                <a:rPr lang="ko-KR" sz="1600" dirty="0">
                  <a:solidFill>
                    <a:srgbClr val="2D2D44"/>
                  </a:solidFill>
                  <a:latin typeface="Pretendard"/>
                  <a:ea typeface="Pretendard"/>
                </a:rPr>
                <a:t>시스템 연동 도구 = 실질적 가치</a:t>
              </a:r>
            </a:p>
            <a:p>
              <a:pPr marL="285750" indent="-285750" algn="l">
                <a:buFont typeface="Arial" panose="020B0604020202020204" pitchFamily="34" charset="0"/>
                <a:buChar char="•"/>
              </a:pPr>
              <a:r>
                <a:rPr lang="ko-KR" sz="1600" dirty="0">
                  <a:solidFill>
                    <a:srgbClr val="2D2D44"/>
                  </a:solidFill>
                  <a:latin typeface="Pretendard"/>
                  <a:ea typeface="Pretendard"/>
                </a:rPr>
                <a:t>답변만으론 효과 미미</a:t>
              </a:r>
            </a:p>
          </p:txBody>
        </p:sp>
        <p:sp>
          <p:nvSpPr>
            <p:cNvPr id="31" name="Card1"/>
            <p:cNvSpPr/>
            <p:nvPr/>
          </p:nvSpPr>
          <p:spPr>
            <a:xfrm>
              <a:off x="4267200" y="1752600"/>
              <a:ext cx="3200400" cy="320040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12700">
              <a:solidFill>
                <a:srgbClr val="E8E8EE"/>
              </a:solidFill>
            </a:ln>
          </p:spPr>
          <p:txBody>
            <a:bodyPr wrap="square" lIns="182880" tIns="228600" rIns="182880" bIns="91440" anchor="t"/>
            <a:lstStyle/>
            <a:p>
              <a:pPr algn="l">
                <a:buNone/>
              </a:pPr>
              <a:r>
                <a:rPr lang="en-US" sz="2000" b="1" dirty="0">
                  <a:solidFill>
                    <a:srgbClr val="4361EE"/>
                  </a:solidFill>
                  <a:latin typeface="Pretendard"/>
                  <a:ea typeface="Pretendard"/>
                </a:rPr>
                <a:t>02</a:t>
              </a:r>
            </a:p>
            <a:p>
              <a:pPr algn="l">
                <a:buNone/>
              </a:pPr>
              <a:r>
                <a:rPr lang="ko-KR" sz="2000" b="1" dirty="0">
                  <a:solidFill>
                    <a:srgbClr val="2D2D44"/>
                  </a:solidFill>
                  <a:latin typeface="Pretendard"/>
                  <a:ea typeface="Pretendard"/>
                </a:rPr>
                <a:t>도구 설계 = 에이전트 성능</a:t>
              </a:r>
              <a:endParaRPr lang="en-US" altLang="ko-KR" sz="2000" b="1" dirty="0">
                <a:solidFill>
                  <a:srgbClr val="2D2D44"/>
                </a:solidFill>
                <a:latin typeface="Pretendard"/>
                <a:ea typeface="Pretendard"/>
              </a:endParaRPr>
            </a:p>
            <a:p>
              <a:pPr algn="l">
                <a:buNone/>
              </a:pPr>
              <a:endParaRPr lang="ko-KR" sz="2000" b="1" dirty="0">
                <a:solidFill>
                  <a:srgbClr val="2D2D44"/>
                </a:solidFill>
                <a:latin typeface="Pretendard"/>
                <a:ea typeface="Pretendard"/>
              </a:endParaRPr>
            </a:p>
            <a:p>
              <a:pPr>
                <a:buNone/>
              </a:pPr>
              <a:endParaRPr lang="ko-KR" sz="400" dirty="0"/>
            </a:p>
            <a:p>
              <a:pPr marL="285750" indent="-285750" algn="l">
                <a:buFont typeface="Arial" panose="020B0604020202020204" pitchFamily="34" charset="0"/>
                <a:buChar char="•"/>
              </a:pPr>
              <a:r>
                <a:rPr lang="ko-KR" sz="1600" dirty="0">
                  <a:solidFill>
                    <a:srgbClr val="2D2D44"/>
                  </a:solidFill>
                  <a:latin typeface="Pretendard"/>
                  <a:ea typeface="Pretendard"/>
                </a:rPr>
                <a:t>Description을 명확히 작성</a:t>
              </a:r>
            </a:p>
            <a:p>
              <a:pPr marL="285750" indent="-285750" algn="l">
                <a:buFont typeface="Arial" panose="020B0604020202020204" pitchFamily="34" charset="0"/>
                <a:buChar char="•"/>
              </a:pPr>
              <a:r>
                <a:rPr lang="ko-KR" sz="1600" dirty="0">
                  <a:solidFill>
                    <a:srgbClr val="2D2D44"/>
                  </a:solidFill>
                  <a:latin typeface="Pretendard"/>
                  <a:ea typeface="Pretendard"/>
                </a:rPr>
                <a:t>파라미터 스키마를 정확히</a:t>
              </a:r>
            </a:p>
            <a:p>
              <a:pPr marL="285750" indent="-285750" algn="l">
                <a:buFont typeface="Arial" panose="020B0604020202020204" pitchFamily="34" charset="0"/>
                <a:buChar char="•"/>
              </a:pPr>
              <a:r>
                <a:rPr lang="ko-KR" sz="1600" dirty="0">
                  <a:solidFill>
                    <a:srgbClr val="2D2D44"/>
                  </a:solidFill>
                  <a:latin typeface="Pretendard"/>
                  <a:ea typeface="Pretendard"/>
                </a:rPr>
                <a:t>고정값으로 안전하게 제어</a:t>
              </a:r>
            </a:p>
          </p:txBody>
        </p:sp>
        <p:sp>
          <p:nvSpPr>
            <p:cNvPr id="32" name="Card2"/>
            <p:cNvSpPr/>
            <p:nvPr/>
          </p:nvSpPr>
          <p:spPr>
            <a:xfrm>
              <a:off x="7650480" y="1752600"/>
              <a:ext cx="3200400" cy="320040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12700">
              <a:solidFill>
                <a:srgbClr val="E8E8EE"/>
              </a:solidFill>
            </a:ln>
          </p:spPr>
          <p:txBody>
            <a:bodyPr wrap="square" lIns="182880" tIns="228600" rIns="182880" bIns="91440" anchor="t"/>
            <a:lstStyle/>
            <a:p>
              <a:pPr algn="l">
                <a:buNone/>
              </a:pPr>
              <a:r>
                <a:rPr lang="en-US" sz="2000" b="1" dirty="0">
                  <a:solidFill>
                    <a:srgbClr val="2EC4B6"/>
                  </a:solidFill>
                  <a:latin typeface="Pretendard"/>
                  <a:ea typeface="Pretendard"/>
                </a:rPr>
                <a:t>03</a:t>
              </a:r>
            </a:p>
            <a:p>
              <a:pPr algn="l">
                <a:buNone/>
              </a:pPr>
              <a:r>
                <a:rPr lang="ko-KR" sz="2000" b="1" dirty="0">
                  <a:solidFill>
                    <a:srgbClr val="2D2D44"/>
                  </a:solidFill>
                  <a:latin typeface="Pretendard"/>
                  <a:ea typeface="Pretendard"/>
                </a:rPr>
                <a:t>역할을 나눠라</a:t>
              </a:r>
              <a:endParaRPr lang="en-US" altLang="ko-KR" sz="2000" b="1" dirty="0">
                <a:solidFill>
                  <a:srgbClr val="2D2D44"/>
                </a:solidFill>
                <a:latin typeface="Pretendard"/>
                <a:ea typeface="Pretendard"/>
              </a:endParaRPr>
            </a:p>
            <a:p>
              <a:pPr algn="l">
                <a:buNone/>
              </a:pPr>
              <a:endParaRPr lang="ko-KR" sz="2000" b="1" dirty="0">
                <a:solidFill>
                  <a:srgbClr val="2D2D44"/>
                </a:solidFill>
                <a:latin typeface="Pretendard"/>
                <a:ea typeface="Pretendard"/>
              </a:endParaRPr>
            </a:p>
            <a:p>
              <a:pPr>
                <a:buNone/>
              </a:pPr>
              <a:endParaRPr lang="ko-KR" sz="400" dirty="0"/>
            </a:p>
            <a:p>
              <a:pPr marL="285750" indent="-285750" algn="l">
                <a:buFont typeface="Arial" panose="020B0604020202020204" pitchFamily="34" charset="0"/>
                <a:buChar char="•"/>
              </a:pPr>
              <a:r>
                <a:rPr lang="ko-KR" sz="1600" dirty="0">
                  <a:solidFill>
                    <a:srgbClr val="2D2D44"/>
                  </a:solidFill>
                  <a:latin typeface="Pretendard"/>
                  <a:ea typeface="Pretendard"/>
                </a:rPr>
                <a:t>멀티 에이전트로 역할 분리</a:t>
              </a:r>
            </a:p>
            <a:p>
              <a:pPr marL="285750" indent="-285750" algn="l">
                <a:buFont typeface="Arial" panose="020B0604020202020204" pitchFamily="34" charset="0"/>
                <a:buChar char="•"/>
              </a:pPr>
              <a:r>
                <a:rPr lang="ko-KR" sz="1600" dirty="0">
                  <a:solidFill>
                    <a:srgbClr val="2D2D44"/>
                  </a:solidFill>
                  <a:latin typeface="Pretendard"/>
                  <a:ea typeface="Pretendard"/>
                </a:rPr>
                <a:t>컨텍스트 과부하 방지</a:t>
              </a:r>
            </a:p>
            <a:p>
              <a:pPr marL="285750" indent="-285750" algn="l">
                <a:buFont typeface="Arial" panose="020B0604020202020204" pitchFamily="34" charset="0"/>
                <a:buChar char="•"/>
              </a:pPr>
              <a:r>
                <a:rPr lang="ko-KR" sz="1600" dirty="0">
                  <a:solidFill>
                    <a:srgbClr val="2D2D44"/>
                  </a:solidFill>
                  <a:latin typeface="Pretendard"/>
                  <a:ea typeface="Pretendard"/>
                </a:rPr>
                <a:t>Self-correction이 정확도 핵심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7280936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8EA9F-7010-335D-FAFE-6F73F47A2B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b="1" dirty="0"/>
              <a:t>정리하면</a:t>
            </a:r>
            <a:endParaRPr lang="en-KR" sz="3200" b="1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B5AE464-EF36-5F16-E659-B69FA881A544}"/>
              </a:ext>
            </a:extLst>
          </p:cNvPr>
          <p:cNvGrpSpPr/>
          <p:nvPr/>
        </p:nvGrpSpPr>
        <p:grpSpPr>
          <a:xfrm>
            <a:off x="1615440" y="2289313"/>
            <a:ext cx="8961120" cy="3200400"/>
            <a:chOff x="1615440" y="1752600"/>
            <a:chExt cx="8961120" cy="3200400"/>
          </a:xfrm>
        </p:grpSpPr>
        <p:sp>
          <p:nvSpPr>
            <p:cNvPr id="40" name="Card0"/>
            <p:cNvSpPr/>
            <p:nvPr/>
          </p:nvSpPr>
          <p:spPr>
            <a:xfrm>
              <a:off x="1615440" y="1752600"/>
              <a:ext cx="4389120" cy="320040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12700">
              <a:solidFill>
                <a:srgbClr val="E8E8EE"/>
              </a:solidFill>
            </a:ln>
          </p:spPr>
          <p:txBody>
            <a:bodyPr wrap="square" lIns="228600" tIns="274320" rIns="228600" bIns="91440" anchor="t"/>
            <a:lstStyle/>
            <a:p>
              <a:pPr algn="l">
                <a:buNone/>
              </a:pPr>
              <a:r>
                <a:rPr lang="en-US" sz="2400" b="1" dirty="0">
                  <a:solidFill>
                    <a:srgbClr val="7B2FF7"/>
                  </a:solidFill>
                  <a:latin typeface="Pretendard"/>
                  <a:ea typeface="Pretendard"/>
                </a:rPr>
                <a:t>04</a:t>
              </a:r>
            </a:p>
            <a:p>
              <a:pPr algn="l">
                <a:buNone/>
              </a:pPr>
              <a:r>
                <a:rPr lang="ko-KR" sz="2200" b="1" dirty="0">
                  <a:solidFill>
                    <a:srgbClr val="2D2D44"/>
                  </a:solidFill>
                  <a:latin typeface="Pretendard"/>
                  <a:ea typeface="Pretendard"/>
                </a:rPr>
                <a:t>오버엔지니어링을 경계하라</a:t>
              </a:r>
              <a:endParaRPr lang="en-US" altLang="ko-KR" sz="2200" b="1" dirty="0">
                <a:solidFill>
                  <a:srgbClr val="2D2D44"/>
                </a:solidFill>
                <a:latin typeface="Pretendard"/>
                <a:ea typeface="Pretendard"/>
              </a:endParaRPr>
            </a:p>
            <a:p>
              <a:pPr algn="l">
                <a:buNone/>
              </a:pPr>
              <a:endParaRPr lang="ko-KR" sz="2200" b="1" dirty="0">
                <a:solidFill>
                  <a:srgbClr val="2D2D44"/>
                </a:solidFill>
                <a:latin typeface="Pretendard"/>
                <a:ea typeface="Pretendard"/>
              </a:endParaRPr>
            </a:p>
            <a:p>
              <a:pPr>
                <a:buNone/>
              </a:pPr>
              <a:endParaRPr lang="ko-KR" sz="400" dirty="0"/>
            </a:p>
            <a:p>
              <a:pPr marL="285750" indent="-285750" algn="l">
                <a:buFont typeface="Arial" panose="020B0604020202020204" pitchFamily="34" charset="0"/>
                <a:buChar char="•"/>
              </a:pPr>
              <a:r>
                <a:rPr lang="ko-KR" sz="1800" dirty="0">
                  <a:solidFill>
                    <a:srgbClr val="2D2D44"/>
                  </a:solidFill>
                  <a:latin typeface="Pretendard"/>
                  <a:ea typeface="Pretendard"/>
                </a:rPr>
                <a:t>RAG ≠ 벡터 검색</a:t>
              </a:r>
            </a:p>
            <a:p>
              <a:pPr marL="285750" indent="-285750" algn="l">
                <a:buFont typeface="Arial" panose="020B0604020202020204" pitchFamily="34" charset="0"/>
                <a:buChar char="•"/>
              </a:pPr>
              <a:r>
                <a:rPr lang="ko-KR" sz="1800" dirty="0">
                  <a:solidFill>
                    <a:srgbClr val="2D2D44"/>
                  </a:solidFill>
                  <a:latin typeface="Pretendard"/>
                  <a:ea typeface="Pretendard"/>
                </a:rPr>
                <a:t>역할에 맞는 모델 선택</a:t>
              </a:r>
            </a:p>
            <a:p>
              <a:pPr marL="285750" indent="-285750" algn="l">
                <a:buFont typeface="Arial" panose="020B0604020202020204" pitchFamily="34" charset="0"/>
                <a:buChar char="•"/>
              </a:pPr>
              <a:r>
                <a:rPr lang="ko-KR" sz="1800" dirty="0">
                  <a:solidFill>
                    <a:srgbClr val="2D2D44"/>
                  </a:solidFill>
                  <a:latin typeface="Pretendard"/>
                  <a:ea typeface="Pretendard"/>
                </a:rPr>
                <a:t>단순 작업엔 가벼운 모델로 충분</a:t>
              </a:r>
            </a:p>
          </p:txBody>
        </p:sp>
        <p:sp>
          <p:nvSpPr>
            <p:cNvPr id="41" name="Card1"/>
            <p:cNvSpPr/>
            <p:nvPr/>
          </p:nvSpPr>
          <p:spPr>
            <a:xfrm>
              <a:off x="6187440" y="1752600"/>
              <a:ext cx="4389120" cy="320040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12700">
              <a:solidFill>
                <a:srgbClr val="E8E8EE"/>
              </a:solidFill>
            </a:ln>
          </p:spPr>
          <p:txBody>
            <a:bodyPr wrap="square" lIns="228600" tIns="274320" rIns="228600" bIns="91440" anchor="t"/>
            <a:lstStyle/>
            <a:p>
              <a:pPr algn="l">
                <a:buNone/>
              </a:pPr>
              <a:r>
                <a:rPr lang="en-US" sz="2400" b="1" dirty="0">
                  <a:solidFill>
                    <a:srgbClr val="E63946"/>
                  </a:solidFill>
                  <a:latin typeface="Pretendard"/>
                  <a:ea typeface="Pretendard"/>
                </a:rPr>
                <a:t>05</a:t>
              </a:r>
            </a:p>
            <a:p>
              <a:pPr algn="l">
                <a:buNone/>
              </a:pPr>
              <a:r>
                <a:rPr lang="ko-KR" sz="2200" b="1" dirty="0">
                  <a:solidFill>
                    <a:srgbClr val="2D2D44"/>
                  </a:solidFill>
                  <a:latin typeface="Pretendard"/>
                  <a:ea typeface="Pretendard"/>
                </a:rPr>
                <a:t>가드레일 + 모니터링은 필수</a:t>
              </a:r>
              <a:endParaRPr lang="en-US" altLang="ko-KR" sz="2200" b="1" dirty="0">
                <a:solidFill>
                  <a:srgbClr val="2D2D44"/>
                </a:solidFill>
                <a:latin typeface="Pretendard"/>
                <a:ea typeface="Pretendard"/>
              </a:endParaRPr>
            </a:p>
            <a:p>
              <a:pPr algn="l">
                <a:buNone/>
              </a:pPr>
              <a:endParaRPr lang="ko-KR" sz="2200" b="1" dirty="0">
                <a:solidFill>
                  <a:srgbClr val="2D2D44"/>
                </a:solidFill>
                <a:latin typeface="Pretendard"/>
                <a:ea typeface="Pretendard"/>
              </a:endParaRPr>
            </a:p>
            <a:p>
              <a:pPr>
                <a:buNone/>
              </a:pPr>
              <a:endParaRPr lang="ko-KR" sz="400" dirty="0"/>
            </a:p>
            <a:p>
              <a:pPr marL="285750" indent="-285750" algn="l">
                <a:buFont typeface="Arial" panose="020B0604020202020204" pitchFamily="34" charset="0"/>
                <a:buChar char="•"/>
              </a:pPr>
              <a:r>
                <a:rPr lang="ko-KR" sz="1800" dirty="0">
                  <a:solidFill>
                    <a:srgbClr val="2D2D44"/>
                  </a:solidFill>
                  <a:latin typeface="Pretendard"/>
                  <a:ea typeface="Pretendard"/>
                </a:rPr>
                <a:t>비용 제어와 호출 제한 설정</a:t>
              </a:r>
            </a:p>
            <a:p>
              <a:pPr marL="285750" indent="-285750" algn="l">
                <a:buFont typeface="Arial" panose="020B0604020202020204" pitchFamily="34" charset="0"/>
                <a:buChar char="•"/>
              </a:pPr>
              <a:r>
                <a:rPr lang="ko-KR" sz="1800" dirty="0">
                  <a:solidFill>
                    <a:srgbClr val="2D2D44"/>
                  </a:solidFill>
                  <a:latin typeface="Pretendard"/>
                  <a:ea typeface="Pretendard"/>
                </a:rPr>
                <a:t>단계별 로깅으로 추적 가능하게</a:t>
              </a:r>
            </a:p>
            <a:p>
              <a:pPr marL="285750" indent="-285750" algn="l">
                <a:buFont typeface="Arial" panose="020B0604020202020204" pitchFamily="34" charset="0"/>
                <a:buChar char="•"/>
              </a:pPr>
              <a:r>
                <a:rPr lang="ko-KR" sz="1800" dirty="0">
                  <a:solidFill>
                    <a:srgbClr val="2D2D44"/>
                  </a:solidFill>
                  <a:latin typeface="Pretendard"/>
                  <a:ea typeface="Pretendard"/>
                </a:rPr>
                <a:t>블랙박스 에이전트는 프로덕션에서 위험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077551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7F89F0-333C-9562-3837-FB45DF6251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>
              <a:buNone/>
            </a:pPr>
            <a:r>
              <a:rPr lang="ko-KR" altLang="en-US" sz="3200" b="1" dirty="0">
                <a:solidFill>
                  <a:srgbClr val="1A1A2E"/>
                </a:solidFill>
                <a:latin typeface="Pretendard"/>
                <a:ea typeface="Pretendard"/>
              </a:rPr>
              <a:t>그래서 성과는</a:t>
            </a:r>
            <a:r>
              <a:rPr lang="en-US" altLang="ko-KR" sz="3200" b="1" dirty="0">
                <a:solidFill>
                  <a:srgbClr val="1A1A2E"/>
                </a:solidFill>
                <a:latin typeface="Pretendard"/>
                <a:ea typeface="Pretendard"/>
              </a:rPr>
              <a:t>?</a:t>
            </a:r>
            <a:endParaRPr lang="ko-KR" sz="3200" b="1" dirty="0">
              <a:solidFill>
                <a:srgbClr val="1A1A2E"/>
              </a:solidFill>
              <a:latin typeface="Pretendard"/>
              <a:ea typeface="Pretendard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A27C81-85BD-5EA5-DDE6-6E6623117C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ko-KR" altLang="en-US" b="1" dirty="0">
                <a:solidFill>
                  <a:srgbClr val="FF6B35"/>
                </a:solidFill>
                <a:latin typeface="Pretendard"/>
                <a:ea typeface="Pretendard"/>
              </a:rPr>
              <a:t>대다수의 중고거래 거래금지물품 신고가 에이전트에 의해 처리</a:t>
            </a:r>
            <a:endParaRPr lang="en-US" altLang="ko-KR" b="1" dirty="0">
              <a:solidFill>
                <a:srgbClr val="FF6B35"/>
              </a:solidFill>
              <a:latin typeface="Pretendard"/>
              <a:ea typeface="Pretendard"/>
            </a:endParaRPr>
          </a:p>
          <a:p>
            <a:pPr algn="l">
              <a:lnSpc>
                <a:spcPct val="100000"/>
              </a:lnSpc>
              <a:buNone/>
            </a:pPr>
            <a:r>
              <a:rPr lang="ko-KR" altLang="en-US" b="1" dirty="0">
                <a:solidFill>
                  <a:srgbClr val="FF6B35"/>
                </a:solidFill>
                <a:latin typeface="Pretendard"/>
                <a:ea typeface="Pretendard"/>
              </a:rPr>
              <a:t>점진적으로 확장할 계획</a:t>
            </a:r>
            <a:endParaRPr lang="en-US" altLang="ko-KR" b="1" dirty="0">
              <a:solidFill>
                <a:srgbClr val="FF6B35"/>
              </a:solidFill>
              <a:latin typeface="Pretendard"/>
              <a:ea typeface="Pretendard"/>
            </a:endParaRPr>
          </a:p>
          <a:p>
            <a:pPr algn="l">
              <a:lnSpc>
                <a:spcPct val="100000"/>
              </a:lnSpc>
              <a:buNone/>
            </a:pPr>
            <a:endParaRPr lang="en-US" altLang="ko-KR" b="1" dirty="0">
              <a:solidFill>
                <a:srgbClr val="FF6B35"/>
              </a:solidFill>
              <a:latin typeface="Pretendard"/>
              <a:ea typeface="Pretendard"/>
            </a:endParaRPr>
          </a:p>
          <a:p>
            <a:pPr algn="l">
              <a:lnSpc>
                <a:spcPct val="100000"/>
              </a:lnSpc>
              <a:buNone/>
            </a:pPr>
            <a:r>
              <a:rPr lang="ko-KR" b="1" dirty="0">
                <a:solidFill>
                  <a:srgbClr val="4361EE"/>
                </a:solidFill>
                <a:latin typeface="Pretendard"/>
                <a:ea typeface="Pretendard"/>
              </a:rPr>
              <a:t>잘 만든 에이전트 = 팀 전체의 레버리지</a:t>
            </a:r>
          </a:p>
        </p:txBody>
      </p:sp>
    </p:spTree>
    <p:extLst>
      <p:ext uri="{BB962C8B-B14F-4D97-AF65-F5344CB8AC3E}">
        <p14:creationId xmlns:p14="http://schemas.microsoft.com/office/powerpoint/2010/main" val="420608069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hanks"/>
          <p:cNvSpPr txBox="1"/>
          <p:nvPr/>
        </p:nvSpPr>
        <p:spPr>
          <a:xfrm>
            <a:off x="731520" y="1188720"/>
            <a:ext cx="10728960" cy="1371600"/>
          </a:xfrm>
          <a:prstGeom prst="rect">
            <a:avLst/>
          </a:prstGeom>
          <a:noFill/>
          <a:ln>
            <a:noFill/>
          </a:ln>
        </p:spPr>
        <p:txBody>
          <a:bodyPr wrap="square" anchor="b"/>
          <a:lstStyle/>
          <a:p>
            <a:pPr algn="l">
              <a:buNone/>
            </a:pPr>
            <a:r>
              <a:rPr lang="ko-KR" sz="4400" b="1" dirty="0">
                <a:solidFill>
                  <a:srgbClr val="1A1A2E"/>
                </a:solidFill>
                <a:latin typeface="Pretendard"/>
                <a:ea typeface="Pretendard"/>
              </a:rPr>
              <a:t>감사합니다</a:t>
            </a:r>
          </a:p>
        </p:txBody>
      </p:sp>
      <p:sp>
        <p:nvSpPr>
          <p:cNvPr id="11" name="AccentLine"/>
          <p:cNvSpPr/>
          <p:nvPr/>
        </p:nvSpPr>
        <p:spPr>
          <a:xfrm>
            <a:off x="731520" y="2651760"/>
            <a:ext cx="1828800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Info"/>
          <p:cNvSpPr txBox="1"/>
          <p:nvPr/>
        </p:nvSpPr>
        <p:spPr>
          <a:xfrm>
            <a:off x="731520" y="2880360"/>
            <a:ext cx="10728960" cy="1855436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lnSpc>
                <a:spcPct val="150000"/>
              </a:lnSpc>
              <a:buNone/>
            </a:pPr>
            <a:r>
              <a:rPr lang="ko-KR" altLang="en-US" sz="2000" dirty="0">
                <a:solidFill>
                  <a:srgbClr val="2D2D44"/>
                </a:solidFill>
                <a:latin typeface="Pretendard"/>
                <a:ea typeface="Pretendard"/>
              </a:rPr>
              <a:t>윤준혁</a:t>
            </a:r>
            <a:endParaRPr lang="ko-KR" sz="2000" dirty="0">
              <a:solidFill>
                <a:srgbClr val="2D2D44"/>
              </a:solidFill>
              <a:latin typeface="Pretendard"/>
              <a:ea typeface="Pretendard"/>
            </a:endParaRPr>
          </a:p>
          <a:p>
            <a:pPr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FF6B35"/>
                </a:solidFill>
                <a:latin typeface="Pretendard"/>
                <a:ea typeface="Pretendard"/>
                <a:hlinkClick r:id="rId2"/>
              </a:rPr>
              <a:t>junhyeok.dev@gmail.com</a:t>
            </a:r>
            <a:endParaRPr lang="en-US" sz="1600" dirty="0">
              <a:solidFill>
                <a:srgbClr val="FF6B35"/>
              </a:solidFill>
              <a:latin typeface="Pretendard"/>
              <a:ea typeface="Pretendard"/>
            </a:endParaRPr>
          </a:p>
          <a:p>
            <a:pPr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FF6B35"/>
                </a:solidFill>
                <a:latin typeface="Pretendard"/>
                <a:ea typeface="Pretendard"/>
              </a:rPr>
              <a:t>X @</a:t>
            </a:r>
            <a:r>
              <a:rPr lang="en-US" sz="1600" dirty="0" err="1">
                <a:solidFill>
                  <a:srgbClr val="FF6B35"/>
                </a:solidFill>
                <a:latin typeface="Pretendard"/>
                <a:ea typeface="Pretendard"/>
              </a:rPr>
              <a:t>junhyeok_dev</a:t>
            </a:r>
            <a:endParaRPr lang="en-US" sz="1600" dirty="0">
              <a:solidFill>
                <a:srgbClr val="FF6B35"/>
              </a:solidFill>
              <a:latin typeface="Pretendard"/>
              <a:ea typeface="Pretendard"/>
            </a:endParaRPr>
          </a:p>
          <a:p>
            <a:pPr algn="l">
              <a:lnSpc>
                <a:spcPct val="150000"/>
              </a:lnSpc>
              <a:buNone/>
            </a:pPr>
            <a:r>
              <a:rPr lang="ko-KR" sz="1600" dirty="0">
                <a:solidFill>
                  <a:srgbClr val="888899"/>
                </a:solidFill>
                <a:latin typeface="Pretendard"/>
                <a:ea typeface="Pretendard"/>
              </a:rPr>
              <a:t>네트워킹 세션에서 더 이야기해요 🙌</a:t>
            </a:r>
          </a:p>
        </p:txBody>
      </p:sp>
    </p:spTree>
    <p:extLst>
      <p:ext uri="{BB962C8B-B14F-4D97-AF65-F5344CB8AC3E}">
        <p14:creationId xmlns:p14="http://schemas.microsoft.com/office/powerpoint/2010/main" val="11696664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KAMP Minimal">
      <a:dk1>
        <a:srgbClr val="1A1A2E"/>
      </a:dk1>
      <a:lt1>
        <a:srgbClr val="FAFAFA"/>
      </a:lt1>
      <a:dk2>
        <a:srgbClr val="2D2D44"/>
      </a:dk2>
      <a:lt2>
        <a:srgbClr val="F0F0F5"/>
      </a:lt2>
      <a:accent1>
        <a:srgbClr val="FF6B35"/>
      </a:accent1>
      <a:accent2>
        <a:srgbClr val="4361EE"/>
      </a:accent2>
      <a:accent3>
        <a:srgbClr val="2EC4B6"/>
      </a:accent3>
      <a:accent4>
        <a:srgbClr val="E71D36"/>
      </a:accent4>
      <a:accent5>
        <a:srgbClr val="7209B7"/>
      </a:accent5>
      <a:accent6>
        <a:srgbClr val="3A86FF"/>
      </a:accent6>
      <a:hlink>
        <a:srgbClr val="467886"/>
      </a:hlink>
      <a:folHlink>
        <a:srgbClr val="96607D"/>
      </a:folHlink>
    </a:clrScheme>
    <a:fontScheme name="KAMP Fonts">
      <a:majorFont>
        <a:latin typeface="Pretendard" panose="02110004020202020204"/>
        <a:ea typeface="Pretendard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 panose="02110004020202020204"/>
        <a:ea typeface="Pretendard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1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BC1D82C-A1FF-40FD-8B40-0AD1CF95F4F9}">
  <we:reference id="wa200010001" version="1.0.0.0" store="en-US" storeType="OMEX"/>
  <we:alternateReferences>
    <we:reference id="WA200010001" version="1.0.0.0" store="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281</TotalTime>
  <Words>2069</Words>
  <Application>Microsoft Macintosh PowerPoint</Application>
  <PresentationFormat>Widescreen</PresentationFormat>
  <Paragraphs>442</Paragraphs>
  <Slides>35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9" baseType="lpstr">
      <vt:lpstr>Pretendard</vt:lpstr>
      <vt:lpstr>Aptos</vt:lpstr>
      <vt:lpstr>Arial</vt:lpstr>
      <vt:lpstr>Office Theme</vt:lpstr>
      <vt:lpstr>PowerPoint Presentation</vt:lpstr>
      <vt:lpstr>저는 이런 사람입니다</vt:lpstr>
      <vt:lpstr>오늘 할 이야기</vt:lpstr>
      <vt:lpstr>PowerPoint Presentation</vt:lpstr>
      <vt:lpstr>사람이 처리하기엔 너무 많은 일</vt:lpstr>
      <vt:lpstr>챗봇</vt:lpstr>
      <vt:lpstr>워크플로우</vt:lpstr>
      <vt:lpstr>에이전트</vt:lpstr>
      <vt:lpstr>운영엔 에이전트가 딱이야</vt:lpstr>
      <vt:lpstr>PowerPoint Presentation</vt:lpstr>
      <vt:lpstr>도구: 에이전트의 손발</vt:lpstr>
      <vt:lpstr>운영 자동화에 사용했던 도구들</vt:lpstr>
      <vt:lpstr>도구에 대한 설명의 중요성</vt:lpstr>
      <vt:lpstr>에이전트 하나로 다 하면?</vt:lpstr>
      <vt:lpstr>에이전트 팀</vt:lpstr>
      <vt:lpstr>에이전트 팀의 협업 과정</vt:lpstr>
      <vt:lpstr>Self-correction의 효과</vt:lpstr>
      <vt:lpstr>PowerPoint Presentation</vt:lpstr>
      <vt:lpstr>지식 관리는 프롬프트 밖에서</vt:lpstr>
      <vt:lpstr>RAG = 꼭 벡터 검색이어야 할까?</vt:lpstr>
      <vt:lpstr>에이전트가 지식 개선에도 참여</vt:lpstr>
      <vt:lpstr>모델 선택: 모두 같은 모델?</vt:lpstr>
      <vt:lpstr>역할에 따른 모델 선택</vt:lpstr>
      <vt:lpstr>비용 모니터링과 가드레일</vt:lpstr>
      <vt:lpstr>PowerPoint Presentation</vt:lpstr>
      <vt:lpstr>정형화된 응답을 내는 경우</vt:lpstr>
      <vt:lpstr>비결정적 시스템이기 때문에</vt:lpstr>
      <vt:lpstr>비정형 응답을 내는 경우</vt:lpstr>
      <vt:lpstr>모니터링: 모든 것을 남겨라</vt:lpstr>
      <vt:lpstr>통계 대시보드</vt:lpstr>
      <vt:lpstr>PowerPoint Presentation</vt:lpstr>
      <vt:lpstr>정리하면</vt:lpstr>
      <vt:lpstr>정리하면</vt:lpstr>
      <vt:lpstr>그래서 성과는?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Junhyeok Yun</dc:creator>
  <cp:lastModifiedBy>Junhyeok Yun</cp:lastModifiedBy>
  <cp:revision>23</cp:revision>
  <dcterms:created xsi:type="dcterms:W3CDTF">2026-02-25T16:39:40Z</dcterms:created>
  <dcterms:modified xsi:type="dcterms:W3CDTF">2026-02-27T05:49:59Z</dcterms:modified>
</cp:coreProperties>
</file>